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notesMasterIdLst>
    <p:notesMasterId r:id="rId89"/>
  </p:notesMasterIdLst>
  <p:sldSz cx="12192000" cy="6858000"/>
  <p:notesSz cx="6858000" cy="12192000"/>
  <p:embeddedFontLst>
    <p:embeddedFont>
      <p:font typeface="JetBrains Mono" panose="02000009000000000000" pitchFamily="49" charset="0"/>
      <p:regular r:id="rId94"/>
      <p:bold r:id="rId95"/>
    </p:embeddedFont>
    <p:embeddedFont>
      <p:font typeface="Space Grotesk" pitchFamily="34" charset="0"/>
      <p:regular r:id="rId96"/>
      <p:bold r:id="rId9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 Id="rId94" Type="http://schemas.openxmlformats.org/officeDocument/2006/relationships/font" Target="fonts/font1.fntdata"/><Relationship Id="rId95" Type="http://schemas.openxmlformats.org/officeDocument/2006/relationships/font" Target="fonts/font2.fntdata"/><Relationship Id="rId96" Type="http://schemas.openxmlformats.org/officeDocument/2006/relationships/font" Target="fonts/font3.fntdata"/><Relationship Id="rId97"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 picture students should carry all session: a request goes in, passes through a chain of functions (middleware), and exactly one response comes back. Everything today is a zoom-in on one part of this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first we understand the objects (req, res), then we practise on real product data, and only then do we bring in middleware, which is just more functions that receive the same req and 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this loop twice. Key points: (1) req and res are created fresh for every request and thrown away after; (2) your handler must answer exactly once; (3) the browser only ever sees what res sends. Everything else stays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"predict, then reveal" the habit. On each split slide the browser and console panels appear on click, so pause and ask the class what they expect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 code, unchanged except for spacing. Read the five comments aloud: setup, a middleware function, registering it, the routes, and listen. The next slides take each part and show what actually appears in the browser and in the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misconceptions to kill early. First: the routes do not run at startup; Express just stores them. Second: readFileSync happened once, so the HTML is cached in memory. Change index.html and nothing changes until you restart (or use node --watch server.js).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order: request arrives, middleware1 runs first because it was registered first, prints, calls next(), and only then does server.get('/') run and send. The second log line is the browser silently requesting /favicon.ico. Let students spot it before you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middleware has two choices: call next() to pass the request on, or send a response itself. Here it sends "Kindly Login", so the cycle ends and Express never looks at the routes. Because it is mounted on "/", it guards every path and every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Uncomment the console.log lines from the class file and run. Points: req.params is an object; the key name comes from the route (:id gives id); the value is always a string, so '42' + 1 is '421'. req.ip on your own machine is ::1 (IPv6 loopback) or ::ffff:127.0.0.1.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 moment to open DevTools for the first time. Show the Network tab, reload, and point at the second row. 204 means "No Content": a valid answer with an empty body. The lesson that matters later: Express checks routes in the order you wrote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Typing a URL and pressing Enter always sends GET. To send POST, PUT or DELETE you need a client: Thunder Client inside VS Code is the quickest for class. The DELETE line shows Express’s built-in 404 page, because no route handles DELETE 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call out answers row by row before revealing. Common mistakes: thinking /about gives a 404 (it matches :id), and thinking POST /42 goes to the :id route (that route is GET only). Last point: middleware mounted on "/" runs for every request, matched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req as a parcel that arrives at the server with labels already filled in. Our job is just to know which label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the seven builds and ask what each label will hold before it appears. The coloured bars under the URL mark the pieces. Emphasise: params come from the route pattern (:id), query comes from after the ?, and every value is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req.url and req.originalUrl look identical here. They only differ inside a Router, where req.url loses the mount prefix: keep that in mind for the router section. req.path never includes the query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string trap shows up in every practice set: products.find(p =&gt; p.id === req.params.id) never matches, because 7 === '7' is false. Always Number()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of query keys does not matter, and the same route serves /products, /products?limit=2 and /products?category=jewelery. Note the API’s own spelling: the category is "jewelery".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Headers are the envelope of a request: browser type, language, cookies, auth tokens. Open /whoami in Chrome, then Firefox, then from Thunder Client and compare the User-Agent. req.secure is true only over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time middleware matters to students directly. express.json() reads the raw request body, parses it, and stores it on req.body. In Express 5 req.body stays undefined if no parser ran. JSON keeps types: price is the number 12.5, unlike params and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reference to screenshot. The last three rows connect forward: baseUrl and url matter once we use Router, and body and cookies are filled in by middleware.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 is read-only information; res is your toolbox for replying. The single rule that governs all of it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student hits ERR_HTTP_HEADERS_SENT within a week. Translate it for them: "you tried to answer twice". The fix is almost always a missing return before an early res.send / res.json.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did res.send(data) in the class code render a web page instead of showing raw tags? Because a string is sent as text/html, so the browser renders it. Objects and arrays become JSON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res.json(data) for data, res.status(code) to set the code (it does not send), and res.sendStatus(code) to send only a code. Status codes are how programs, not people, know whether a request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upgrade path for the class code: replace readFileSync plus res.send(data) with res.sendFile. Later, express.static will do this for a whole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redirect is not the server fetching the page; it tells the browser "go ask over there", and the browser sends a new request. download() sends a file with Content-Disposition: attachment, so the browser saves it instead of showing it. Note: Express 5 removed res.redirect('back').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type and cookie only prepare the response; json, send or end actually send it. Compare /plain with res.send('&lt;h1&gt;…') from earlier: the same string renders or not depending only on the Content-Type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ends the cycle; use exactly one per request. The right column can be called any number of times before that and chained: res.status(201).set('X-Id','21').json(product). res.render needs a template engine such as EJS, outside today’s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from blogs and Stack Overflow written for Express 4. These six differences cause most of the "it works in the video but not for me" moments. The async one comes back in the error-handling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sets as lab work. Each one targets specific req and res features, so students can check themselves against the expected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https://fakestoreapi.com/products in the browser first so students see the raw JSON. Note the nested rating object and the API’s own spelling "jewelery". Our sets rebuild these endpoints on our own server, so we control req and 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in class. B is a nice async lesson: fetch is asynchronous, so listen() finishes first and for a moment products is still an empty array. A request that arrives in that gap gets an empty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time: 15 minutes. Watch for the string-versus-number bug and the missing return before the 404. Order matters: /products/:id/price is a different route from /products/:id because it has three segments, so both can coexist.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time: 20 minutes. Discuss why limit must be applied last (otherwise ?limit=3&amp;category=electronics returns nothing). Category names with spaces work in the browser: men's clothing becomes men's%20clothing and Express decodes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hit the bug first. Rule: specific paths before parameter paths. /products/category/:name is safe either way because it has three segments and :id only matches two. new Set removes duplicates, keeping first-seen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time: 25 minutes. This set makes students choose the right res method for each job. Check /card renders HTML (not escaped text) and /title does not render tags. Sum of all prices is 3240.92.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time: 30 minutes. Good discussion points: why 201 and 204; why validation returns 400 not 500; and that without a database, everything resets on restart. Spreading req.body directly into a product lets a client overwrite the id, so a strong student can protect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time: 40 minutes, for fast finishers or homework. /products/top and /products/most-reviewed must sit above /products/:id. For sorting use [...products].sort((a, b) =&gt; b.rating.rate - a.rating.rate) so the original array stays in id order. The 404 catch-all is a deliberate bridge into middleware.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only after students have tried. Point at the two returns in set 1, and at the copy [...products] in set 2: reverse() changes an array in place, so without the copy the shared products array would flip on every ?sort=desc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vote with fingers (1 to 4) before revealing. Anyone who chose A needs to revisit the Number() conversion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is the common wrong answer: students merge params and query in their heads. They are two separate objects.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was true in Express 4, which is why old tutorials disagree. E is the order lesson in disguise: the route already answered before the parser below it could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 question for the class: what does res.send('{"id":1}') send? A string, so text/html, even though it looks like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the classic trap: res.status(404) with nothing after it hangs the request. Ask a student to fix it: res.status(404).send('Not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says C, ask them what login is set to. If someone says A, remind them that :id accepts any text, not only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 res-rule slide: one request, one response, and use return to stop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surprises most students: /products/category has two segments, so it matches /products/:id with id = 'category'. listCategories is unreachable until it moves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back: middleware1 from the class code and the 404 function from Set 6 are both middleware. Students already know more than they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pain first. Ask: what if the token changes? What if you add a route and forget the check? The orange lines are the same on every route; that sameness is the signal that the code belongs somewhere else,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jobs come straight from the Express guide. An Express app is basically a list of these functions called in order. Route handlers are middleware too; they just usually end the cycle instead of calling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loops: with a token, the request walks through all three functions; without one, checkLogin ends the cycle and the route is never reached. This is exactly what middleware1 in the class code does when login is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for the 40 copies starts here: one function registered with use() and no path. Toolkits like morgan (later) do exactly this, with nicer formatting.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out next() live and reload: the tab spinner keeps going. There is no error message because nothing is technically wrong; the request is simply never answered. Rule: every middleware either calls next() or sends a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rule in Express. Ask students to predict the console before revealing. The surprising part is that /nope does get logged, because Express only moves past a route when that route does not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 and res are the same objects all the way down the chain, so anything one function attaches, the next can read. res.locals is the official place for per-request data meant for the response. This is the mechanism behind every body parser and auth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 middleware1 with a real condition instead of var login = true. A token in the query string is fine for learning; real apps send it in a header such as Authorization. Ask: what if /products should be public but POST should stay protected? That question leads into mount paths and routers.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first two examples from the Express guide, renamed from /user/:id to /products/:id. app.use matches by prefix: anything that starts with /products/&lt;something&gt;. It ignores the HTTP method. Date.now() prints milliseconds since 1970, which is why the guide’s output is a big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guide calls both "application-level" because both are bound to the app object. The difference: use() is a prefix match for every method, get/post/put/delete are exact matches for one method. The bottom box shows why req.url and req.originalUrl can differ: use() strips its mount path from req.url.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sub-stack is just a list of functions after the path. Express calls them in order; each must call next() for the following one to run. Product 2’s title really ends with a space in the API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guide uses this to show that a route handler can also have a next parameter. Once something sends a response, the chain is over, and later matches are ignored. The next slide shows the one way to jump to that second route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realistic use: an id like "featured" or "0" that should be handled by a different route without an if-else ladder inside one handler. Note the comparison is with the string '0', because params are strings.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functions are easier to read, test and reuse than inline arrows. The array is just a convenience; [a, b], c is the same chain as a, b, c. This is the last application-level pattern in the guide, and it sets up the idea of grouping, which is what Router does for whole sets of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"before" picture. Ask: how would you put all admin routes in admin.js today? The usual workaround is module.exports = (app) =&gt; { app.get('/api/admin/…') }, which passes the whole app around and still hard-codes every full path. Also be fair: app.use('/api/admin', checkAdmin) would protect the group without Router. What it cannot do is make the group a portable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"why are they writing Router directly" worry. The guide’s example only shows that router has the same use/get methods as app. The handler names are shortened versions of the guide’s inline functions. Next slide: the store from two slides ago, rewritten with Router, so the benefit is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seven routes as two slides ago. Point at each fix: '/api/admin' appears once; checkAdmin appears once and covers every route added later; admin.js never sees app. Moving to /api/v2 is a one-line change in app.js, and the same router could even be mounted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loops: a public product request goes only through the products router; an admin request without a token stops at checkAdmin; with the token it reaches the stats route. Note how the router only sees the part of the URL after its mount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products routes never pass through checkAdmin, because it is registered on the admin router, not on the app. The console shows how a router sees the URL: baseUrl is where it was mounted, url is the rest. The same function file can be reused on any other router that needs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next('router') skips every remaining function inside this router and continues after it in the app. Here the next thing after the router is the 401 handler in the same app.use call. The single-route version without Router is shorter, but the router version protects every route you add to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news first: the server did not crash; Express caught the throw. Bad news: the default page leaks the stack trace in development, sends HTML to an API client, and uses 500 for what is really a 404. With NODE_ENV=production it shows just "Internal Server Error". We want control over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next(err) with an argument means "something went wrong": Express skips every normal middleware and route and goes straight to the first function with four parameters. throw new Error inside a synchronous route does the same thing. The guide’s own example logs err.stack and sends 'Something broke!' with status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loops. A good request ends at the route. A bad id turns the request into an error that skips the 404 handler and lands in the error handler. An unknown path never errors; it falls through to the 404 handler. This is why the 404 handler and the error handler are two different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idea: switch off Wi-Fi and open /live/3. fetch rejects, Express 5 forwards the rejection to the error handler, and the client gets clean JSON. Then compare the two final functions: the 404 one has two parameters and runs when nothing matched; the error one has four and runs only when something went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HTML: &lt;form method="POST" action="/products"&gt; with inputs named title and price. Without express.urlencoded the form post arrives with req.body undefined, exactly like JSON without express.json. Each parser only reads its own Content-Type and ignores the rest, so having both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three lines of the class code and fixes the restart problem from the start of the session. Using path.join(__dirname, 'public') means it works no matter which folder you run node from. The public folder name never appears in the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stores the cookie from Set-Cookie and sends it back on every later request; cookie-parser reads the Cookie header and turns it into the req.cookies object. Third-party middleware is still just (req, res, next) written by someone else and installed from npm.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morgan does what our hand-written logger did, with status and timing because it waits for the response to finish. cors matters as soon as a separate frontend calls this API. All of these are the same pattern: install, require, app.use (or router.use for just one group). The Express site keeps a list under Resources › Middleware.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as the path every request takes. Anything that should apply to everything is at the top; specific routes are in the middle; the safety nets (404, then errors) are at the very bottom. Click through the six steps on the right while pointing at the matching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loops, four endings: a static file, a router, the error handler and the 404 handler. Ask students to call out where each request will stop before the packet gets there. If they can do that, they understand middleware.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slide for the whole middleware part. The four rules at the bottom explain almost every bug students will hit in their first Express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middleware bug. Students who say A or B expect Express to report something; it can’t, because nothing went wrong, nothing just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the trap from the error-handling section: with three parameters Express treats it as ordinary middleware whose first argument happens to be called err.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rule: if it starts with express. it is built in (json, urlencoded, static, text, raw). Everything else came from npm install.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is the one students doubt: app.use is a prefix match by whole path segments, so /products/7/reviews runs it. B surprises those who think use means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Follow-up: what about GET /nope? Then the route does not match, Express moves on, and the logger does print. Same lesson as the order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checks the main point of the router section. If students can explain A, B and C in their own words, they understand why the guide introduces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Express 4 the answer would have been closer to B (plus an unhandled rejection warning), which is why older code wraps every async route in try/catch.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three students one question each: what can req tell you, what can res send, and why did we need middleware. If they can answer with the Fake Store examples, the session landed. Homework: finish sets 4 to 6 and move the admin routes into routes/admin.js with a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076970"/>
            <a:ext cx="10566425" cy="391108"/>
          </a:xfrm>
          <a:prstGeom prst="rect">
            <a:avLst/>
          </a:prstGeom>
          <a:noFill/>
          <a:ln/>
        </p:spPr>
        <p:txBody>
          <a:bodyPr wrap="square" lIns="0" tIns="0" rIns="0" bIns="0" rtlCol="0" anchor="t"/>
          <a:lstStyle>
            <a:lvl1pPr algn="l" indent="0" marL="0">
              <a:lnSpc>
                <a:spcPct val="115000"/>
              </a:lnSpc>
              <a:buNone/>
              <a:defRPr lang="en-US" sz="2800" dirty="0">
                <a:solidFill>
                  <a:srgbClr val="1A1F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8" y="1772878"/>
            <a:ext cx="10566412" cy="4272322"/>
          </a:xfrm>
          <a:prstGeom prst="rect">
            <a:avLst/>
          </a:prstGeom>
          <a:noFill/>
          <a:ln/>
        </p:spPr>
        <p:txBody>
          <a:bodyPr wrap="square" lIns="0" tIns="0" rIns="0" bIns="0" rtlCol="0" anchor="t"/>
          <a:lstStyle>
            <a:lvl1pPr algn="l" indent="0" marL="0">
              <a:lnSpc>
                <a:spcPct val="140000"/>
              </a:lnSpc>
              <a:buNone/>
              <a:defRPr lang="en-US" sz="1600" dirty="0">
                <a:solidFill>
                  <a:srgbClr val="1A1F2B"/>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1076970"/>
            <a:ext cx="10566425" cy="391108"/>
          </a:xfrm>
          <a:prstGeom prst="rect">
            <a:avLst/>
          </a:prstGeom>
          <a:noFill/>
          <a:ln/>
        </p:spPr>
        <p:txBody>
          <a:bodyPr wrap="square" lIns="0" tIns="0" rIns="0" bIns="0" rtlCol="0" anchor="t"/>
          <a:lstStyle>
            <a:lvl1pPr algn="l" indent="0" marL="0">
              <a:lnSpc>
                <a:spcPct val="115000"/>
              </a:lnSpc>
              <a:buNone/>
              <a:defRPr lang="en-US" sz="2800" dirty="0">
                <a:solidFill>
                  <a:srgbClr val="1A1F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788" y="1772878"/>
            <a:ext cx="10566412" cy="4272322"/>
          </a:xfrm>
          <a:prstGeom prst="rect">
            <a:avLst/>
          </a:prstGeom>
          <a:noFill/>
          <a:ln/>
        </p:spPr>
        <p:txBody>
          <a:bodyPr wrap="square" lIns="0" tIns="0" rIns="0" bIns="0" rtlCol="0" anchor="t"/>
          <a:lstStyle>
            <a:lvl1pPr algn="l" indent="0" marL="0">
              <a:lnSpc>
                <a:spcPct val="140000"/>
              </a:lnSpc>
              <a:buNone/>
              <a:defRPr lang="en-US" sz="1600" dirty="0">
                <a:solidFill>
                  <a:srgbClr val="1A1F2B"/>
                </a:solidFill>
                <a:latin typeface="Space Grotesk" pitchFamily="34" charset="0"/>
                <a:ea typeface="Space Grotesk" pitchFamily="34" charset="-122"/>
                <a:cs typeface="Space Grotesk"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2.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1981336"/>
            <a:ext cx="10883418" cy="274253"/>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A15E"/>
                </a:solidFill>
                <a:latin typeface="Space Grotesk" pitchFamily="34" charset="0"/>
                <a:ea typeface="Space Grotesk" pitchFamily="34" charset="-122"/>
                <a:cs typeface="Space Grotesk" pitchFamily="34" charset="-120"/>
              </a:rPr>
              <a:t>NODE.JS · EXPRESS 5</a:t>
            </a:r>
            <a:endParaRPr lang="en-US" sz="1400" dirty="0"/>
          </a:p>
        </p:txBody>
      </p:sp>
      <p:sp>
        <p:nvSpPr>
          <p:cNvPr id="3" name="Text 1"/>
          <p:cNvSpPr/>
          <p:nvPr>
            <p:ph type="title"/>
          </p:nvPr>
        </p:nvSpPr>
        <p:spPr>
          <a:xfrm>
            <a:off x="812788" y="2433340"/>
            <a:ext cx="10883418" cy="162555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2EFE6"/>
                </a:solidFill>
                <a:latin typeface="Space Grotesk" pitchFamily="34" charset="0"/>
                <a:ea typeface="Space Grotesk" pitchFamily="34" charset="-122"/>
                <a:cs typeface="Space Grotesk" pitchFamily="34" charset="-120"/>
              </a:rPr>
              <a:t>Express from</a:t>
            </a:r>
            <a:endParaRPr lang="en-US" sz="6000" dirty="0"/>
          </a:p>
          <a:p>
            <a:pPr algn="l" indent="0" marL="0">
              <a:lnSpc>
                <a:spcPts val="6300"/>
              </a:lnSpc>
              <a:buNone/>
            </a:pPr>
            <a:r>
              <a:rPr lang="en-US" sz="6000" b="1" i="0" dirty="0">
                <a:solidFill>
                  <a:srgbClr val="F2EFE6"/>
                </a:solidFill>
                <a:latin typeface="Space Grotesk" pitchFamily="34" charset="0"/>
                <a:ea typeface="Space Grotesk" pitchFamily="34" charset="-122"/>
                <a:cs typeface="Space Grotesk" pitchFamily="34" charset="-120"/>
              </a:rPr>
              <a:t>the inside</a:t>
            </a:r>
            <a:endParaRPr lang="en-US" sz="6000" dirty="0"/>
          </a:p>
        </p:txBody>
      </p:sp>
      <p:sp>
        <p:nvSpPr>
          <p:cNvPr id="4" name="Text 2"/>
          <p:cNvSpPr/>
          <p:nvPr/>
        </p:nvSpPr>
        <p:spPr>
          <a:xfrm>
            <a:off x="812788" y="4236641"/>
            <a:ext cx="719455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9C0CC"/>
                </a:solidFill>
                <a:latin typeface="Space Grotesk" pitchFamily="34" charset="0"/>
                <a:ea typeface="Space Grotesk" pitchFamily="34" charset="-122"/>
                <a:cs typeface="Space Grotesk" pitchFamily="34" charset="-120"/>
              </a:rPr>
              <a:t>What </a:t>
            </a:r>
            <a:r>
              <a:rPr lang="en-US" sz="1800" dirty="0">
                <a:solidFill>
                  <a:srgbClr val="7FB0FF"/>
                </a:solidFill>
                <a:latin typeface="Space Grotesk" pitchFamily="34" charset="0"/>
                <a:ea typeface="Space Grotesk" pitchFamily="34" charset="-122"/>
                <a:cs typeface="Space Grotesk" pitchFamily="34" charset="-120"/>
              </a:rPr>
              <a:t>req</a:t>
            </a:r>
            <a:r>
              <a:rPr lang="en-US" sz="1800" dirty="0">
                <a:solidFill>
                  <a:srgbClr val="B9C0CC"/>
                </a:solidFill>
                <a:latin typeface="Space Grotesk" pitchFamily="34" charset="0"/>
                <a:ea typeface="Space Grotesk" pitchFamily="34" charset="-122"/>
                <a:cs typeface="Space Grotesk" pitchFamily="34" charset="-120"/>
              </a:rPr>
              <a:t> carries, what </a:t>
            </a:r>
            <a:r>
              <a:rPr lang="en-US" sz="1800" dirty="0">
                <a:solidFill>
                  <a:srgbClr val="F0A15E"/>
                </a:solidFill>
                <a:latin typeface="Space Grotesk" pitchFamily="34" charset="0"/>
                <a:ea typeface="Space Grotesk" pitchFamily="34" charset="-122"/>
                <a:cs typeface="Space Grotesk" pitchFamily="34" charset="-120"/>
              </a:rPr>
              <a:t>res</a:t>
            </a:r>
            <a:r>
              <a:rPr lang="en-US" sz="1800" dirty="0">
                <a:solidFill>
                  <a:srgbClr val="B9C0CC"/>
                </a:solidFill>
                <a:latin typeface="Space Grotesk" pitchFamily="34" charset="0"/>
                <a:ea typeface="Space Grotesk" pitchFamily="34" charset="-122"/>
                <a:cs typeface="Space Grotesk" pitchFamily="34" charset="-120"/>
              </a:rPr>
              <a:t> sends back, and how middleware sits in between.</a:t>
            </a:r>
            <a:endParaRPr lang="en-US" sz="1800" dirty="0"/>
          </a:p>
        </p:txBody>
      </p:sp>
      <p:sp>
        <p:nvSpPr>
          <p:cNvPr id="5" name="Text 3"/>
          <p:cNvSpPr/>
          <p:nvPr/>
        </p:nvSpPr>
        <p:spPr>
          <a:xfrm>
            <a:off x="812788" y="5207000"/>
            <a:ext cx="952500" cy="391108"/>
          </a:xfrm>
          <a:custGeom>
            <a:avLst/>
            <a:gdLst/>
            <a:ahLst/>
            <a:cxnLst/>
            <a:rect l="l" t="t" r="r" b="b"/>
            <a:pathLst>
              <a:path w="952500" h="391108">
                <a:moveTo>
                  <a:pt x="195554" y="0"/>
                </a:moveTo>
                <a:lnTo>
                  <a:pt x="756946" y="0"/>
                </a:lnTo>
                <a:arcTo hR="195554" wR="195554" stAng="16200000" swAng="5400000"/>
                <a:lnTo>
                  <a:pt x="952500" y="195554"/>
                </a:lnTo>
                <a:arcTo hR="195554" wR="195554" stAng="0" swAng="5400000"/>
                <a:lnTo>
                  <a:pt x="195554" y="391108"/>
                </a:lnTo>
                <a:arcTo hR="195554" wR="195554" stAng="5400000" swAng="5400000"/>
                <a:lnTo>
                  <a:pt x="0" y="195554"/>
                </a:lnTo>
                <a:arcTo hR="195554" wR="195554" stAng="10800000" swAng="5400000"/>
                <a:close/>
              </a:path>
            </a:pathLst>
          </a:custGeom>
          <a:solidFill>
            <a:srgbClr val="2F6FD6"/>
          </a:solidFill>
          <a:ln/>
        </p:spPr>
        <p:txBody>
          <a:bodyPr wrap="square" lIns="0" tIns="0" rIns="0" bIns="0" rtlCol="0" anchor="t">
            <a:normAutofit/>
          </a:bodyPr>
          <a:lstStyle/>
          <a:p>
            <a:pPr algn="ctr" indent="0" marL="0">
              <a:lnSpc>
                <a:spcPts val="3080"/>
              </a:lnSpc>
              <a:buNone/>
            </a:pPr>
            <a:r>
              <a:rPr lang="en-US" sz="1400" b="1" dirty="0">
                <a:solidFill>
                  <a:srgbClr val="FFFFFF"/>
                </a:solidFill>
                <a:latin typeface="JetBrains Mono" pitchFamily="49" charset="0"/>
                <a:ea typeface="JetBrains Mono" pitchFamily="49" charset="-122"/>
                <a:cs typeface="JetBrains Mono" pitchFamily="49" charset="-120"/>
              </a:rPr>
              <a:t>req</a:t>
            </a:r>
            <a:endParaRPr lang="en-US" sz="1400" dirty="0"/>
          </a:p>
        </p:txBody>
      </p:sp>
      <p:sp>
        <p:nvSpPr>
          <p:cNvPr id="6" name="Text 4"/>
          <p:cNvSpPr/>
          <p:nvPr/>
        </p:nvSpPr>
        <p:spPr>
          <a:xfrm>
            <a:off x="1974850" y="5213350"/>
            <a:ext cx="1765300" cy="384423"/>
          </a:xfrm>
          <a:custGeom>
            <a:avLst/>
            <a:gdLst/>
            <a:ahLst/>
            <a:cxnLst/>
            <a:rect l="l" t="t" r="r" b="b"/>
            <a:pathLst>
              <a:path w="1765300" h="384423">
                <a:moveTo>
                  <a:pt x="95250" y="0"/>
                </a:moveTo>
                <a:lnTo>
                  <a:pt x="1670050" y="0"/>
                </a:lnTo>
                <a:arcTo hR="95250" wR="95250" stAng="16200000" swAng="5400000"/>
                <a:lnTo>
                  <a:pt x="1765300" y="289173"/>
                </a:lnTo>
                <a:arcTo hR="95250" wR="95250" stAng="0" swAng="5400000"/>
                <a:lnTo>
                  <a:pt x="95250" y="384423"/>
                </a:lnTo>
                <a:arcTo hR="95250" wR="95250" stAng="5400000" swAng="5400000"/>
                <a:lnTo>
                  <a:pt x="0" y="95250"/>
                </a:lnTo>
                <a:arcTo hR="95250" wR="95250" stAng="10800000" swAng="5400000"/>
                <a:close/>
              </a:path>
            </a:pathLst>
          </a:custGeom>
          <a:solidFill>
            <a:srgbClr val="232A36"/>
          </a:solidFill>
          <a:ln w="12700">
            <a:solidFill>
              <a:srgbClr val="3A4456"/>
            </a:solidFill>
            <a:prstDash val="solid"/>
          </a:ln>
        </p:spPr>
        <p:txBody>
          <a:bodyPr wrap="square" lIns="0" tIns="5556" rIns="0" bIns="0" rtlCol="0" anchor="t">
            <a:normAutofit/>
          </a:bodyPr>
          <a:lstStyle/>
          <a:p>
            <a:pPr algn="ctr" indent="0" marL="0">
              <a:lnSpc>
                <a:spcPts val="2940"/>
              </a:lnSpc>
              <a:buNone/>
            </a:pPr>
            <a:r>
              <a:rPr lang="en-US" sz="1400" dirty="0">
                <a:solidFill>
                  <a:srgbClr val="D7DCE2"/>
                </a:solidFill>
                <a:latin typeface="Space Grotesk" pitchFamily="34" charset="0"/>
                <a:ea typeface="Space Grotesk" pitchFamily="34" charset="-122"/>
                <a:cs typeface="Space Grotesk" pitchFamily="34" charset="-120"/>
              </a:rPr>
              <a:t>logger</a:t>
            </a:r>
            <a:endParaRPr lang="en-US" sz="1400" dirty="0"/>
          </a:p>
        </p:txBody>
      </p:sp>
      <p:sp>
        <p:nvSpPr>
          <p:cNvPr id="7" name="Text 5"/>
          <p:cNvSpPr/>
          <p:nvPr/>
        </p:nvSpPr>
        <p:spPr>
          <a:xfrm>
            <a:off x="3956000" y="5213350"/>
            <a:ext cx="1765300" cy="384423"/>
          </a:xfrm>
          <a:custGeom>
            <a:avLst/>
            <a:gdLst/>
            <a:ahLst/>
            <a:cxnLst/>
            <a:rect l="l" t="t" r="r" b="b"/>
            <a:pathLst>
              <a:path w="1765300" h="384423">
                <a:moveTo>
                  <a:pt x="95250" y="0"/>
                </a:moveTo>
                <a:lnTo>
                  <a:pt x="1670050" y="0"/>
                </a:lnTo>
                <a:arcTo hR="95250" wR="95250" stAng="16200000" swAng="5400000"/>
                <a:lnTo>
                  <a:pt x="1765300" y="289173"/>
                </a:lnTo>
                <a:arcTo hR="95250" wR="95250" stAng="0" swAng="5400000"/>
                <a:lnTo>
                  <a:pt x="95250" y="384423"/>
                </a:lnTo>
                <a:arcTo hR="95250" wR="95250" stAng="5400000" swAng="5400000"/>
                <a:lnTo>
                  <a:pt x="0" y="95250"/>
                </a:lnTo>
                <a:arcTo hR="95250" wR="95250" stAng="10800000" swAng="5400000"/>
                <a:close/>
              </a:path>
            </a:pathLst>
          </a:custGeom>
          <a:solidFill>
            <a:srgbClr val="232A36"/>
          </a:solidFill>
          <a:ln w="12700">
            <a:solidFill>
              <a:srgbClr val="3A4456"/>
            </a:solidFill>
            <a:prstDash val="solid"/>
          </a:ln>
        </p:spPr>
        <p:txBody>
          <a:bodyPr wrap="square" lIns="0" tIns="5556" rIns="0" bIns="0" rtlCol="0" anchor="t">
            <a:normAutofit/>
          </a:bodyPr>
          <a:lstStyle/>
          <a:p>
            <a:pPr algn="ctr" indent="0" marL="0">
              <a:lnSpc>
                <a:spcPts val="2940"/>
              </a:lnSpc>
              <a:buNone/>
            </a:pPr>
            <a:r>
              <a:rPr lang="en-US" sz="1400" dirty="0">
                <a:solidFill>
                  <a:srgbClr val="D7DCE2"/>
                </a:solidFill>
                <a:latin typeface="Space Grotesk" pitchFamily="34" charset="0"/>
                <a:ea typeface="Space Grotesk" pitchFamily="34" charset="-122"/>
                <a:cs typeface="Space Grotesk" pitchFamily="34" charset="-120"/>
              </a:rPr>
              <a:t>auth</a:t>
            </a:r>
            <a:endParaRPr lang="en-US" sz="1400" dirty="0"/>
          </a:p>
        </p:txBody>
      </p:sp>
      <p:sp>
        <p:nvSpPr>
          <p:cNvPr id="8" name="Text 6"/>
          <p:cNvSpPr/>
          <p:nvPr/>
        </p:nvSpPr>
        <p:spPr>
          <a:xfrm>
            <a:off x="5937213" y="5213350"/>
            <a:ext cx="1765300" cy="384423"/>
          </a:xfrm>
          <a:custGeom>
            <a:avLst/>
            <a:gdLst/>
            <a:ahLst/>
            <a:cxnLst/>
            <a:rect l="l" t="t" r="r" b="b"/>
            <a:pathLst>
              <a:path w="1765300" h="384423">
                <a:moveTo>
                  <a:pt x="95250" y="0"/>
                </a:moveTo>
                <a:lnTo>
                  <a:pt x="1670050" y="0"/>
                </a:lnTo>
                <a:arcTo hR="95250" wR="95250" stAng="16200000" swAng="5400000"/>
                <a:lnTo>
                  <a:pt x="1765300" y="289173"/>
                </a:lnTo>
                <a:arcTo hR="95250" wR="95250" stAng="0" swAng="5400000"/>
                <a:lnTo>
                  <a:pt x="95250" y="384423"/>
                </a:lnTo>
                <a:arcTo hR="95250" wR="95250" stAng="5400000" swAng="5400000"/>
                <a:lnTo>
                  <a:pt x="0" y="95250"/>
                </a:lnTo>
                <a:arcTo hR="95250" wR="95250" stAng="10800000" swAng="5400000"/>
                <a:close/>
              </a:path>
            </a:pathLst>
          </a:custGeom>
          <a:solidFill>
            <a:srgbClr val="232A36"/>
          </a:solidFill>
          <a:ln w="12700">
            <a:solidFill>
              <a:srgbClr val="3A4456"/>
            </a:solidFill>
            <a:prstDash val="solid"/>
          </a:ln>
        </p:spPr>
        <p:txBody>
          <a:bodyPr wrap="square" lIns="0" tIns="5556" rIns="0" bIns="0" rtlCol="0" anchor="t">
            <a:normAutofit/>
          </a:bodyPr>
          <a:lstStyle/>
          <a:p>
            <a:pPr algn="ctr" indent="0" marL="0">
              <a:lnSpc>
                <a:spcPts val="2940"/>
              </a:lnSpc>
              <a:buNone/>
            </a:pPr>
            <a:r>
              <a:rPr lang="en-US" sz="1400" dirty="0">
                <a:solidFill>
                  <a:srgbClr val="D7DCE2"/>
                </a:solidFill>
                <a:latin typeface="Space Grotesk" pitchFamily="34" charset="0"/>
                <a:ea typeface="Space Grotesk" pitchFamily="34" charset="-122"/>
                <a:cs typeface="Space Grotesk" pitchFamily="34" charset="-120"/>
              </a:rPr>
              <a:t>route</a:t>
            </a:r>
            <a:endParaRPr lang="en-US" sz="1400" dirty="0"/>
          </a:p>
        </p:txBody>
      </p:sp>
      <p:sp>
        <p:nvSpPr>
          <p:cNvPr id="9" name="Text 7"/>
          <p:cNvSpPr/>
          <p:nvPr/>
        </p:nvSpPr>
        <p:spPr>
          <a:xfrm>
            <a:off x="7912075" y="5207000"/>
            <a:ext cx="952500" cy="391108"/>
          </a:xfrm>
          <a:custGeom>
            <a:avLst/>
            <a:gdLst/>
            <a:ahLst/>
            <a:cxnLst/>
            <a:rect l="l" t="t" r="r" b="b"/>
            <a:pathLst>
              <a:path w="952500" h="391108">
                <a:moveTo>
                  <a:pt x="195554" y="0"/>
                </a:moveTo>
                <a:lnTo>
                  <a:pt x="756946" y="0"/>
                </a:lnTo>
                <a:arcTo hR="195554" wR="195554" stAng="16200000" swAng="5400000"/>
                <a:lnTo>
                  <a:pt x="952500" y="195554"/>
                </a:lnTo>
                <a:arcTo hR="195554" wR="195554" stAng="0" swAng="5400000"/>
                <a:lnTo>
                  <a:pt x="195554" y="391108"/>
                </a:lnTo>
                <a:arcTo hR="195554" wR="195554" stAng="5400000" swAng="5400000"/>
                <a:lnTo>
                  <a:pt x="0" y="195554"/>
                </a:lnTo>
                <a:arcTo hR="195554" wR="195554" stAng="10800000" swAng="5400000"/>
                <a:close/>
              </a:path>
            </a:pathLst>
          </a:custGeom>
          <a:solidFill>
            <a:srgbClr val="D9692A"/>
          </a:solidFill>
          <a:ln/>
        </p:spPr>
        <p:txBody>
          <a:bodyPr wrap="square" lIns="0" tIns="0" rIns="0" bIns="0" rtlCol="0" anchor="t">
            <a:normAutofit/>
          </a:bodyPr>
          <a:lstStyle/>
          <a:p>
            <a:pPr algn="ctr" indent="0" marL="0">
              <a:lnSpc>
                <a:spcPts val="3080"/>
              </a:lnSpc>
              <a:buNone/>
            </a:pPr>
            <a:r>
              <a:rPr lang="en-US" sz="1400" b="1" dirty="0">
                <a:solidFill>
                  <a:srgbClr val="FFFFFF"/>
                </a:solidFill>
                <a:latin typeface="JetBrains Mono" pitchFamily="49" charset="0"/>
                <a:ea typeface="JetBrains Mono" pitchFamily="49" charset="-122"/>
                <a:cs typeface="JetBrains Mono" pitchFamily="49" charset="-120"/>
              </a:rPr>
              <a:t>res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TODAY’S ROUTE</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From one request to a full pipeline</a:t>
            </a:r>
            <a:endParaRPr lang="en-US" sz="2800" dirty="0"/>
          </a:p>
        </p:txBody>
      </p:sp>
      <p:sp>
        <p:nvSpPr>
          <p:cNvPr id="4" name="Shape 2"/>
          <p:cNvSpPr/>
          <p:nvPr/>
        </p:nvSpPr>
        <p:spPr>
          <a:xfrm>
            <a:off x="819138" y="1829991"/>
            <a:ext cx="3390875" cy="1854783"/>
          </a:xfrm>
          <a:prstGeom prst="roundRect">
            <a:avLst>
              <a:gd name="adj" fmla="val 6505"/>
            </a:avLst>
          </a:prstGeom>
          <a:solidFill>
            <a:srgbClr val="FDFCF8"/>
          </a:solidFill>
          <a:ln w="12700">
            <a:solidFill>
              <a:srgbClr val="DDD8CA"/>
            </a:solidFill>
            <a:prstDash val="solid"/>
          </a:ln>
        </p:spPr>
      </p:sp>
      <p:sp>
        <p:nvSpPr>
          <p:cNvPr id="5" name="Text 3"/>
          <p:cNvSpPr/>
          <p:nvPr/>
        </p:nvSpPr>
        <p:spPr>
          <a:xfrm>
            <a:off x="1053269" y="2064122"/>
            <a:ext cx="3010291"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6"/>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53269" y="2353655"/>
            <a:ext cx="3010291" cy="29967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F2B"/>
                </a:solidFill>
                <a:latin typeface="Space Grotesk" pitchFamily="34" charset="0"/>
                <a:ea typeface="Space Grotesk" pitchFamily="34" charset="-122"/>
                <a:cs typeface="Space Grotesk" pitchFamily="34" charset="-120"/>
              </a:rPr>
              <a:t>Your server.js</a:t>
            </a:r>
            <a:endParaRPr lang="en-US" sz="1800" dirty="0"/>
          </a:p>
        </p:txBody>
      </p:sp>
      <p:sp>
        <p:nvSpPr>
          <p:cNvPr id="7" name="Text 5"/>
          <p:cNvSpPr/>
          <p:nvPr/>
        </p:nvSpPr>
        <p:spPr>
          <a:xfrm>
            <a:off x="1053269" y="2704083"/>
            <a:ext cx="3010291"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Every line, with the browser and the console side by side.</a:t>
            </a:r>
            <a:endParaRPr lang="en-US" sz="1400" dirty="0"/>
          </a:p>
        </p:txBody>
      </p:sp>
      <p:sp>
        <p:nvSpPr>
          <p:cNvPr id="8" name="Shape 6"/>
          <p:cNvSpPr/>
          <p:nvPr/>
        </p:nvSpPr>
        <p:spPr>
          <a:xfrm>
            <a:off x="4400500" y="1829991"/>
            <a:ext cx="3390937" cy="1854783"/>
          </a:xfrm>
          <a:prstGeom prst="roundRect">
            <a:avLst>
              <a:gd name="adj" fmla="val 6505"/>
            </a:avLst>
          </a:prstGeom>
          <a:solidFill>
            <a:srgbClr val="FDFCF8"/>
          </a:solidFill>
          <a:ln w="12700">
            <a:solidFill>
              <a:srgbClr val="DDD8CA"/>
            </a:solidFill>
            <a:prstDash val="solid"/>
          </a:ln>
        </p:spPr>
      </p:sp>
      <p:sp>
        <p:nvSpPr>
          <p:cNvPr id="9" name="Text 7"/>
          <p:cNvSpPr/>
          <p:nvPr/>
        </p:nvSpPr>
        <p:spPr>
          <a:xfrm>
            <a:off x="4634632" y="2064122"/>
            <a:ext cx="3010355"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6FD6"/>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4634632" y="2353655"/>
            <a:ext cx="3010355" cy="29967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F2B"/>
                </a:solidFill>
                <a:latin typeface="Space Grotesk" pitchFamily="34" charset="0"/>
                <a:ea typeface="Space Grotesk" pitchFamily="34" charset="-122"/>
                <a:cs typeface="Space Grotesk" pitchFamily="34" charset="-120"/>
              </a:rPr>
              <a:t>req</a:t>
            </a:r>
            <a:endParaRPr lang="en-US" sz="1800" dirty="0"/>
          </a:p>
        </p:txBody>
      </p:sp>
      <p:sp>
        <p:nvSpPr>
          <p:cNvPr id="11" name="Text 9"/>
          <p:cNvSpPr/>
          <p:nvPr/>
        </p:nvSpPr>
        <p:spPr>
          <a:xfrm>
            <a:off x="4634632" y="2704083"/>
            <a:ext cx="3010355"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Everything the request carries: params, query, headers, ip, body.</a:t>
            </a:r>
            <a:endParaRPr lang="en-US" sz="1400" dirty="0"/>
          </a:p>
        </p:txBody>
      </p:sp>
      <p:sp>
        <p:nvSpPr>
          <p:cNvPr id="12" name="Shape 10"/>
          <p:cNvSpPr/>
          <p:nvPr/>
        </p:nvSpPr>
        <p:spPr>
          <a:xfrm>
            <a:off x="7981925" y="1829991"/>
            <a:ext cx="3390937" cy="1854783"/>
          </a:xfrm>
          <a:prstGeom prst="roundRect">
            <a:avLst>
              <a:gd name="adj" fmla="val 6505"/>
            </a:avLst>
          </a:prstGeom>
          <a:solidFill>
            <a:srgbClr val="FDFCF8"/>
          </a:solidFill>
          <a:ln w="12700">
            <a:solidFill>
              <a:srgbClr val="DDD8CA"/>
            </a:solidFill>
            <a:prstDash val="solid"/>
          </a:ln>
        </p:spPr>
      </p:sp>
      <p:sp>
        <p:nvSpPr>
          <p:cNvPr id="13" name="Text 11"/>
          <p:cNvSpPr/>
          <p:nvPr/>
        </p:nvSpPr>
        <p:spPr>
          <a:xfrm>
            <a:off x="8216057" y="2064122"/>
            <a:ext cx="3010355"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9692A"/>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8216057" y="2353655"/>
            <a:ext cx="3010355" cy="29967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F2B"/>
                </a:solidFill>
                <a:latin typeface="Space Grotesk" pitchFamily="34" charset="0"/>
                <a:ea typeface="Space Grotesk" pitchFamily="34" charset="-122"/>
                <a:cs typeface="Space Grotesk" pitchFamily="34" charset="-120"/>
              </a:rPr>
              <a:t>res</a:t>
            </a:r>
            <a:endParaRPr lang="en-US" sz="1800" dirty="0"/>
          </a:p>
        </p:txBody>
      </p:sp>
      <p:sp>
        <p:nvSpPr>
          <p:cNvPr id="15" name="Text 13"/>
          <p:cNvSpPr/>
          <p:nvPr/>
        </p:nvSpPr>
        <p:spPr>
          <a:xfrm>
            <a:off x="8216057" y="2704083"/>
            <a:ext cx="3010355" cy="7719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Every way to answer: text, HTML, JSON, files, redirects, status codes.</a:t>
            </a:r>
            <a:endParaRPr lang="en-US" sz="1400" dirty="0"/>
          </a:p>
        </p:txBody>
      </p:sp>
      <p:sp>
        <p:nvSpPr>
          <p:cNvPr id="16" name="Shape 14"/>
          <p:cNvSpPr/>
          <p:nvPr/>
        </p:nvSpPr>
        <p:spPr>
          <a:xfrm>
            <a:off x="819138" y="3875261"/>
            <a:ext cx="3390875" cy="1605930"/>
          </a:xfrm>
          <a:prstGeom prst="roundRect">
            <a:avLst>
              <a:gd name="adj" fmla="val 7513"/>
            </a:avLst>
          </a:prstGeom>
          <a:solidFill>
            <a:srgbClr val="FDFCF8"/>
          </a:solidFill>
          <a:ln w="12700">
            <a:solidFill>
              <a:srgbClr val="DDD8CA"/>
            </a:solidFill>
            <a:prstDash val="solid"/>
          </a:ln>
        </p:spPr>
      </p:sp>
      <p:sp>
        <p:nvSpPr>
          <p:cNvPr id="17" name="Text 15"/>
          <p:cNvSpPr/>
          <p:nvPr/>
        </p:nvSpPr>
        <p:spPr>
          <a:xfrm>
            <a:off x="1053269" y="4109393"/>
            <a:ext cx="3010291"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9692A"/>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1053269" y="4398925"/>
            <a:ext cx="3010291" cy="29967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F2B"/>
                </a:solidFill>
                <a:latin typeface="Space Grotesk" pitchFamily="34" charset="0"/>
                <a:ea typeface="Space Grotesk" pitchFamily="34" charset="-122"/>
                <a:cs typeface="Space Grotesk" pitchFamily="34" charset="-120"/>
              </a:rPr>
              <a:t>Practice + quiz</a:t>
            </a:r>
            <a:endParaRPr lang="en-US" sz="1800" dirty="0"/>
          </a:p>
        </p:txBody>
      </p:sp>
      <p:sp>
        <p:nvSpPr>
          <p:cNvPr id="19" name="Text 17"/>
          <p:cNvSpPr/>
          <p:nvPr/>
        </p:nvSpPr>
        <p:spPr>
          <a:xfrm>
            <a:off x="1053269" y="4749354"/>
            <a:ext cx="3010291"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Six graded sets on the Fake Store API, then MCQ and MSQ checks.</a:t>
            </a:r>
            <a:endParaRPr lang="en-US" sz="1400" dirty="0"/>
          </a:p>
        </p:txBody>
      </p:sp>
      <p:sp>
        <p:nvSpPr>
          <p:cNvPr id="20" name="Shape 18"/>
          <p:cNvSpPr/>
          <p:nvPr/>
        </p:nvSpPr>
        <p:spPr>
          <a:xfrm>
            <a:off x="4400500" y="3875261"/>
            <a:ext cx="3390937" cy="1605930"/>
          </a:xfrm>
          <a:prstGeom prst="roundRect">
            <a:avLst>
              <a:gd name="adj" fmla="val 7513"/>
            </a:avLst>
          </a:prstGeom>
          <a:solidFill>
            <a:srgbClr val="FDFCF8"/>
          </a:solidFill>
          <a:ln w="12700">
            <a:solidFill>
              <a:srgbClr val="DDD8CA"/>
            </a:solidFill>
            <a:prstDash val="solid"/>
          </a:ln>
        </p:spPr>
      </p:sp>
      <p:sp>
        <p:nvSpPr>
          <p:cNvPr id="21" name="Text 19"/>
          <p:cNvSpPr/>
          <p:nvPr/>
        </p:nvSpPr>
        <p:spPr>
          <a:xfrm>
            <a:off x="4634632" y="4109393"/>
            <a:ext cx="3010355"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05</a:t>
            </a:r>
            <a:endParaRPr lang="en-US" sz="1200" dirty="0"/>
          </a:p>
        </p:txBody>
      </p:sp>
      <p:sp>
        <p:nvSpPr>
          <p:cNvPr id="22" name="Text 20"/>
          <p:cNvSpPr/>
          <p:nvPr/>
        </p:nvSpPr>
        <p:spPr>
          <a:xfrm>
            <a:off x="4634632" y="4398925"/>
            <a:ext cx="3010355" cy="29967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F2B"/>
                </a:solidFill>
                <a:latin typeface="Space Grotesk" pitchFamily="34" charset="0"/>
                <a:ea typeface="Space Grotesk" pitchFamily="34" charset="-122"/>
                <a:cs typeface="Space Grotesk" pitchFamily="34" charset="-120"/>
              </a:rPr>
              <a:t>Middleware</a:t>
            </a:r>
            <a:endParaRPr lang="en-US" sz="1800" dirty="0"/>
          </a:p>
        </p:txBody>
      </p:sp>
      <p:sp>
        <p:nvSpPr>
          <p:cNvPr id="23" name="Text 21"/>
          <p:cNvSpPr/>
          <p:nvPr/>
        </p:nvSpPr>
        <p:spPr>
          <a:xfrm>
            <a:off x="4634632" y="4749354"/>
            <a:ext cx="3010355"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Why it exists, then all five types, small examples first.</a:t>
            </a:r>
            <a:endParaRPr lang="en-US" sz="1400" dirty="0"/>
          </a:p>
        </p:txBody>
      </p:sp>
      <p:sp>
        <p:nvSpPr>
          <p:cNvPr id="24" name="Shape 22"/>
          <p:cNvSpPr/>
          <p:nvPr/>
        </p:nvSpPr>
        <p:spPr>
          <a:xfrm>
            <a:off x="7981925" y="3875261"/>
            <a:ext cx="3390937" cy="1605930"/>
          </a:xfrm>
          <a:prstGeom prst="roundRect">
            <a:avLst>
              <a:gd name="adj" fmla="val 7513"/>
            </a:avLst>
          </a:prstGeom>
          <a:solidFill>
            <a:srgbClr val="FDFCF8"/>
          </a:solidFill>
          <a:ln w="12700">
            <a:solidFill>
              <a:srgbClr val="DDD8CA"/>
            </a:solidFill>
            <a:prstDash val="solid"/>
          </a:ln>
        </p:spPr>
      </p:sp>
      <p:sp>
        <p:nvSpPr>
          <p:cNvPr id="25" name="Text 23"/>
          <p:cNvSpPr/>
          <p:nvPr/>
        </p:nvSpPr>
        <p:spPr>
          <a:xfrm>
            <a:off x="8216057" y="4109393"/>
            <a:ext cx="3010355"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06</a:t>
            </a:r>
            <a:endParaRPr lang="en-US" sz="1200" dirty="0"/>
          </a:p>
        </p:txBody>
      </p:sp>
      <p:sp>
        <p:nvSpPr>
          <p:cNvPr id="26" name="Text 24"/>
          <p:cNvSpPr/>
          <p:nvPr/>
        </p:nvSpPr>
        <p:spPr>
          <a:xfrm>
            <a:off x="8216057" y="4398925"/>
            <a:ext cx="3010355" cy="29967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A1F2B"/>
                </a:solidFill>
                <a:latin typeface="Space Grotesk" pitchFamily="34" charset="0"/>
                <a:ea typeface="Space Grotesk" pitchFamily="34" charset="-122"/>
                <a:cs typeface="Space Grotesk" pitchFamily="34" charset="-120"/>
              </a:rPr>
              <a:t>One pipeline</a:t>
            </a:r>
            <a:endParaRPr lang="en-US" sz="1800" dirty="0"/>
          </a:p>
        </p:txBody>
      </p:sp>
      <p:sp>
        <p:nvSpPr>
          <p:cNvPr id="27" name="Text 25"/>
          <p:cNvSpPr/>
          <p:nvPr/>
        </p:nvSpPr>
        <p:spPr>
          <a:xfrm>
            <a:off x="8216057" y="4749354"/>
            <a:ext cx="3010355"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All five types working together in one app, then the final quiz.</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THE REQUEST–RESPONSE CYCLE</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One request in, exactly one response out</a:t>
            </a:r>
            <a:endParaRPr lang="en-US" sz="2800" dirty="0"/>
          </a:p>
        </p:txBody>
      </p:sp>
      <p:pic>
        <p:nvPicPr>
          <p:cNvPr id="4" name="Image 0" descr="web embed">    </p:cNvPr>
          <p:cNvPicPr>
            <a:picLocks noChangeAspect="1"/>
          </p:cNvPicPr>
          <p:nvPr/>
        </p:nvPicPr>
        <p:blipFill>
          <a:blip r:embed="rId1"/>
          <a:srcRect l="0" r="0" t="0" b="0"/>
          <a:stretch/>
        </p:blipFill>
        <p:spPr>
          <a:xfrm>
            <a:off x="812788" y="1701788"/>
            <a:ext cx="10566363" cy="406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2166751"/>
            <a:ext cx="10883418" cy="274253"/>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7FB0FF"/>
                </a:solidFill>
                <a:latin typeface="Space Grotesk" pitchFamily="34" charset="0"/>
                <a:ea typeface="Space Grotesk" pitchFamily="34" charset="-122"/>
                <a:cs typeface="Space Grotesk" pitchFamily="34" charset="-120"/>
              </a:rPr>
              <a:t>PART 1</a:t>
            </a:r>
            <a:endParaRPr lang="en-US" sz="1400" dirty="0"/>
          </a:p>
        </p:txBody>
      </p:sp>
      <p:sp>
        <p:nvSpPr>
          <p:cNvPr id="3" name="Text 1"/>
          <p:cNvSpPr/>
          <p:nvPr>
            <p:ph type="title"/>
          </p:nvPr>
        </p:nvSpPr>
        <p:spPr>
          <a:xfrm>
            <a:off x="812788" y="2593392"/>
            <a:ext cx="10883418" cy="1305446"/>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2EFE6"/>
                </a:solidFill>
                <a:latin typeface="Space Grotesk" pitchFamily="34" charset="0"/>
                <a:ea typeface="Space Grotesk" pitchFamily="34" charset="-122"/>
                <a:cs typeface="Space Grotesk" pitchFamily="34" charset="-120"/>
              </a:rPr>
              <a:t>Your server.js,</a:t>
            </a:r>
            <a:endParaRPr lang="en-US" sz="4800" dirty="0"/>
          </a:p>
          <a:p>
            <a:pPr algn="l" indent="0" marL="0">
              <a:lnSpc>
                <a:spcPts val="5040"/>
              </a:lnSpc>
              <a:buNone/>
            </a:pPr>
            <a:r>
              <a:rPr lang="en-US" sz="4800" b="1" i="0" dirty="0">
                <a:solidFill>
                  <a:srgbClr val="F2EFE6"/>
                </a:solidFill>
                <a:latin typeface="Space Grotesk" pitchFamily="34" charset="0"/>
                <a:ea typeface="Space Grotesk" pitchFamily="34" charset="-122"/>
                <a:cs typeface="Space Grotesk" pitchFamily="34" charset="-120"/>
              </a:rPr>
              <a:t>line by line</a:t>
            </a:r>
            <a:endParaRPr lang="en-US" sz="4800" dirty="0"/>
          </a:p>
        </p:txBody>
      </p:sp>
      <p:sp>
        <p:nvSpPr>
          <p:cNvPr id="4" name="Text 2"/>
          <p:cNvSpPr/>
          <p:nvPr/>
        </p:nvSpPr>
        <p:spPr>
          <a:xfrm>
            <a:off x="812788" y="4051226"/>
            <a:ext cx="784860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9C0CC"/>
                </a:solidFill>
                <a:latin typeface="Space Grotesk" pitchFamily="34" charset="0"/>
                <a:ea typeface="Space Grotesk" pitchFamily="34" charset="-122"/>
                <a:cs typeface="Space Grotesk" pitchFamily="34" charset="-120"/>
              </a:rPr>
              <a:t>Code on the left. Predict the output first. Then click to reveal what the browser shows and what the server console prints.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SERVER.JS · THE WHOLE FILE</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Five parts in one small file</a:t>
            </a:r>
            <a:endParaRPr lang="en-US" sz="2800" dirty="0"/>
          </a:p>
        </p:txBody>
      </p:sp>
      <p:sp>
        <p:nvSpPr>
          <p:cNvPr id="4" name="Text 2"/>
          <p:cNvSpPr/>
          <p:nvPr/>
        </p:nvSpPr>
        <p:spPr>
          <a:xfrm>
            <a:off x="812788" y="1696641"/>
            <a:ext cx="5334000" cy="3983075"/>
          </a:xfrm>
          <a:prstGeom prst="roundRect">
            <a:avLst>
              <a:gd name="adj" fmla="val 2551"/>
            </a:avLst>
          </a:prstGeom>
          <a:solidFill>
            <a:srgbClr val="161B24"/>
          </a:solidFill>
          <a:ln/>
        </p:spPr>
        <p:txBody>
          <a:bodyPr wrap="none" lIns="173393" tIns="148042" rIns="25562" bIns="122618" rtlCol="0" anchor="t">
            <a:normAutofit/>
          </a:bodyPr>
          <a:lstStyle/>
          <a:p>
            <a:pPr algn="l" indent="0" marL="0">
              <a:lnSpc>
                <a:spcPts val="1680"/>
              </a:lnSpc>
              <a:buNone/>
            </a:pPr>
            <a:r>
              <a:rPr lang="en-US" sz="1200" dirty="0">
                <a:solidFill>
                  <a:srgbClr val="F0A15E"/>
                </a:solidFill>
                <a:latin typeface="JetBrains Mono" pitchFamily="49" charset="0"/>
                <a:ea typeface="JetBrains Mono" pitchFamily="49" charset="-122"/>
                <a:cs typeface="JetBrains Mono" pitchFamily="49" charset="-120"/>
              </a:rPr>
              <a:t>// 1 · setup</a:t>
            </a:r>
            <a:endParaRPr lang="en-US" sz="1200" dirty="0"/>
          </a:p>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express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'express'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fs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'fs'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server = </a:t>
            </a:r>
            <a:r>
              <a:rPr lang="en-US" sz="1200" dirty="0">
                <a:solidFill>
                  <a:srgbClr val="82AAFF"/>
                </a:solidFill>
                <a:latin typeface="JetBrains Mono" pitchFamily="49" charset="0"/>
                <a:ea typeface="JetBrains Mono" pitchFamily="49" charset="-122"/>
                <a:cs typeface="JetBrains Mono" pitchFamily="49" charset="-120"/>
              </a:rPr>
              <a:t>express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data = fs.</a:t>
            </a:r>
            <a:r>
              <a:rPr lang="en-US" sz="1200" dirty="0">
                <a:solidFill>
                  <a:srgbClr val="82AAFF"/>
                </a:solidFill>
                <a:latin typeface="JetBrains Mono" pitchFamily="49" charset="0"/>
                <a:ea typeface="JetBrains Mono" pitchFamily="49" charset="-122"/>
                <a:cs typeface="JetBrains Mono" pitchFamily="49" charset="-120"/>
              </a:rPr>
              <a:t>readFileSync</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'./index.html'</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'utf-8'</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F0A15E"/>
                </a:solidFill>
                <a:latin typeface="JetBrains Mono" pitchFamily="49" charset="0"/>
                <a:ea typeface="JetBrains Mono" pitchFamily="49" charset="-122"/>
                <a:cs typeface="JetBrains Mono" pitchFamily="49" charset="-120"/>
              </a:rPr>
              <a:t>// 2 · a middleware function</a:t>
            </a:r>
            <a:endParaRPr lang="en-US" sz="1200" dirty="0"/>
          </a:p>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middleware1</a:t>
            </a:r>
            <a:r>
              <a:rPr lang="en-US" sz="1200" dirty="0">
                <a:solidFill>
                  <a:srgbClr val="E6E1D6"/>
                </a:solidFill>
                <a:latin typeface="JetBrains Mono" pitchFamily="49" charset="0"/>
                <a:ea typeface="JetBrains Mono" pitchFamily="49" charset="-122"/>
                <a:cs typeface="JetBrains Mono" pitchFamily="49" charset="-120"/>
              </a:rPr>
              <a:t> = (req, res, next)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var</a:t>
            </a:r>
            <a:r>
              <a:rPr lang="en-US" sz="1200" dirty="0">
                <a:solidFill>
                  <a:srgbClr val="E6E1D6"/>
                </a:solidFill>
                <a:latin typeface="JetBrains Mono" pitchFamily="49" charset="0"/>
                <a:ea typeface="JetBrains Mono" pitchFamily="49" charset="-122"/>
                <a:cs typeface="JetBrains Mono" pitchFamily="49" charset="-120"/>
              </a:rPr>
              <a:t> login = </a:t>
            </a:r>
            <a:r>
              <a:rPr lang="en-US" sz="1200" dirty="0">
                <a:solidFill>
                  <a:srgbClr val="F78C6C"/>
                </a:solidFill>
                <a:latin typeface="JetBrains Mono" pitchFamily="49" charset="0"/>
                <a:ea typeface="JetBrains Mono" pitchFamily="49" charset="-122"/>
                <a:cs typeface="JetBrains Mono" pitchFamily="49" charset="-120"/>
              </a:rPr>
              <a:t>true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(login)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 has loggedIN......"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 </a:t>
            </a:r>
            <a:r>
              <a:rPr lang="en-US" sz="1200" dirty="0">
                <a:solidFill>
                  <a:srgbClr val="C792EA"/>
                </a:solidFill>
                <a:latin typeface="JetBrains Mono" pitchFamily="49" charset="0"/>
                <a:ea typeface="JetBrains Mono" pitchFamily="49" charset="-122"/>
                <a:cs typeface="JetBrains Mono" pitchFamily="49" charset="-120"/>
              </a:rPr>
              <a:t>else</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"Kindly Login"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F0A15E"/>
                </a:solidFill>
                <a:latin typeface="JetBrains Mono" pitchFamily="49" charset="0"/>
                <a:ea typeface="JetBrains Mono" pitchFamily="49" charset="-122"/>
                <a:cs typeface="JetBrains Mono" pitchFamily="49" charset="-120"/>
              </a:rPr>
              <a:t>// 3 · application-level middleware</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middleware1);</a:t>
            </a:r>
            <a:endParaRPr lang="en-US" sz="1200" dirty="0"/>
          </a:p>
        </p:txBody>
      </p:sp>
      <p:sp>
        <p:nvSpPr>
          <p:cNvPr id="5" name="Text 3"/>
          <p:cNvSpPr/>
          <p:nvPr/>
        </p:nvSpPr>
        <p:spPr>
          <a:xfrm>
            <a:off x="6324575" y="1696641"/>
            <a:ext cx="5054637" cy="3983075"/>
          </a:xfrm>
          <a:prstGeom prst="roundRect">
            <a:avLst>
              <a:gd name="adj" fmla="val 2551"/>
            </a:avLst>
          </a:prstGeom>
          <a:solidFill>
            <a:srgbClr val="161B24"/>
          </a:solidFill>
          <a:ln/>
        </p:spPr>
        <p:txBody>
          <a:bodyPr wrap="none" lIns="173393" tIns="148042" rIns="33943" bIns="122618" rtlCol="0" anchor="t">
            <a:normAutofit/>
          </a:bodyPr>
          <a:lstStyle/>
          <a:p>
            <a:pPr algn="l" indent="0" marL="0">
              <a:lnSpc>
                <a:spcPts val="1680"/>
              </a:lnSpc>
              <a:buNone/>
            </a:pPr>
            <a:r>
              <a:rPr lang="en-US" sz="1200" dirty="0">
                <a:solidFill>
                  <a:srgbClr val="F0A15E"/>
                </a:solidFill>
                <a:latin typeface="JetBrains Mono" pitchFamily="49" charset="0"/>
                <a:ea typeface="JetBrains Mono" pitchFamily="49" charset="-122"/>
                <a:cs typeface="JetBrains Mono" pitchFamily="49" charset="-120"/>
              </a:rPr>
              <a:t>// 4 · routes (API endpoints)</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(data);</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`Testing...for id: ${req.params.id}`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post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"Data posted"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put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"Data updated"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F0A15E"/>
                </a:solidFill>
                <a:latin typeface="JetBrains Mono" pitchFamily="49" charset="0"/>
                <a:ea typeface="JetBrains Mono" pitchFamily="49" charset="-122"/>
                <a:cs typeface="JetBrains Mono" pitchFamily="49" charset="-120"/>
              </a:rPr>
              <a:t>// 5 · start listening</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listen</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11000</a:t>
            </a:r>
            <a:r>
              <a:rPr lang="en-US" sz="1200" dirty="0">
                <a:solidFill>
                  <a:srgbClr val="E6E1D6"/>
                </a:solidFill>
                <a:latin typeface="JetBrains Mono" pitchFamily="49" charset="0"/>
                <a:ea typeface="JetBrains Mono" pitchFamily="49" charset="-122"/>
                <a:cs typeface="JetBrains Mono" pitchFamily="49" charset="-120"/>
              </a:rPr>
              <a:t>, ()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"Server running on port 11000"</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PARTS 1 &amp; 5 · SETUP AND LISTEN</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What happens on node server.js</a:t>
            </a:r>
            <a:endParaRPr lang="en-US" sz="2800" dirty="0"/>
          </a:p>
        </p:txBody>
      </p:sp>
      <p:sp>
        <p:nvSpPr>
          <p:cNvPr id="4" name="Shape 2"/>
          <p:cNvSpPr/>
          <p:nvPr/>
        </p:nvSpPr>
        <p:spPr>
          <a:xfrm>
            <a:off x="812788" y="1696641"/>
            <a:ext cx="5588000" cy="3617392"/>
          </a:xfrm>
          <a:prstGeom prst="roundRect">
            <a:avLst>
              <a:gd name="adj" fmla="val 2809"/>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99768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express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'express'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a function that builds an app</a:t>
            </a: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server = </a:t>
            </a:r>
            <a:r>
              <a:rPr lang="en-US" sz="1200" dirty="0">
                <a:solidFill>
                  <a:srgbClr val="82AAFF"/>
                </a:solidFill>
                <a:latin typeface="JetBrains Mono" pitchFamily="49" charset="0"/>
                <a:ea typeface="JetBrains Mono" pitchFamily="49" charset="-122"/>
                <a:cs typeface="JetBrains Mono" pitchFamily="49" charset="-120"/>
              </a:rPr>
              <a:t>express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server has .use .get .post .put .listen</a:t>
            </a:r>
            <a:endParaRPr lang="en-US" sz="1200" dirty="0"/>
          </a:p>
          <a:p>
            <a:pPr algn="l" indent="0" marL="0">
              <a:lnSpc>
                <a:spcPts val="1800"/>
              </a:lnSpc>
              <a:buNone/>
            </a:pP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data = fs.</a:t>
            </a:r>
            <a:r>
              <a:rPr lang="en-US" sz="1200" dirty="0">
                <a:solidFill>
                  <a:srgbClr val="82AAFF"/>
                </a:solidFill>
                <a:latin typeface="JetBrains Mono" pitchFamily="49" charset="0"/>
                <a:ea typeface="JetBrains Mono" pitchFamily="49" charset="-122"/>
                <a:cs typeface="JetBrains Mono" pitchFamily="49" charset="-120"/>
              </a:rPr>
              <a:t>readFileSync</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'./index.html'</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'utf-8'</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runs ONCE, at startup → data is a string</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listen</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11000</a:t>
            </a:r>
            <a:r>
              <a:rPr lang="en-US" sz="1200" dirty="0">
                <a:solidFill>
                  <a:srgbClr val="E6E1D6"/>
                </a:solidFill>
                <a:latin typeface="JetBrains Mono" pitchFamily="49" charset="0"/>
                <a:ea typeface="JetBrains Mono" pitchFamily="49" charset="-122"/>
                <a:cs typeface="JetBrains Mono" pitchFamily="49" charset="-120"/>
              </a:rPr>
              <a:t>, ()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"Server running on port 11000"</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opens port 11000 and waits for requests</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Text 6"/>
          <p:cNvSpPr/>
          <p:nvPr/>
        </p:nvSpPr>
        <p:spPr>
          <a:xfrm>
            <a:off x="6819057" y="1891481"/>
            <a:ext cx="4475388"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D6"/>
                </a:solidFill>
                <a:latin typeface="Space Grotesk" pitchFamily="34" charset="0"/>
                <a:ea typeface="Space Grotesk" pitchFamily="34" charset="-122"/>
                <a:cs typeface="Space Grotesk" pitchFamily="34" charset="-120"/>
              </a:rPr>
              <a:t>GOOD TO KNOW</a:t>
            </a:r>
            <a:endParaRPr lang="en-US" sz="1200" dirty="0"/>
          </a:p>
        </p:txBody>
      </p:sp>
      <p:sp>
        <p:nvSpPr>
          <p:cNvPr id="9" name="Text 7"/>
          <p:cNvSpPr/>
          <p:nvPr/>
        </p:nvSpPr>
        <p:spPr>
          <a:xfrm>
            <a:off x="6819057" y="2193727"/>
            <a:ext cx="4475388" cy="48751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Space Grotesk" pitchFamily="34" charset="0"/>
                <a:ea typeface="Space Grotesk" pitchFamily="34" charset="-122"/>
                <a:cs typeface="Space Grotesk" pitchFamily="34" charset="-120"/>
              </a:rPr>
              <a:t>Edited index.html? Restart the server. The file was read once into </a:t>
            </a:r>
            <a:r>
              <a:rPr lang="en-US" sz="1300" b="1" dirty="0">
                <a:solidFill>
                  <a:srgbClr val="1A1F2B"/>
                </a:solidFill>
                <a:latin typeface="Space Grotesk" pitchFamily="34" charset="0"/>
                <a:ea typeface="Space Grotesk" pitchFamily="34" charset="-122"/>
                <a:cs typeface="Space Grotesk" pitchFamily="34" charset="-120"/>
              </a:rPr>
              <a:t>data</a:t>
            </a:r>
            <a:r>
              <a:rPr lang="en-US" sz="1300" dirty="0">
                <a:solidFill>
                  <a:srgbClr val="1A1F2B"/>
                </a:solidFill>
                <a:latin typeface="Space Grotesk" pitchFamily="34" charset="0"/>
                <a:ea typeface="Space Grotesk" pitchFamily="34" charset="-122"/>
                <a:cs typeface="Space Grotesk" pitchFamily="34" charset="-120"/>
              </a:rPr>
              <a:t>, not on every request.</a:t>
            </a:r>
            <a:endParaRPr lang="en-US" sz="1300" dirty="0"/>
          </a:p>
        </p:txBody>
      </p:sp>
      <p:sp>
        <p:nvSpPr>
          <p:cNvPr id="10" name="Text 8"/>
          <p:cNvSpPr/>
          <p:nvPr/>
        </p:nvSpPr>
        <p:spPr>
          <a:xfrm>
            <a:off x="6819057" y="2744701"/>
            <a:ext cx="4475388" cy="48751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Space Grotesk" pitchFamily="34" charset="0"/>
                <a:ea typeface="Space Grotesk" pitchFamily="34" charset="-122"/>
                <a:cs typeface="Space Grotesk" pitchFamily="34" charset="-120"/>
              </a:rPr>
              <a:t>No routes run yet. They run only when a request arrives.</a:t>
            </a:r>
            <a:endParaRPr lang="en-US" sz="1300" dirty="0"/>
          </a:p>
        </p:txBody>
      </p:sp>
      <p:sp>
        <p:nvSpPr>
          <p:cNvPr id="11" name="Shape 9"/>
          <p:cNvSpPr/>
          <p:nvPr/>
        </p:nvSpPr>
        <p:spPr>
          <a:xfrm>
            <a:off x="6604000" y="3733788"/>
            <a:ext cx="4775150" cy="2311363"/>
          </a:xfrm>
          <a:prstGeom prst="roundRect">
            <a:avLst>
              <a:gd name="adj" fmla="val 4396"/>
            </a:avLst>
          </a:prstGeom>
          <a:solidFill>
            <a:srgbClr val="0E1117"/>
          </a:solidFill>
          <a:ln/>
        </p:spPr>
      </p:sp>
      <p:sp>
        <p:nvSpPr>
          <p:cNvPr id="12" name="Text 10"/>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3" name="Text 11"/>
          <p:cNvSpPr/>
          <p:nvPr/>
        </p:nvSpPr>
        <p:spPr>
          <a:xfrm>
            <a:off x="6781788" y="4175683"/>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BD88F"/>
                </a:solidFill>
                <a:latin typeface="JetBrains Mono" pitchFamily="49" charset="0"/>
                <a:ea typeface="JetBrains Mono" pitchFamily="49" charset="-122"/>
                <a:cs typeface="JetBrains Mono" pitchFamily="49" charset="-120"/>
              </a:rPr>
              <a:t>$</a:t>
            </a:r>
            <a:r>
              <a:rPr lang="en-US" sz="1200" dirty="0">
                <a:solidFill>
                  <a:srgbClr val="D7DCE2"/>
                </a:solidFill>
                <a:latin typeface="JetBrains Mono" pitchFamily="49" charset="0"/>
                <a:ea typeface="JetBrains Mono" pitchFamily="49" charset="-122"/>
                <a:cs typeface="JetBrains Mono" pitchFamily="49" charset="-120"/>
              </a:rPr>
              <a:t> node server.js</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Server running on port 11000</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(keeps running, waiting…)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PARTS 2 &amp; 3 · MIDDLEWARE1 WITH LOGIN = TRUE</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GET / passes the check, then reaches the route</a:t>
            </a:r>
            <a:endParaRPr lang="en-US" sz="2800" dirty="0"/>
          </a:p>
        </p:txBody>
      </p:sp>
      <p:sp>
        <p:nvSpPr>
          <p:cNvPr id="4" name="Shape 2"/>
          <p:cNvSpPr/>
          <p:nvPr/>
        </p:nvSpPr>
        <p:spPr>
          <a:xfrm>
            <a:off x="812788" y="1696641"/>
            <a:ext cx="5588000" cy="3846029"/>
          </a:xfrm>
          <a:prstGeom prst="roundRect">
            <a:avLst>
              <a:gd name="adj" fmla="val 2642"/>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3226321"/>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middleware1</a:t>
            </a:r>
            <a:r>
              <a:rPr lang="en-US" sz="1200" dirty="0">
                <a:solidFill>
                  <a:srgbClr val="E6E1D6"/>
                </a:solidFill>
                <a:latin typeface="JetBrains Mono" pitchFamily="49" charset="0"/>
                <a:ea typeface="JetBrains Mono" pitchFamily="49" charset="-122"/>
                <a:cs typeface="JetBrains Mono" pitchFamily="49" charset="-120"/>
              </a:rPr>
              <a:t> = (req, res, next)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var</a:t>
            </a:r>
            <a:r>
              <a:rPr lang="en-US" sz="1200" dirty="0">
                <a:solidFill>
                  <a:srgbClr val="E6E1D6"/>
                </a:solidFill>
                <a:latin typeface="JetBrains Mono" pitchFamily="49" charset="0"/>
                <a:ea typeface="JetBrains Mono" pitchFamily="49" charset="-122"/>
                <a:cs typeface="JetBrains Mono" pitchFamily="49" charset="-120"/>
              </a:rPr>
              <a:t> login = </a:t>
            </a:r>
            <a:r>
              <a:rPr lang="en-US" sz="1200" dirty="0">
                <a:solidFill>
                  <a:srgbClr val="F78C6C"/>
                </a:solidFill>
                <a:latin typeface="JetBrains Mono" pitchFamily="49" charset="0"/>
                <a:ea typeface="JetBrains Mono" pitchFamily="49" charset="-122"/>
                <a:cs typeface="JetBrains Mono" pitchFamily="49" charset="-120"/>
              </a:rPr>
              <a:t>true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(login)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 has loggedIN......"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go on to the route</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 </a:t>
            </a:r>
            <a:r>
              <a:rPr lang="en-US" sz="1200" dirty="0">
                <a:solidFill>
                  <a:srgbClr val="C792EA"/>
                </a:solidFill>
                <a:latin typeface="JetBrains Mono" pitchFamily="49" charset="0"/>
                <a:ea typeface="JetBrains Mono" pitchFamily="49" charset="-122"/>
                <a:cs typeface="JetBrains Mono" pitchFamily="49" charset="-120"/>
              </a:rPr>
              <a:t>else</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"Kindly Login"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middleware1); </a:t>
            </a:r>
            <a:r>
              <a:rPr lang="en-US" sz="1200" dirty="0">
                <a:solidFill>
                  <a:srgbClr val="7F8796"/>
                </a:solidFill>
                <a:latin typeface="JetBrains Mono" pitchFamily="49" charset="0"/>
                <a:ea typeface="JetBrains Mono" pitchFamily="49" charset="-122"/>
                <a:cs typeface="JetBrains Mono" pitchFamily="49" charset="-120"/>
              </a:rPr>
              <a:t>// every path</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(data);</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694"/>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a:t>
            </a:r>
            <a:endParaRPr lang="en-US" sz="1200" dirty="0"/>
          </a:p>
        </p:txBody>
      </p:sp>
      <p:sp>
        <p:nvSpPr>
          <p:cNvPr id="13" name="Text 11"/>
          <p:cNvSpPr/>
          <p:nvPr/>
        </p:nvSpPr>
        <p:spPr>
          <a:xfrm>
            <a:off x="6819057" y="2307890"/>
            <a:ext cx="4475388" cy="380975"/>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A1F2B"/>
                </a:solidFill>
                <a:latin typeface="Space Grotesk" pitchFamily="34" charset="0"/>
                <a:ea typeface="Space Grotesk" pitchFamily="34" charset="-122"/>
                <a:cs typeface="Space Grotesk" pitchFamily="34" charset="-120"/>
              </a:rPr>
              <a:t>Welcome!</a:t>
            </a:r>
            <a:endParaRPr lang="en-US" sz="2000" dirty="0"/>
          </a:p>
        </p:txBody>
      </p:sp>
      <p:sp>
        <p:nvSpPr>
          <p:cNvPr id="14" name="Text 12"/>
          <p:cNvSpPr/>
          <p:nvPr/>
        </p:nvSpPr>
        <p:spPr>
          <a:xfrm>
            <a:off x="6819057" y="2726965"/>
            <a:ext cx="4475388" cy="48751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C5566"/>
                </a:solidFill>
                <a:latin typeface="Space Grotesk" pitchFamily="34" charset="0"/>
                <a:ea typeface="Space Grotesk" pitchFamily="34" charset="-122"/>
                <a:cs typeface="Space Grotesk" pitchFamily="34" charset="-120"/>
              </a:rPr>
              <a:t>Your index.html, rendered as a page (because res.send(string) sends Content-Type text/html).</a:t>
            </a:r>
            <a:endParaRPr lang="en-US" sz="1300" dirty="0"/>
          </a:p>
        </p:txBody>
      </p:sp>
      <p:sp>
        <p:nvSpPr>
          <p:cNvPr id="15" name="Shape 13"/>
          <p:cNvSpPr/>
          <p:nvPr/>
        </p:nvSpPr>
        <p:spPr>
          <a:xfrm>
            <a:off x="6604000" y="3733788"/>
            <a:ext cx="4775150" cy="2311363"/>
          </a:xfrm>
          <a:prstGeom prst="roundRect">
            <a:avLst>
              <a:gd name="adj" fmla="val 4396"/>
            </a:avLst>
          </a:prstGeom>
          <a:solidFill>
            <a:srgbClr val="0E1117"/>
          </a:solidFill>
          <a:ln/>
        </p:spPr>
      </p:sp>
      <p:sp>
        <p:nvSpPr>
          <p:cNvPr id="16" name="Text 14"/>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7" name="Text 15"/>
          <p:cNvSpPr/>
          <p:nvPr/>
        </p:nvSpPr>
        <p:spPr>
          <a:xfrm>
            <a:off x="6781788" y="4175683"/>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Server running on port 11000</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User has loggedIN......</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User has loggedIN......</a:t>
            </a:r>
            <a:endParaRPr lang="en-US" sz="1200" dirty="0"/>
          </a:p>
        </p:txBody>
      </p:sp>
      <p:sp>
        <p:nvSpPr>
          <p:cNvPr id="18" name="Text 16"/>
          <p:cNvSpPr/>
          <p:nvPr/>
        </p:nvSpPr>
        <p:spPr>
          <a:xfrm>
            <a:off x="6781788" y="4937745"/>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15E"/>
                </a:solidFill>
                <a:latin typeface="Space Grotesk" pitchFamily="34" charset="0"/>
                <a:ea typeface="Space Grotesk" pitchFamily="34" charset="-122"/>
                <a:cs typeface="Space Grotesk" pitchFamily="34" charset="-120"/>
              </a:rPr>
              <a:t>Twice? The browser also asked for /favicon.ico. Two slides ahead.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PARTS 2 &amp; 3 · MIDDLEWARE1 WITH LOGIN = FALSE</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The middleware answers, so no route runs</a:t>
            </a:r>
            <a:endParaRPr lang="en-US" sz="2800" dirty="0"/>
          </a:p>
        </p:txBody>
      </p:sp>
      <p:sp>
        <p:nvSpPr>
          <p:cNvPr id="4" name="Shape 2"/>
          <p:cNvSpPr/>
          <p:nvPr/>
        </p:nvSpPr>
        <p:spPr>
          <a:xfrm>
            <a:off x="812788" y="1696641"/>
            <a:ext cx="5588000" cy="3617392"/>
          </a:xfrm>
          <a:prstGeom prst="roundRect">
            <a:avLst>
              <a:gd name="adj" fmla="val 2809"/>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99768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middleware1</a:t>
            </a:r>
            <a:r>
              <a:rPr lang="en-US" sz="1200" dirty="0">
                <a:solidFill>
                  <a:srgbClr val="E6E1D6"/>
                </a:solidFill>
                <a:latin typeface="JetBrains Mono" pitchFamily="49" charset="0"/>
                <a:ea typeface="JetBrains Mono" pitchFamily="49" charset="-122"/>
                <a:cs typeface="JetBrains Mono" pitchFamily="49" charset="-120"/>
              </a:rPr>
              <a:t> = (req, res, next)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var</a:t>
            </a:r>
            <a:r>
              <a:rPr lang="en-US" sz="1200" dirty="0">
                <a:solidFill>
                  <a:srgbClr val="E6E1D6"/>
                </a:solidFill>
                <a:latin typeface="JetBrains Mono" pitchFamily="49" charset="0"/>
                <a:ea typeface="JetBrains Mono" pitchFamily="49" charset="-122"/>
                <a:cs typeface="JetBrains Mono" pitchFamily="49" charset="-120"/>
              </a:rPr>
              <a:t> login = </a:t>
            </a:r>
            <a:r>
              <a:rPr lang="en-US" sz="1200" dirty="0">
                <a:solidFill>
                  <a:srgbClr val="F78C6C"/>
                </a:solidFill>
                <a:latin typeface="JetBrains Mono" pitchFamily="49" charset="0"/>
                <a:ea typeface="JetBrains Mono" pitchFamily="49" charset="-122"/>
                <a:cs typeface="JetBrains Mono" pitchFamily="49" charset="-120"/>
              </a:rPr>
              <a:t>false</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changed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(login)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 has loggedIN......"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 </a:t>
            </a:r>
            <a:r>
              <a:rPr lang="en-US" sz="1200" dirty="0">
                <a:solidFill>
                  <a:srgbClr val="C792EA"/>
                </a:solidFill>
                <a:latin typeface="JetBrains Mono" pitchFamily="49" charset="0"/>
                <a:ea typeface="JetBrains Mono" pitchFamily="49" charset="-122"/>
                <a:cs typeface="JetBrains Mono" pitchFamily="49" charset="-120"/>
              </a:rPr>
              <a:t>else</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"Kindly Login"</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ends here</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middleware1);</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none of these run now:</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GET / GET /:id POST / PUT /</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694"/>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localhost:11000/42</a:t>
            </a:r>
            <a:endParaRPr lang="en-US" sz="1200" dirty="0"/>
          </a:p>
        </p:txBody>
      </p:sp>
      <p:sp>
        <p:nvSpPr>
          <p:cNvPr id="13" name="Text 11"/>
          <p:cNvSpPr/>
          <p:nvPr/>
        </p:nvSpPr>
        <p:spPr>
          <a:xfrm>
            <a:off x="6819057" y="2307890"/>
            <a:ext cx="4475388" cy="3098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F2B"/>
                </a:solidFill>
                <a:latin typeface="Space Grotesk" pitchFamily="34" charset="0"/>
                <a:ea typeface="Space Grotesk" pitchFamily="34" charset="-122"/>
                <a:cs typeface="Space Grotesk" pitchFamily="34" charset="-120"/>
              </a:rPr>
              <a:t>Kindly Login</a:t>
            </a:r>
            <a:endParaRPr lang="en-US" sz="1600" dirty="0"/>
          </a:p>
        </p:txBody>
      </p:sp>
      <p:sp>
        <p:nvSpPr>
          <p:cNvPr id="14" name="Text 12"/>
          <p:cNvSpPr/>
          <p:nvPr/>
        </p:nvSpPr>
        <p:spPr>
          <a:xfrm>
            <a:off x="6819057" y="2655838"/>
            <a:ext cx="4475388"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Same text for /, /42, /anything, and for POST and PUT too.</a:t>
            </a:r>
            <a:endParaRPr lang="en-US" sz="1200" dirty="0"/>
          </a:p>
        </p:txBody>
      </p:sp>
      <p:sp>
        <p:nvSpPr>
          <p:cNvPr id="15" name="Shape 13"/>
          <p:cNvSpPr/>
          <p:nvPr/>
        </p:nvSpPr>
        <p:spPr>
          <a:xfrm>
            <a:off x="6604000" y="3733788"/>
            <a:ext cx="4775150" cy="2311363"/>
          </a:xfrm>
          <a:prstGeom prst="roundRect">
            <a:avLst>
              <a:gd name="adj" fmla="val 4396"/>
            </a:avLst>
          </a:prstGeom>
          <a:solidFill>
            <a:srgbClr val="0E1117"/>
          </a:solidFill>
          <a:ln/>
        </p:spPr>
      </p:sp>
      <p:sp>
        <p:nvSpPr>
          <p:cNvPr id="16" name="Text 14"/>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7" name="Text 15"/>
          <p:cNvSpPr/>
          <p:nvPr/>
        </p:nvSpPr>
        <p:spPr>
          <a:xfrm>
            <a:off x="6781788" y="4175683"/>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Server running on port 11000</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(nothing new: the log line is</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inside the if, which did not run)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PART 4 · A ROUTE PARAMETER</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:id catches whatever sits in that slot</a:t>
            </a:r>
            <a:endParaRPr lang="en-US" sz="2800" dirty="0"/>
          </a:p>
        </p:txBody>
      </p:sp>
      <p:sp>
        <p:nvSpPr>
          <p:cNvPr id="4" name="Shape 2"/>
          <p:cNvSpPr/>
          <p:nvPr/>
        </p:nvSpPr>
        <p:spPr>
          <a:xfrm>
            <a:off x="812788" y="1696641"/>
            <a:ext cx="5588000" cy="3388754"/>
          </a:xfrm>
          <a:prstGeom prst="roundRect">
            <a:avLst>
              <a:gd name="adj" fmla="val 2998"/>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769046"/>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(req.params);</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(req.params.id);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792EA"/>
                </a:solidFill>
                <a:latin typeface="JetBrains Mono" pitchFamily="49" charset="0"/>
                <a:ea typeface="JetBrains Mono" pitchFamily="49" charset="-122"/>
                <a:cs typeface="JetBrains Mono" pitchFamily="49" charset="-120"/>
              </a:rPr>
              <a:t>typeof</a:t>
            </a:r>
            <a:r>
              <a:rPr lang="en-US" sz="1200" dirty="0">
                <a:solidFill>
                  <a:srgbClr val="E6E1D6"/>
                </a:solidFill>
                <a:latin typeface="JetBrains Mono" pitchFamily="49" charset="0"/>
                <a:ea typeface="JetBrains Mono" pitchFamily="49" charset="-122"/>
                <a:cs typeface="JetBrains Mono" pitchFamily="49" charset="-120"/>
              </a:rPr>
              <a:t> req.params.id);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(req.ip);</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`Testing...for id: ${req.params.id}`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/42 → id = '42'</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/about → id = 'about'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/a/b → no match (two segments)</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694"/>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localhost:11000/42</a:t>
            </a:r>
            <a:endParaRPr lang="en-US" sz="1200" dirty="0"/>
          </a:p>
        </p:txBody>
      </p:sp>
      <p:sp>
        <p:nvSpPr>
          <p:cNvPr id="13" name="Text 11"/>
          <p:cNvSpPr/>
          <p:nvPr/>
        </p:nvSpPr>
        <p:spPr>
          <a:xfrm>
            <a:off x="6819057" y="2307890"/>
            <a:ext cx="4475388" cy="3098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F2B"/>
                </a:solidFill>
                <a:latin typeface="Space Grotesk" pitchFamily="34" charset="0"/>
                <a:ea typeface="Space Grotesk" pitchFamily="34" charset="-122"/>
                <a:cs typeface="Space Grotesk" pitchFamily="34" charset="-120"/>
              </a:rPr>
              <a:t>Testing...for id: 42</a:t>
            </a:r>
            <a:endParaRPr lang="en-US" sz="1600" dirty="0"/>
          </a:p>
        </p:txBody>
      </p:sp>
      <p:sp>
        <p:nvSpPr>
          <p:cNvPr id="14" name="Shape 12"/>
          <p:cNvSpPr/>
          <p:nvPr/>
        </p:nvSpPr>
        <p:spPr>
          <a:xfrm>
            <a:off x="6604000" y="3733788"/>
            <a:ext cx="4775150" cy="2311363"/>
          </a:xfrm>
          <a:prstGeom prst="roundRect">
            <a:avLst>
              <a:gd name="adj" fmla="val 4396"/>
            </a:avLst>
          </a:prstGeom>
          <a:solidFill>
            <a:srgbClr val="0E1117"/>
          </a:solidFill>
          <a:ln/>
        </p:spPr>
      </p:sp>
      <p:sp>
        <p:nvSpPr>
          <p:cNvPr id="15" name="Text 13"/>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6" name="Text 14"/>
          <p:cNvSpPr/>
          <p:nvPr/>
        </p:nvSpPr>
        <p:spPr>
          <a:xfrm>
            <a:off x="6781788" y="4175683"/>
            <a:ext cx="4552162" cy="1168586"/>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User has loggedIN......</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 id: '42' }</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42</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string</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::1</a:t>
            </a:r>
            <a:endParaRPr lang="en-US" sz="1200" dirty="0"/>
          </a:p>
        </p:txBody>
      </p:sp>
      <p:sp>
        <p:nvSpPr>
          <p:cNvPr id="17" name="Text 15"/>
          <p:cNvSpPr/>
          <p:nvPr/>
        </p:nvSpPr>
        <p:spPr>
          <a:xfrm>
            <a:off x="6781788" y="5395020"/>
            <a:ext cx="4552162"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15E"/>
                </a:solidFill>
                <a:latin typeface="Space Grotesk" pitchFamily="34" charset="0"/>
                <a:ea typeface="Space Grotesk" pitchFamily="34" charset="-122"/>
                <a:cs typeface="Space Grotesk" pitchFamily="34" charset="-120"/>
              </a:rPr>
              <a:t>::1 is “localhost” in IPv6. Params are always strings.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GOTCHA · THE HIDDEN SECOND REQUEST</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You opened one page. The browser asked twice.</a:t>
            </a:r>
            <a:endParaRPr lang="en-US" sz="2800" dirty="0"/>
          </a:p>
        </p:txBody>
      </p:sp>
      <p:sp>
        <p:nvSpPr>
          <p:cNvPr id="4" name="Shape 2"/>
          <p:cNvSpPr/>
          <p:nvPr/>
        </p:nvSpPr>
        <p:spPr>
          <a:xfrm>
            <a:off x="819138" y="1702991"/>
            <a:ext cx="5575300" cy="2643758"/>
          </a:xfrm>
          <a:prstGeom prst="roundRect">
            <a:avLst>
              <a:gd name="adj" fmla="val 3603"/>
            </a:avLst>
          </a:prstGeom>
          <a:solidFill>
            <a:srgbClr val="FDFCF8"/>
          </a:solidFill>
          <a:ln w="12700">
            <a:solidFill>
              <a:srgbClr val="D5D1C4"/>
            </a:solidFill>
            <a:prstDash val="solid"/>
          </a:ln>
        </p:spPr>
      </p:sp>
      <p:sp>
        <p:nvSpPr>
          <p:cNvPr id="5" name="Text 3"/>
          <p:cNvSpPr/>
          <p:nvPr/>
        </p:nvSpPr>
        <p:spPr>
          <a:xfrm>
            <a:off x="1027844" y="1886334"/>
            <a:ext cx="5312623"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DEVTOOLS › NETWORK (F12)</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39750" y="2213198"/>
          <a:ext cx="5145980" cy="1075283"/>
        </p:xfrm>
        <a:graphic>
          <a:graphicData uri="http://schemas.openxmlformats.org/drawingml/2006/table">
            <a:tbl>
              <a:tblPr/>
              <a:tblGrid>
                <a:gridCol w="2058392"/>
                <a:gridCol w="1029196"/>
                <a:gridCol w="2058392"/>
              </a:tblGrid>
              <a:tr h="358428">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Name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Status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Type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localhost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200</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document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favicon.ico</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8B5A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7"/>
                      </a:solidFill>
                      <a:prstDash val="solid"/>
                      <a:round/>
                      <a:headEnd type="none" w="med" len="med"/>
                      <a:tailEnd type="none" w="med" len="med"/>
                    </a:lnB>
                    <a:solidFill>
                      <a:srgbClr val="FBE3D1"/>
                    </a:solidFill>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200</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8B5A7"/>
                      </a:solidFill>
                      <a:prstDash val="solid"/>
                      <a:round/>
                      <a:headEnd type="none" w="med" len="med"/>
                      <a:tailEnd type="none" w="med" len="med"/>
                    </a:lnL>
                    <a:lnR w="12700" cap="flat" cmpd="sng" algn="ctr">
                      <a:solidFill>
                        <a:srgbClr val="C8B5A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7"/>
                      </a:solidFill>
                      <a:prstDash val="solid"/>
                      <a:round/>
                      <a:headEnd type="none" w="med" len="med"/>
                      <a:tailEnd type="none" w="med" len="med"/>
                    </a:lnB>
                    <a:solidFill>
                      <a:srgbClr val="FBE3D1"/>
                    </a:solidFill>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text/html</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8B5A7"/>
                      </a:solidFill>
                      <a:prstDash val="solid"/>
                      <a:round/>
                      <a:headEnd type="none" w="med" len="med"/>
                      <a:tailEnd type="none" w="med" len="med"/>
                    </a:lnL>
                    <a:lnR w="12700" cap="flat" cmpd="sng" algn="ctr">
                      <a:solidFill>
                        <a:srgbClr val="C8B5A7"/>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8B5A7"/>
                      </a:solidFill>
                      <a:prstDash val="solid"/>
                      <a:round/>
                      <a:headEnd type="none" w="med" len="med"/>
                      <a:tailEnd type="none" w="med" len="med"/>
                    </a:lnB>
                    <a:solidFill>
                      <a:srgbClr val="FBE3D1"/>
                    </a:solidFill>
                  </a:tcPr>
                </a:tc>
              </a:tr>
            </a:tbl>
          </a:graphicData>
        </a:graphic>
      </p:graphicFrame>
      <p:sp>
        <p:nvSpPr>
          <p:cNvPr id="7" name="Text 4"/>
          <p:cNvSpPr/>
          <p:nvPr/>
        </p:nvSpPr>
        <p:spPr>
          <a:xfrm>
            <a:off x="1027844" y="3390057"/>
            <a:ext cx="5312623" cy="798748"/>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A1F2B"/>
                </a:solidFill>
                <a:latin typeface="Space Grotesk" pitchFamily="34" charset="0"/>
                <a:ea typeface="Space Grotesk" pitchFamily="34" charset="-122"/>
                <a:cs typeface="Space Grotesk" pitchFamily="34" charset="-120"/>
              </a:rPr>
              <a:t>The browser fetches </a:t>
            </a:r>
            <a:r>
              <a:rPr lang="en-US" sz="1400" b="1" dirty="0">
                <a:solidFill>
                  <a:srgbClr val="1A1F2B"/>
                </a:solidFill>
                <a:latin typeface="Space Grotesk" pitchFamily="34" charset="0"/>
                <a:ea typeface="Space Grotesk" pitchFamily="34" charset="-122"/>
                <a:cs typeface="Space Grotesk" pitchFamily="34" charset="-120"/>
              </a:rPr>
              <a:t>/favicon.ico</a:t>
            </a:r>
            <a:r>
              <a:rPr lang="en-US" sz="1400" dirty="0">
                <a:solidFill>
                  <a:srgbClr val="1A1F2B"/>
                </a:solidFill>
                <a:latin typeface="Space Grotesk" pitchFamily="34" charset="0"/>
                <a:ea typeface="Space Grotesk" pitchFamily="34" charset="-122"/>
                <a:cs typeface="Space Grotesk" pitchFamily="34" charset="-120"/>
              </a:rPr>
              <a:t> on its own to get the tab icon. That path has one segment, so it matches </a:t>
            </a:r>
            <a:r>
              <a:rPr lang="en-US" sz="1400" b="1" dirty="0">
                <a:solidFill>
                  <a:srgbClr val="1A1F2B"/>
                </a:solidFill>
                <a:latin typeface="Space Grotesk" pitchFamily="34" charset="0"/>
                <a:ea typeface="Space Grotesk" pitchFamily="34" charset="-122"/>
                <a:cs typeface="Space Grotesk" pitchFamily="34" charset="-120"/>
              </a:rPr>
              <a:t>'/:id'</a:t>
            </a:r>
            <a:r>
              <a:rPr lang="en-US" sz="1400" dirty="0">
                <a:solidFill>
                  <a:srgbClr val="1A1F2B"/>
                </a:solidFill>
                <a:latin typeface="Space Grotesk" pitchFamily="34" charset="0"/>
                <a:ea typeface="Space Grotesk" pitchFamily="34" charset="-122"/>
                <a:cs typeface="Space Grotesk" pitchFamily="34" charset="-120"/>
              </a:rPr>
              <a:t> with id = </a:t>
            </a:r>
            <a:r>
              <a:rPr lang="en-US" sz="1400" b="1" dirty="0">
                <a:solidFill>
                  <a:srgbClr val="1A1F2B"/>
                </a:solidFill>
                <a:latin typeface="Space Grotesk" pitchFamily="34" charset="0"/>
                <a:ea typeface="Space Grotesk" pitchFamily="34" charset="-122"/>
                <a:cs typeface="Space Grotesk" pitchFamily="34" charset="-120"/>
              </a:rPr>
              <a:t>'favicon.ico'</a:t>
            </a:r>
            <a:r>
              <a:rPr lang="en-US" sz="1400" dirty="0">
                <a:solidFill>
                  <a:srgbClr val="1A1F2B"/>
                </a:solidFill>
                <a:latin typeface="Space Grotesk" pitchFamily="34" charset="0"/>
                <a:ea typeface="Space Grotesk" pitchFamily="34" charset="-122"/>
                <a:cs typeface="Space Grotesk" pitchFamily="34" charset="-120"/>
              </a:rPr>
              <a:t>.</a:t>
            </a:r>
            <a:endParaRPr lang="en-US" sz="1400" dirty="0"/>
          </a:p>
        </p:txBody>
      </p:sp>
      <p:sp>
        <p:nvSpPr>
          <p:cNvPr id="8" name="Shape 5"/>
          <p:cNvSpPr/>
          <p:nvPr/>
        </p:nvSpPr>
        <p:spPr>
          <a:xfrm>
            <a:off x="6604000" y="1701788"/>
            <a:ext cx="4775150" cy="1879575"/>
          </a:xfrm>
          <a:prstGeom prst="roundRect">
            <a:avLst>
              <a:gd name="adj" fmla="val 5405"/>
            </a:avLst>
          </a:prstGeom>
          <a:solidFill>
            <a:srgbClr val="0E1117"/>
          </a:solidFill>
          <a:ln/>
        </p:spPr>
      </p:sp>
      <p:sp>
        <p:nvSpPr>
          <p:cNvPr id="9" name="Text 6"/>
          <p:cNvSpPr/>
          <p:nvPr/>
        </p:nvSpPr>
        <p:spPr>
          <a:xfrm>
            <a:off x="6781788" y="1854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0" name="Text 7"/>
          <p:cNvSpPr/>
          <p:nvPr/>
        </p:nvSpPr>
        <p:spPr>
          <a:xfrm>
            <a:off x="6781788" y="2143683"/>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User has loggedIN......</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User has loggedIN......</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 id: 'favicon.ico' }</a:t>
            </a:r>
            <a:endParaRPr lang="en-US" sz="1200" dirty="0"/>
          </a:p>
        </p:txBody>
      </p:sp>
      <p:sp>
        <p:nvSpPr>
          <p:cNvPr id="11" name="Shape 8"/>
          <p:cNvSpPr/>
          <p:nvPr/>
        </p:nvSpPr>
        <p:spPr>
          <a:xfrm>
            <a:off x="6604000" y="3733788"/>
            <a:ext cx="4775150" cy="2311363"/>
          </a:xfrm>
          <a:prstGeom prst="roundRect">
            <a:avLst>
              <a:gd name="adj" fmla="val 4396"/>
            </a:avLst>
          </a:prstGeom>
          <a:solidFill>
            <a:srgbClr val="161B24"/>
          </a:solidFill>
          <a:ln/>
        </p:spPr>
      </p:sp>
      <p:sp>
        <p:nvSpPr>
          <p:cNvPr id="12" name="Text 9"/>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BD88F"/>
                </a:solidFill>
                <a:latin typeface="Space Grotesk" pitchFamily="34" charset="0"/>
                <a:ea typeface="Space Grotesk" pitchFamily="34" charset="-122"/>
                <a:cs typeface="Space Grotesk" pitchFamily="34" charset="-120"/>
              </a:rPr>
              <a:t>ONE FIX: ANSWER IT FIRST</a:t>
            </a:r>
            <a:endParaRPr lang="en-US" sz="1200" dirty="0"/>
          </a:p>
        </p:txBody>
      </p:sp>
      <p:sp>
        <p:nvSpPr>
          <p:cNvPr id="13" name="Text 10"/>
          <p:cNvSpPr/>
          <p:nvPr/>
        </p:nvSpPr>
        <p:spPr>
          <a:xfrm>
            <a:off x="6781788" y="4175683"/>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'/favicon.ico'</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 res) =&gt; res.</a:t>
            </a:r>
            <a:r>
              <a:rPr lang="en-US" sz="1200" dirty="0">
                <a:solidFill>
                  <a:srgbClr val="82AAFF"/>
                </a:solidFill>
                <a:latin typeface="JetBrains Mono" pitchFamily="49" charset="0"/>
                <a:ea typeface="JetBrains Mono" pitchFamily="49" charset="-122"/>
                <a:cs typeface="JetBrains Mono" pitchFamily="49" charset="-120"/>
              </a:rPr>
              <a:t>sendStatus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204</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put it ABOVE '/:id'</a:t>
            </a:r>
            <a:endParaRPr lang="en-US" sz="1200" dirty="0"/>
          </a:p>
        </p:txBody>
      </p:sp>
      <p:sp>
        <p:nvSpPr>
          <p:cNvPr id="14" name="Text 11"/>
          <p:cNvSpPr/>
          <p:nvPr/>
        </p:nvSpPr>
        <p:spPr>
          <a:xfrm>
            <a:off x="6781788" y="4937745"/>
            <a:ext cx="4552162"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Routes are checked top to bottom. First match wins.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PART 4 · POST AND PUT</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The address bar can only send GET</a:t>
            </a:r>
            <a:endParaRPr lang="en-US" sz="2800" dirty="0"/>
          </a:p>
        </p:txBody>
      </p:sp>
      <p:sp>
        <p:nvSpPr>
          <p:cNvPr id="4" name="Shape 2"/>
          <p:cNvSpPr/>
          <p:nvPr/>
        </p:nvSpPr>
        <p:spPr>
          <a:xfrm>
            <a:off x="812788" y="1696641"/>
            <a:ext cx="5588000" cy="2931480"/>
          </a:xfrm>
          <a:prstGeom prst="roundRect">
            <a:avLst>
              <a:gd name="adj" fmla="val 3466"/>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311772"/>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post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"Data posted"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put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"Data updated"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Test with Thunder Client (VS Code),</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Postman, or curl in a terminal.</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Windows PowerShell: type curl.exe</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Text 6"/>
          <p:cNvSpPr/>
          <p:nvPr/>
        </p:nvSpPr>
        <p:spPr>
          <a:xfrm>
            <a:off x="6793694" y="1866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THUNDER CLIENT / POSTMAN</a:t>
            </a:r>
            <a:endParaRPr lang="en-US" sz="1200" dirty="0"/>
          </a:p>
        </p:txBody>
      </p:sp>
      <p:sp>
        <p:nvSpPr>
          <p:cNvPr id="9" name="Text 7"/>
          <p:cNvSpPr/>
          <p:nvPr/>
        </p:nvSpPr>
        <p:spPr>
          <a:xfrm>
            <a:off x="6793694" y="2168302"/>
            <a:ext cx="568958" cy="289533"/>
          </a:xfrm>
          <a:prstGeom prst="roundRect">
            <a:avLst>
              <a:gd name="adj" fmla="val 17545"/>
            </a:avLst>
          </a:prstGeom>
          <a:solidFill>
            <a:srgbClr val="D9692A"/>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JetBrains Mono" pitchFamily="49" charset="0"/>
                <a:ea typeface="JetBrains Mono" pitchFamily="49" charset="-122"/>
                <a:cs typeface="JetBrains Mono" pitchFamily="49" charset="-120"/>
              </a:rPr>
              <a:t>POST</a:t>
            </a:r>
            <a:endParaRPr lang="en-US" sz="1200" dirty="0"/>
          </a:p>
        </p:txBody>
      </p:sp>
      <p:sp>
        <p:nvSpPr>
          <p:cNvPr id="10" name="Text 8"/>
          <p:cNvSpPr/>
          <p:nvPr/>
        </p:nvSpPr>
        <p:spPr>
          <a:xfrm>
            <a:off x="7438802" y="2206377"/>
            <a:ext cx="2523753"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http://localhost:11000/</a:t>
            </a:r>
            <a:endParaRPr lang="en-US" sz="1200" dirty="0"/>
          </a:p>
        </p:txBody>
      </p:sp>
      <p:sp>
        <p:nvSpPr>
          <p:cNvPr id="11" name="Text 9"/>
          <p:cNvSpPr/>
          <p:nvPr/>
        </p:nvSpPr>
        <p:spPr>
          <a:xfrm>
            <a:off x="6793694" y="254669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7D4F"/>
                </a:solidFill>
                <a:latin typeface="Space Grotesk" pitchFamily="34" charset="0"/>
                <a:ea typeface="Space Grotesk" pitchFamily="34" charset="-122"/>
                <a:cs typeface="Space Grotesk" pitchFamily="34" charset="-120"/>
              </a:rPr>
              <a:t>Status: 200 OK</a:t>
            </a:r>
            <a:endParaRPr lang="en-US" sz="1200" dirty="0"/>
          </a:p>
        </p:txBody>
      </p:sp>
      <p:sp>
        <p:nvSpPr>
          <p:cNvPr id="12" name="Text 10"/>
          <p:cNvSpPr/>
          <p:nvPr/>
        </p:nvSpPr>
        <p:spPr>
          <a:xfrm>
            <a:off x="6793694" y="2848942"/>
            <a:ext cx="4527636"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Data posted</a:t>
            </a:r>
            <a:endParaRPr lang="en-US" sz="1400" dirty="0"/>
          </a:p>
        </p:txBody>
      </p:sp>
      <p:sp>
        <p:nvSpPr>
          <p:cNvPr id="13" name="Shape 11"/>
          <p:cNvSpPr/>
          <p:nvPr/>
        </p:nvSpPr>
        <p:spPr>
          <a:xfrm>
            <a:off x="6604000" y="3733788"/>
            <a:ext cx="4775150" cy="2311363"/>
          </a:xfrm>
          <a:prstGeom prst="roundRect">
            <a:avLst>
              <a:gd name="adj" fmla="val 4396"/>
            </a:avLst>
          </a:prstGeom>
          <a:solidFill>
            <a:srgbClr val="0E1117"/>
          </a:solidFill>
          <a:ln/>
        </p:spPr>
      </p:sp>
      <p:sp>
        <p:nvSpPr>
          <p:cNvPr id="14" name="Text 12"/>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TERMINAL (CLIENT SIDE)</a:t>
            </a:r>
            <a:endParaRPr lang="en-US" sz="1200" dirty="0"/>
          </a:p>
        </p:txBody>
      </p:sp>
      <p:sp>
        <p:nvSpPr>
          <p:cNvPr id="15" name="Text 13"/>
          <p:cNvSpPr/>
          <p:nvPr/>
        </p:nvSpPr>
        <p:spPr>
          <a:xfrm>
            <a:off x="6781788" y="4175683"/>
            <a:ext cx="4552162" cy="1397223"/>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BD88F"/>
                </a:solidFill>
                <a:latin typeface="JetBrains Mono" pitchFamily="49" charset="0"/>
                <a:ea typeface="JetBrains Mono" pitchFamily="49" charset="-122"/>
                <a:cs typeface="JetBrains Mono" pitchFamily="49" charset="-120"/>
              </a:rPr>
              <a:t>$</a:t>
            </a:r>
            <a:r>
              <a:rPr lang="en-US" sz="1200" dirty="0">
                <a:solidFill>
                  <a:srgbClr val="D7DCE2"/>
                </a:solidFill>
                <a:latin typeface="JetBrains Mono" pitchFamily="49" charset="0"/>
                <a:ea typeface="JetBrains Mono" pitchFamily="49" charset="-122"/>
                <a:cs typeface="JetBrains Mono" pitchFamily="49" charset="-120"/>
              </a:rPr>
              <a:t> curl -X POST localhost:11000/</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Data posted</a:t>
            </a:r>
            <a:endParaRPr lang="en-US" sz="1200" dirty="0"/>
          </a:p>
          <a:p>
            <a:pPr algn="l" indent="0" marL="0">
              <a:lnSpc>
                <a:spcPts val="1800"/>
              </a:lnSpc>
              <a:buNone/>
            </a:pPr>
            <a:r>
              <a:rPr lang="en-US" sz="1200" dirty="0">
                <a:solidFill>
                  <a:srgbClr val="7BD88F"/>
                </a:solidFill>
                <a:latin typeface="JetBrains Mono" pitchFamily="49" charset="0"/>
                <a:ea typeface="JetBrains Mono" pitchFamily="49" charset="-122"/>
                <a:cs typeface="JetBrains Mono" pitchFamily="49" charset="-120"/>
              </a:rPr>
              <a:t>$</a:t>
            </a:r>
            <a:r>
              <a:rPr lang="en-US" sz="1200" dirty="0">
                <a:solidFill>
                  <a:srgbClr val="D7DCE2"/>
                </a:solidFill>
                <a:latin typeface="JetBrains Mono" pitchFamily="49" charset="0"/>
                <a:ea typeface="JetBrains Mono" pitchFamily="49" charset="-122"/>
                <a:cs typeface="JetBrains Mono" pitchFamily="49" charset="-120"/>
              </a:rPr>
              <a:t> curl -X PUT localhost:11000/</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Data updated</a:t>
            </a:r>
            <a:endParaRPr lang="en-US" sz="1200" dirty="0"/>
          </a:p>
          <a:p>
            <a:pPr algn="l" indent="0" marL="0">
              <a:lnSpc>
                <a:spcPts val="1800"/>
              </a:lnSpc>
              <a:buNone/>
            </a:pPr>
            <a:r>
              <a:rPr lang="en-US" sz="1200" dirty="0">
                <a:solidFill>
                  <a:srgbClr val="7BD88F"/>
                </a:solidFill>
                <a:latin typeface="JetBrains Mono" pitchFamily="49" charset="0"/>
                <a:ea typeface="JetBrains Mono" pitchFamily="49" charset="-122"/>
                <a:cs typeface="JetBrains Mono" pitchFamily="49" charset="-120"/>
              </a:rPr>
              <a:t>$</a:t>
            </a:r>
            <a:r>
              <a:rPr lang="en-US" sz="1200" dirty="0">
                <a:solidFill>
                  <a:srgbClr val="D7DCE2"/>
                </a:solidFill>
                <a:latin typeface="JetBrains Mono" pitchFamily="49" charset="0"/>
                <a:ea typeface="JetBrains Mono" pitchFamily="49" charset="-122"/>
                <a:cs typeface="JetBrains Mono" pitchFamily="49" charset="-120"/>
              </a:rPr>
              <a:t> curl -X DELETE localhost:11000/</a:t>
            </a:r>
            <a:endParaRPr lang="en-US" sz="1200" dirty="0"/>
          </a:p>
          <a:p>
            <a:pPr algn="l" indent="0" marL="0">
              <a:lnSpc>
                <a:spcPts val="1800"/>
              </a:lnSpc>
              <a:buNone/>
            </a:pPr>
            <a:r>
              <a:rPr lang="en-US" sz="1200" dirty="0">
                <a:solidFill>
                  <a:srgbClr val="F0A15E"/>
                </a:solidFill>
                <a:latin typeface="JetBrains Mono" pitchFamily="49" charset="0"/>
                <a:ea typeface="JetBrains Mono" pitchFamily="49" charset="-122"/>
                <a:cs typeface="JetBrains Mono" pitchFamily="49" charset="-120"/>
              </a:rPr>
              <a:t>…&lt;pre&gt;Cannot DELETE /&lt;/pre&gt;…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PREDICT, THEN CLICK · LOGIN = TRUE</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Which code answers each request?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694" y="1708547"/>
          <a:ext cx="10554519" cy="3225850"/>
        </p:xfrm>
        <a:graphic>
          <a:graphicData uri="http://schemas.openxmlformats.org/drawingml/2006/table">
            <a:tbl>
              <a:tblPr/>
              <a:tblGrid>
                <a:gridCol w="2955265"/>
                <a:gridCol w="3166356"/>
                <a:gridCol w="4432898"/>
              </a:tblGrid>
              <a:tr h="358428">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Request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Handled by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Response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GET /</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get('/')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index.html page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GET /42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get('/:id')</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Testing...for id: 42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GET /about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get('/:id')</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Testing...for id: about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GET /a/b</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nobody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404 Cannot GET /a/b</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POST /</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post('/')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Data posted</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POST /42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nobody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404 Cannot POST /42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PUT /</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put('/')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Data updated</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DELETE /</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nobody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404 Cannot DELETE /</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3765500" y="2051000"/>
            <a:ext cx="7607300" cy="2819375"/>
          </a:xfrm>
          <a:prstGeom prst="roundRect">
            <a:avLst>
              <a:gd name="adj" fmla="val 2477"/>
            </a:avLst>
          </a:prstGeom>
          <a:solidFill>
            <a:srgbClr val="E9E6DC"/>
          </a:solidFill>
          <a:ln w="12700">
            <a:solidFill>
              <a:srgbClr val="B9B2A0"/>
            </a:solidFill>
            <a:prstDash val="dash"/>
          </a:ln>
        </p:spPr>
        <p:txBody>
          <a:bodyPr wrap="square" lIns="0" tIns="0" rIns="0" bIns="0" rtlCol="0" anchor="ctr">
            <a:normAutofit/>
          </a:bodyPr>
          <a:lstStyle/>
          <a:p>
            <a:pPr algn="ctr" indent="0" marL="0">
              <a:lnSpc>
                <a:spcPts val="2240"/>
              </a:lnSpc>
              <a:buNone/>
            </a:pPr>
            <a:r>
              <a:rPr lang="en-US" sz="1600" b="1" dirty="0">
                <a:solidFill>
                  <a:srgbClr val="4C5566"/>
                </a:solidFill>
                <a:latin typeface="Space Grotesk" pitchFamily="34" charset="0"/>
                <a:ea typeface="Space Grotesk" pitchFamily="34" charset="-122"/>
                <a:cs typeface="Space Grotesk" pitchFamily="34" charset="-120"/>
              </a:rPr>
              <a:t>Predict both columns, then click</a:t>
            </a:r>
            <a:endParaRPr lang="en-US" sz="1600" dirty="0"/>
          </a:p>
        </p:txBody>
      </p:sp>
      <p:sp>
        <p:nvSpPr>
          <p:cNvPr id="6" name="Text 3"/>
          <p:cNvSpPr/>
          <p:nvPr/>
        </p:nvSpPr>
        <p:spPr>
          <a:xfrm>
            <a:off x="812788" y="5207000"/>
            <a:ext cx="10883354"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F2B"/>
                </a:solidFill>
                <a:latin typeface="Space Grotesk" pitchFamily="34" charset="0"/>
                <a:ea typeface="Space Grotesk" pitchFamily="34" charset="-122"/>
                <a:cs typeface="Space Grotesk" pitchFamily="34" charset="-120"/>
              </a:rPr>
              <a:t>middleware1 prints </a:t>
            </a:r>
            <a:r>
              <a:rPr lang="en-US" sz="1400" b="1" dirty="0">
                <a:solidFill>
                  <a:srgbClr val="1A1F2B"/>
                </a:solidFill>
                <a:latin typeface="Space Grotesk" pitchFamily="34" charset="0"/>
                <a:ea typeface="Space Grotesk" pitchFamily="34" charset="-122"/>
                <a:cs typeface="Space Grotesk" pitchFamily="34" charset="-120"/>
              </a:rPr>
              <a:t>User has loggedIN......</a:t>
            </a:r>
            <a:r>
              <a:rPr lang="en-US" sz="1400" dirty="0">
                <a:solidFill>
                  <a:srgbClr val="1A1F2B"/>
                </a:solidFill>
                <a:latin typeface="Space Grotesk" pitchFamily="34" charset="0"/>
                <a:ea typeface="Space Grotesk" pitchFamily="34" charset="-122"/>
                <a:cs typeface="Space Grotesk" pitchFamily="34" charset="-120"/>
              </a:rPr>
              <a:t> for all eight, even the 404s: it runs before Express knows no route will match.</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2166751"/>
            <a:ext cx="10883418" cy="274253"/>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7FB0FF"/>
                </a:solidFill>
                <a:latin typeface="Space Grotesk" pitchFamily="34" charset="0"/>
                <a:ea typeface="Space Grotesk" pitchFamily="34" charset="-122"/>
                <a:cs typeface="Space Grotesk" pitchFamily="34" charset="-120"/>
              </a:rPr>
              <a:t>PART 2</a:t>
            </a:r>
            <a:endParaRPr lang="en-US" sz="1400" dirty="0"/>
          </a:p>
        </p:txBody>
      </p:sp>
      <p:sp>
        <p:nvSpPr>
          <p:cNvPr id="3" name="Text 1"/>
          <p:cNvSpPr/>
          <p:nvPr>
            <p:ph type="title"/>
          </p:nvPr>
        </p:nvSpPr>
        <p:spPr>
          <a:xfrm>
            <a:off x="812788" y="2593392"/>
            <a:ext cx="10883418" cy="1305446"/>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7FB0FF"/>
                </a:solidFill>
                <a:latin typeface="Space Grotesk" pitchFamily="34" charset="0"/>
                <a:ea typeface="Space Grotesk" pitchFamily="34" charset="-122"/>
                <a:cs typeface="Space Grotesk" pitchFamily="34" charset="-120"/>
              </a:rPr>
              <a:t>req</a:t>
            </a:r>
            <a:r>
              <a:rPr lang="en-US" sz="4800" b="1" i="0" dirty="0">
                <a:solidFill>
                  <a:srgbClr val="F2EFE6"/>
                </a:solidFill>
                <a:latin typeface="Space Grotesk" pitchFamily="34" charset="0"/>
                <a:ea typeface="Space Grotesk" pitchFamily="34" charset="-122"/>
                <a:cs typeface="Space Grotesk" pitchFamily="34" charset="-120"/>
              </a:rPr>
              <a:t>: what the</a:t>
            </a:r>
            <a:endParaRPr lang="en-US" sz="4800" dirty="0"/>
          </a:p>
          <a:p>
            <a:pPr algn="l" indent="0" marL="0">
              <a:lnSpc>
                <a:spcPts val="5040"/>
              </a:lnSpc>
              <a:buNone/>
            </a:pPr>
            <a:r>
              <a:rPr lang="en-US" sz="4800" b="1" i="0" dirty="0">
                <a:solidFill>
                  <a:srgbClr val="F2EFE6"/>
                </a:solidFill>
                <a:latin typeface="Space Grotesk" pitchFamily="34" charset="0"/>
                <a:ea typeface="Space Grotesk" pitchFamily="34" charset="-122"/>
                <a:cs typeface="Space Grotesk" pitchFamily="34" charset="-120"/>
              </a:rPr>
              <a:t>request carries</a:t>
            </a:r>
            <a:endParaRPr lang="en-US" sz="4800" dirty="0"/>
          </a:p>
        </p:txBody>
      </p:sp>
      <p:sp>
        <p:nvSpPr>
          <p:cNvPr id="4" name="Text 2"/>
          <p:cNvSpPr/>
          <p:nvPr/>
        </p:nvSpPr>
        <p:spPr>
          <a:xfrm>
            <a:off x="812788" y="4051226"/>
            <a:ext cx="784860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9C0CC"/>
                </a:solidFill>
                <a:latin typeface="Space Grotesk" pitchFamily="34" charset="0"/>
                <a:ea typeface="Space Grotesk" pitchFamily="34" charset="-122"/>
                <a:cs typeface="Space Grotesk" pitchFamily="34" charset="-120"/>
              </a:rPr>
              <a:t>Every piece of the URL, every header, the caller’s address and the body, already parsed for you by Express.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ANATOMY OF ONE REQUEST</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Express splits the URL into labelled pieces</a:t>
            </a:r>
            <a:endParaRPr lang="en-US" sz="2800" dirty="0"/>
          </a:p>
        </p:txBody>
      </p:sp>
      <p:sp>
        <p:nvSpPr>
          <p:cNvPr id="4" name="Text 2"/>
          <p:cNvSpPr/>
          <p:nvPr/>
        </p:nvSpPr>
        <p:spPr>
          <a:xfrm>
            <a:off x="812788" y="1696641"/>
            <a:ext cx="1088341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JetBrains Mono" pitchFamily="49" charset="0"/>
                <a:ea typeface="JetBrains Mono" pitchFamily="49" charset="-122"/>
                <a:cs typeface="JetBrains Mono" pitchFamily="49" charset="-120"/>
              </a:rPr>
              <a:t>route: server.get('/products/:id', handler)</a:t>
            </a:r>
            <a:endParaRPr lang="en-US" sz="1400" dirty="0"/>
          </a:p>
        </p:txBody>
      </p:sp>
      <p:sp>
        <p:nvSpPr>
          <p:cNvPr id="5" name="Text 3"/>
          <p:cNvSpPr/>
          <p:nvPr/>
        </p:nvSpPr>
        <p:spPr>
          <a:xfrm>
            <a:off x="812788" y="2159000"/>
            <a:ext cx="2747010" cy="47101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2F6FD6"/>
                </a:solidFill>
                <a:latin typeface="JetBrains Mono" pitchFamily="49" charset="0"/>
                <a:ea typeface="JetBrains Mono" pitchFamily="49" charset="-122"/>
                <a:cs typeface="JetBrains Mono" pitchFamily="49" charset="-120"/>
              </a:rPr>
              <a:t>req.method</a:t>
            </a:r>
            <a:endParaRPr lang="en-US" sz="1300" dirty="0"/>
          </a:p>
          <a:p>
            <a:pPr algn="l" indent="0" marL="0">
              <a:lnSpc>
                <a:spcPts val="1755"/>
              </a:lnSpc>
              <a:buNone/>
            </a:pPr>
            <a:r>
              <a:rPr lang="en-US" sz="1300" b="1" dirty="0">
                <a:solidFill>
                  <a:srgbClr val="1A1F2B"/>
                </a:solidFill>
                <a:latin typeface="JetBrains Mono" pitchFamily="49" charset="0"/>
                <a:ea typeface="JetBrains Mono" pitchFamily="49" charset="-122"/>
                <a:cs typeface="JetBrains Mono" pitchFamily="49" charset="-120"/>
              </a:rPr>
              <a:t>'GET'</a:t>
            </a:r>
            <a:endParaRPr lang="en-US" sz="1300" dirty="0"/>
          </a:p>
        </p:txBody>
      </p:sp>
      <p:sp>
        <p:nvSpPr>
          <p:cNvPr id="6" name="Text 4"/>
          <p:cNvSpPr/>
          <p:nvPr/>
        </p:nvSpPr>
        <p:spPr>
          <a:xfrm>
            <a:off x="4382135" y="2095500"/>
            <a:ext cx="2158365" cy="471016"/>
          </a:xfrm>
          <a:prstGeom prst="rect">
            <a:avLst/>
          </a:prstGeom>
          <a:noFill/>
          <a:ln/>
        </p:spPr>
        <p:txBody>
          <a:bodyPr wrap="square" lIns="0" tIns="0" rIns="0" bIns="0" rtlCol="0" anchor="t">
            <a:normAutofit/>
          </a:bodyPr>
          <a:lstStyle/>
          <a:p>
            <a:pPr algn="r" indent="0" marL="0">
              <a:lnSpc>
                <a:spcPts val="1755"/>
              </a:lnSpc>
              <a:buNone/>
            </a:pPr>
            <a:r>
              <a:rPr lang="en-US" sz="1300" b="1" dirty="0">
                <a:solidFill>
                  <a:srgbClr val="2F6FD6"/>
                </a:solidFill>
                <a:latin typeface="JetBrains Mono" pitchFamily="49" charset="0"/>
                <a:ea typeface="JetBrains Mono" pitchFamily="49" charset="-122"/>
                <a:cs typeface="JetBrains Mono" pitchFamily="49" charset="-120"/>
              </a:rPr>
              <a:t>req.params.id</a:t>
            </a:r>
            <a:endParaRPr lang="en-US" sz="1300" dirty="0"/>
          </a:p>
          <a:p>
            <a:pPr algn="r" indent="0" marL="0">
              <a:lnSpc>
                <a:spcPts val="1755"/>
              </a:lnSpc>
              <a:buNone/>
            </a:pPr>
            <a:r>
              <a:rPr lang="en-US" sz="1300" b="1" dirty="0">
                <a:solidFill>
                  <a:srgbClr val="1A1F2B"/>
                </a:solidFill>
                <a:latin typeface="JetBrains Mono" pitchFamily="49" charset="0"/>
                <a:ea typeface="JetBrains Mono" pitchFamily="49" charset="-122"/>
                <a:cs typeface="JetBrains Mono" pitchFamily="49" charset="-120"/>
              </a:rPr>
              <a:t>'7'</a:t>
            </a:r>
            <a:endParaRPr lang="en-US" sz="1300" dirty="0"/>
          </a:p>
        </p:txBody>
      </p:sp>
      <p:pic>
        <p:nvPicPr>
          <p:cNvPr id="7" name="Image 0" descr="connector">    </p:cNvPr>
          <p:cNvPicPr>
            <a:picLocks noChangeAspect="1"/>
          </p:cNvPicPr>
          <p:nvPr/>
        </p:nvPicPr>
        <p:blipFill>
          <a:blip r:embed="rId1"/>
          <a:srcRect l="0" r="0" t="-5" b="-5"/>
          <a:stretch/>
        </p:blipFill>
        <p:spPr>
          <a:xfrm>
            <a:off x="6527788" y="2413000"/>
            <a:ext cx="228575" cy="444500"/>
          </a:xfrm>
          <a:prstGeom prst="rect">
            <a:avLst/>
          </a:prstGeom>
        </p:spPr>
      </p:pic>
      <p:sp>
        <p:nvSpPr>
          <p:cNvPr id="8" name="Text 5"/>
          <p:cNvSpPr/>
          <p:nvPr/>
        </p:nvSpPr>
        <p:spPr>
          <a:xfrm>
            <a:off x="1270000" y="2794000"/>
            <a:ext cx="10203180" cy="360697"/>
          </a:xfrm>
          <a:prstGeom prst="rect">
            <a:avLst/>
          </a:prstGeom>
          <a:noFill/>
          <a:ln/>
        </p:spPr>
        <p:txBody>
          <a:bodyPr wrap="none" lIns="0" tIns="0" rIns="0" bIns="0" rtlCol="0" anchor="t">
            <a:normAutofit/>
          </a:bodyPr>
          <a:lstStyle/>
          <a:p>
            <a:pPr algn="l" indent="0" marL="0">
              <a:lnSpc>
                <a:spcPts val="2640"/>
              </a:lnSpc>
              <a:buNone/>
            </a:pPr>
            <a:r>
              <a:rPr lang="en-US" sz="2200" dirty="0">
                <a:solidFill>
                  <a:srgbClr val="1A1F2B"/>
                </a:solidFill>
                <a:latin typeface="JetBrains Mono" pitchFamily="49" charset="0"/>
                <a:ea typeface="JetBrains Mono" pitchFamily="49" charset="-122"/>
                <a:cs typeface="JetBrains Mono" pitchFamily="49" charset="-120"/>
              </a:rPr>
              <a:t>http://localhost:11000/products/7?sort=desc&amp;limit=3</a:t>
            </a:r>
            <a:endParaRPr lang="en-US" sz="2200" dirty="0"/>
          </a:p>
        </p:txBody>
      </p:sp>
      <p:sp>
        <p:nvSpPr>
          <p:cNvPr id="9" name="Shape 6"/>
          <p:cNvSpPr/>
          <p:nvPr/>
        </p:nvSpPr>
        <p:spPr>
          <a:xfrm>
            <a:off x="1270000" y="3175000"/>
            <a:ext cx="673075" cy="38075"/>
          </a:xfrm>
          <a:prstGeom prst="rect">
            <a:avLst/>
          </a:prstGeom>
          <a:solidFill>
            <a:srgbClr val="2F6FD6"/>
          </a:solidFill>
          <a:ln/>
        </p:spPr>
      </p:sp>
      <p:sp>
        <p:nvSpPr>
          <p:cNvPr id="10" name="Shape 7"/>
          <p:cNvSpPr/>
          <p:nvPr/>
        </p:nvSpPr>
        <p:spPr>
          <a:xfrm>
            <a:off x="2444750" y="3175000"/>
            <a:ext cx="1511288" cy="38075"/>
          </a:xfrm>
          <a:prstGeom prst="rect">
            <a:avLst/>
          </a:prstGeom>
          <a:solidFill>
            <a:srgbClr val="D9692A"/>
          </a:solidFill>
          <a:ln/>
        </p:spPr>
      </p:sp>
      <p:sp>
        <p:nvSpPr>
          <p:cNvPr id="11" name="Shape 8"/>
          <p:cNvSpPr/>
          <p:nvPr/>
        </p:nvSpPr>
        <p:spPr>
          <a:xfrm>
            <a:off x="3956038" y="3175000"/>
            <a:ext cx="1003288" cy="38075"/>
          </a:xfrm>
          <a:prstGeom prst="rect">
            <a:avLst/>
          </a:prstGeom>
          <a:solidFill>
            <a:srgbClr val="B9B2A0"/>
          </a:solidFill>
          <a:ln/>
        </p:spPr>
      </p:sp>
      <p:sp>
        <p:nvSpPr>
          <p:cNvPr id="12" name="Shape 9"/>
          <p:cNvSpPr/>
          <p:nvPr/>
        </p:nvSpPr>
        <p:spPr>
          <a:xfrm>
            <a:off x="4959325" y="3175000"/>
            <a:ext cx="1841500" cy="38075"/>
          </a:xfrm>
          <a:prstGeom prst="rect">
            <a:avLst/>
          </a:prstGeom>
          <a:solidFill>
            <a:srgbClr val="2F6FD6"/>
          </a:solidFill>
          <a:ln/>
        </p:spPr>
      </p:sp>
      <p:sp>
        <p:nvSpPr>
          <p:cNvPr id="13" name="Shape 10"/>
          <p:cNvSpPr/>
          <p:nvPr/>
        </p:nvSpPr>
        <p:spPr>
          <a:xfrm>
            <a:off x="6972288" y="3175000"/>
            <a:ext cx="2851113" cy="38075"/>
          </a:xfrm>
          <a:prstGeom prst="rect">
            <a:avLst/>
          </a:prstGeom>
          <a:solidFill>
            <a:srgbClr val="D9692A"/>
          </a:solidFill>
          <a:ln/>
        </p:spPr>
      </p:sp>
      <p:sp>
        <p:nvSpPr>
          <p:cNvPr id="14" name="Text 11"/>
          <p:cNvSpPr/>
          <p:nvPr/>
        </p:nvSpPr>
        <p:spPr>
          <a:xfrm>
            <a:off x="812788" y="3429000"/>
            <a:ext cx="1574800" cy="47101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2F6FD6"/>
                </a:solidFill>
                <a:latin typeface="JetBrains Mono" pitchFamily="49" charset="0"/>
                <a:ea typeface="JetBrains Mono" pitchFamily="49" charset="-122"/>
                <a:cs typeface="JetBrains Mono" pitchFamily="49" charset="-120"/>
              </a:rPr>
              <a:t>req.protocol</a:t>
            </a:r>
            <a:endParaRPr lang="en-US" sz="1300" dirty="0"/>
          </a:p>
          <a:p>
            <a:pPr algn="l" indent="0" marL="0">
              <a:lnSpc>
                <a:spcPts val="1755"/>
              </a:lnSpc>
              <a:buNone/>
            </a:pPr>
            <a:r>
              <a:rPr lang="en-US" sz="1300" b="1" dirty="0">
                <a:solidFill>
                  <a:srgbClr val="1A1F2B"/>
                </a:solidFill>
                <a:latin typeface="JetBrains Mono" pitchFamily="49" charset="0"/>
                <a:ea typeface="JetBrains Mono" pitchFamily="49" charset="-122"/>
                <a:cs typeface="JetBrains Mono" pitchFamily="49" charset="-120"/>
              </a:rPr>
              <a:t>'http'</a:t>
            </a:r>
            <a:endParaRPr lang="en-US" sz="1300" dirty="0"/>
          </a:p>
        </p:txBody>
      </p:sp>
      <p:sp>
        <p:nvSpPr>
          <p:cNvPr id="15" name="Text 12"/>
          <p:cNvSpPr/>
          <p:nvPr/>
        </p:nvSpPr>
        <p:spPr>
          <a:xfrm>
            <a:off x="2444750" y="3429000"/>
            <a:ext cx="2354580" cy="47101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D9692A"/>
                </a:solidFill>
                <a:latin typeface="JetBrains Mono" pitchFamily="49" charset="0"/>
                <a:ea typeface="JetBrains Mono" pitchFamily="49" charset="-122"/>
                <a:cs typeface="JetBrains Mono" pitchFamily="49" charset="-120"/>
              </a:rPr>
              <a:t>req.hostname</a:t>
            </a:r>
            <a:endParaRPr lang="en-US" sz="1300" dirty="0"/>
          </a:p>
          <a:p>
            <a:pPr algn="l" indent="0" marL="0">
              <a:lnSpc>
                <a:spcPts val="1755"/>
              </a:lnSpc>
              <a:buNone/>
            </a:pPr>
            <a:r>
              <a:rPr lang="en-US" sz="1300" b="1" dirty="0">
                <a:solidFill>
                  <a:srgbClr val="1A1F2B"/>
                </a:solidFill>
                <a:latin typeface="JetBrains Mono" pitchFamily="49" charset="0"/>
                <a:ea typeface="JetBrains Mono" pitchFamily="49" charset="-122"/>
                <a:cs typeface="JetBrains Mono" pitchFamily="49" charset="-120"/>
              </a:rPr>
              <a:t>'localhost'</a:t>
            </a:r>
            <a:endParaRPr lang="en-US" sz="1300" dirty="0"/>
          </a:p>
        </p:txBody>
      </p:sp>
      <p:sp>
        <p:nvSpPr>
          <p:cNvPr id="16" name="Text 13"/>
          <p:cNvSpPr/>
          <p:nvPr/>
        </p:nvSpPr>
        <p:spPr>
          <a:xfrm>
            <a:off x="4959325" y="3429000"/>
            <a:ext cx="1962150" cy="47101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2F6FD6"/>
                </a:solidFill>
                <a:latin typeface="JetBrains Mono" pitchFamily="49" charset="0"/>
                <a:ea typeface="JetBrains Mono" pitchFamily="49" charset="-122"/>
                <a:cs typeface="JetBrains Mono" pitchFamily="49" charset="-120"/>
              </a:rPr>
              <a:t>req.path</a:t>
            </a:r>
            <a:endParaRPr lang="en-US" sz="1300" dirty="0"/>
          </a:p>
          <a:p>
            <a:pPr algn="l" indent="0" marL="0">
              <a:lnSpc>
                <a:spcPts val="1755"/>
              </a:lnSpc>
              <a:buNone/>
            </a:pPr>
            <a:r>
              <a:rPr lang="en-US" sz="1300" b="1" dirty="0">
                <a:solidFill>
                  <a:srgbClr val="1A1F2B"/>
                </a:solidFill>
                <a:latin typeface="JetBrains Mono" pitchFamily="49" charset="0"/>
                <a:ea typeface="JetBrains Mono" pitchFamily="49" charset="-122"/>
                <a:cs typeface="JetBrains Mono" pitchFamily="49" charset="-120"/>
              </a:rPr>
              <a:t>'/products/7'</a:t>
            </a:r>
            <a:endParaRPr lang="en-US" sz="1300" dirty="0"/>
          </a:p>
        </p:txBody>
      </p:sp>
      <p:sp>
        <p:nvSpPr>
          <p:cNvPr id="17" name="Text 14"/>
          <p:cNvSpPr/>
          <p:nvPr/>
        </p:nvSpPr>
        <p:spPr>
          <a:xfrm>
            <a:off x="6972288" y="3429000"/>
            <a:ext cx="4539069" cy="471016"/>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D9692A"/>
                </a:solidFill>
                <a:latin typeface="JetBrains Mono" pitchFamily="49" charset="0"/>
                <a:ea typeface="JetBrains Mono" pitchFamily="49" charset="-122"/>
                <a:cs typeface="JetBrains Mono" pitchFamily="49" charset="-120"/>
              </a:rPr>
              <a:t>req.query</a:t>
            </a:r>
            <a:endParaRPr lang="en-US" sz="1300" dirty="0"/>
          </a:p>
          <a:p>
            <a:pPr algn="l" indent="0" marL="0">
              <a:lnSpc>
                <a:spcPts val="1755"/>
              </a:lnSpc>
              <a:buNone/>
            </a:pPr>
            <a:r>
              <a:rPr lang="en-US" sz="1300" b="1" dirty="0">
                <a:solidFill>
                  <a:srgbClr val="1A1F2B"/>
                </a:solidFill>
                <a:latin typeface="JetBrains Mono" pitchFamily="49" charset="0"/>
                <a:ea typeface="JetBrains Mono" pitchFamily="49" charset="-122"/>
                <a:cs typeface="JetBrains Mono" pitchFamily="49" charset="-120"/>
              </a:rPr>
              <a:t>{ sort: 'desc', limit: '3' }</a:t>
            </a:r>
            <a:endParaRPr lang="en-US" sz="1300" dirty="0"/>
          </a:p>
        </p:txBody>
      </p:sp>
      <p:sp>
        <p:nvSpPr>
          <p:cNvPr id="18" name="Shape 15"/>
          <p:cNvSpPr/>
          <p:nvPr/>
        </p:nvSpPr>
        <p:spPr>
          <a:xfrm>
            <a:off x="819138" y="4451350"/>
            <a:ext cx="10553663" cy="1384300"/>
          </a:xfrm>
          <a:prstGeom prst="roundRect">
            <a:avLst>
              <a:gd name="adj" fmla="val 6881"/>
            </a:avLst>
          </a:prstGeom>
          <a:solidFill>
            <a:srgbClr val="FDFCF8"/>
          </a:solidFill>
          <a:ln w="12700">
            <a:solidFill>
              <a:srgbClr val="DDD8CA"/>
            </a:solidFill>
            <a:prstDash val="solid"/>
          </a:ln>
        </p:spPr>
      </p:sp>
      <p:sp>
        <p:nvSpPr>
          <p:cNvPr id="19" name="Text 16"/>
          <p:cNvSpPr/>
          <p:nvPr/>
        </p:nvSpPr>
        <p:spPr>
          <a:xfrm>
            <a:off x="1053269" y="4720766"/>
            <a:ext cx="10387962" cy="2564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req.originalUrl</a:t>
            </a:r>
            <a:r>
              <a:rPr lang="en-US" sz="1300" dirty="0">
                <a:solidFill>
                  <a:srgbClr val="1A1F2B"/>
                </a:solidFill>
                <a:latin typeface="JetBrains Mono" pitchFamily="49" charset="0"/>
                <a:ea typeface="JetBrains Mono" pitchFamily="49" charset="-122"/>
                <a:cs typeface="JetBrains Mono" pitchFamily="49" charset="-120"/>
              </a:rPr>
              <a:t> → '/products/7?sort=desc&amp;limit=3'</a:t>
            </a:r>
            <a:endParaRPr lang="en-US" sz="1300" dirty="0"/>
          </a:p>
        </p:txBody>
      </p:sp>
      <p:sp>
        <p:nvSpPr>
          <p:cNvPr id="20" name="Text 17"/>
          <p:cNvSpPr/>
          <p:nvPr/>
        </p:nvSpPr>
        <p:spPr>
          <a:xfrm>
            <a:off x="1053269" y="5027972"/>
            <a:ext cx="10387962" cy="2564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req.get('host')</a:t>
            </a:r>
            <a:r>
              <a:rPr lang="en-US" sz="1300" dirty="0">
                <a:solidFill>
                  <a:srgbClr val="1A1F2B"/>
                </a:solidFill>
                <a:latin typeface="JetBrains Mono" pitchFamily="49" charset="0"/>
                <a:ea typeface="JetBrains Mono" pitchFamily="49" charset="-122"/>
                <a:cs typeface="JetBrains Mono" pitchFamily="49" charset="-120"/>
              </a:rPr>
              <a:t> → 'localhost:11000'</a:t>
            </a:r>
            <a:endParaRPr lang="en-US" sz="1300" dirty="0"/>
          </a:p>
        </p:txBody>
      </p:sp>
      <p:sp>
        <p:nvSpPr>
          <p:cNvPr id="21" name="Text 18"/>
          <p:cNvSpPr/>
          <p:nvPr/>
        </p:nvSpPr>
        <p:spPr>
          <a:xfrm>
            <a:off x="1053269" y="5335178"/>
            <a:ext cx="10387962"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C5566"/>
                </a:solidFill>
                <a:latin typeface="Space Grotesk" pitchFamily="34" charset="0"/>
                <a:ea typeface="Space Grotesk" pitchFamily="34" charset="-122"/>
                <a:cs typeface="Space Grotesk" pitchFamily="34" charset="-120"/>
              </a:rPr>
              <a:t>Every value is a </a:t>
            </a:r>
            <a:r>
              <a:rPr lang="en-US" sz="1300" b="1" dirty="0">
                <a:solidFill>
                  <a:srgbClr val="4C5566"/>
                </a:solidFill>
                <a:latin typeface="Space Grotesk" pitchFamily="34" charset="0"/>
                <a:ea typeface="Space Grotesk" pitchFamily="34" charset="-122"/>
                <a:cs typeface="Space Grotesk" pitchFamily="34" charset="-120"/>
              </a:rPr>
              <a:t>string</a:t>
            </a:r>
            <a:r>
              <a:rPr lang="en-US" sz="1300" dirty="0">
                <a:solidFill>
                  <a:srgbClr val="4C5566"/>
                </a:solidFill>
                <a:latin typeface="Space Grotesk" pitchFamily="34" charset="0"/>
                <a:ea typeface="Space Grotesk" pitchFamily="34" charset="-122"/>
                <a:cs typeface="Space Grotesk" pitchFamily="34" charset="-120"/>
              </a:rPr>
              <a:t>, even '7' and '3'.</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REQ · METHOD, URL, PATH</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Log it all, then send it back as JSON</a:t>
            </a:r>
            <a:endParaRPr lang="en-US" sz="2800" dirty="0"/>
          </a:p>
        </p:txBody>
      </p:sp>
      <p:sp>
        <p:nvSpPr>
          <p:cNvPr id="4" name="Shape 2"/>
          <p:cNvSpPr/>
          <p:nvPr/>
        </p:nvSpPr>
        <p:spPr>
          <a:xfrm>
            <a:off x="812788" y="1696641"/>
            <a:ext cx="5588000" cy="3617392"/>
          </a:xfrm>
          <a:prstGeom prst="roundRect">
            <a:avLst>
              <a:gd name="adj" fmla="val 2809"/>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99768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'method '</a:t>
            </a:r>
            <a:r>
              <a:rPr lang="en-US" sz="1200" dirty="0">
                <a:solidFill>
                  <a:srgbClr val="E6E1D6"/>
                </a:solidFill>
                <a:latin typeface="JetBrains Mono" pitchFamily="49" charset="0"/>
                <a:ea typeface="JetBrains Mono" pitchFamily="49" charset="-122"/>
                <a:cs typeface="JetBrains Mono" pitchFamily="49" charset="-120"/>
              </a:rPr>
              <a:t>, req.method);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'url '</a:t>
            </a:r>
            <a:r>
              <a:rPr lang="en-US" sz="1200" dirty="0">
                <a:solidFill>
                  <a:srgbClr val="E6E1D6"/>
                </a:solidFill>
                <a:latin typeface="JetBrains Mono" pitchFamily="49" charset="0"/>
                <a:ea typeface="JetBrains Mono" pitchFamily="49" charset="-122"/>
                <a:cs typeface="JetBrains Mono" pitchFamily="49" charset="-120"/>
              </a:rPr>
              <a:t>, req.url);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'originalUrl'</a:t>
            </a:r>
            <a:r>
              <a:rPr lang="en-US" sz="1200" dirty="0">
                <a:solidFill>
                  <a:srgbClr val="E6E1D6"/>
                </a:solidFill>
                <a:latin typeface="JetBrains Mono" pitchFamily="49" charset="0"/>
                <a:ea typeface="JetBrains Mono" pitchFamily="49" charset="-122"/>
                <a:cs typeface="JetBrains Mono" pitchFamily="49" charset="-120"/>
              </a:rPr>
              <a:t>, req.originalUrl);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'path '</a:t>
            </a:r>
            <a:r>
              <a:rPr lang="en-US" sz="1200" dirty="0">
                <a:solidFill>
                  <a:srgbClr val="E6E1D6"/>
                </a:solidFill>
                <a:latin typeface="JetBrains Mono" pitchFamily="49" charset="0"/>
                <a:ea typeface="JetBrains Mono" pitchFamily="49" charset="-122"/>
                <a:cs typeface="JetBrains Mono" pitchFamily="49" charset="-120"/>
              </a:rPr>
              <a:t>, req.path);</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'hostname '</a:t>
            </a:r>
            <a:r>
              <a:rPr lang="en-US" sz="1200" dirty="0">
                <a:solidFill>
                  <a:srgbClr val="E6E1D6"/>
                </a:solidFill>
                <a:latin typeface="JetBrains Mono" pitchFamily="49" charset="0"/>
                <a:ea typeface="JetBrains Mono" pitchFamily="49" charset="-122"/>
                <a:cs typeface="JetBrains Mono" pitchFamily="49" charset="-120"/>
              </a:rPr>
              <a:t>, req.hostname);</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'protocol '</a:t>
            </a:r>
            <a:r>
              <a:rPr lang="en-US" sz="1200" dirty="0">
                <a:solidFill>
                  <a:srgbClr val="E6E1D6"/>
                </a:solidFill>
                <a:latin typeface="JetBrains Mono" pitchFamily="49" charset="0"/>
                <a:ea typeface="JetBrains Mono" pitchFamily="49" charset="-122"/>
                <a:cs typeface="JetBrains Mono" pitchFamily="49" charset="-120"/>
              </a:rPr>
              <a:t>, req.protocol);</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method: req.method,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path: req.path</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694"/>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localhost:11000/products/7?sort=desc</a:t>
            </a:r>
            <a:endParaRPr lang="en-US" sz="1200" dirty="0"/>
          </a:p>
        </p:txBody>
      </p:sp>
      <p:sp>
        <p:nvSpPr>
          <p:cNvPr id="13" name="Text 11"/>
          <p:cNvSpPr/>
          <p:nvPr/>
        </p:nvSpPr>
        <p:spPr>
          <a:xfrm>
            <a:off x="6819057" y="2307890"/>
            <a:ext cx="4475388"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{"method":"GET",</a:t>
            </a:r>
            <a:endParaRPr lang="en-US" sz="1400" dirty="0"/>
          </a:p>
          <a:p>
            <a:pPr algn="l"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 "path":"/products/7"}</a:t>
            </a:r>
            <a:endParaRPr lang="en-US" sz="1400" dirty="0"/>
          </a:p>
        </p:txBody>
      </p:sp>
      <p:sp>
        <p:nvSpPr>
          <p:cNvPr id="14" name="Shape 12"/>
          <p:cNvSpPr/>
          <p:nvPr/>
        </p:nvSpPr>
        <p:spPr>
          <a:xfrm>
            <a:off x="6604000" y="3733788"/>
            <a:ext cx="4775150" cy="2311363"/>
          </a:xfrm>
          <a:prstGeom prst="roundRect">
            <a:avLst>
              <a:gd name="adj" fmla="val 4396"/>
            </a:avLst>
          </a:prstGeom>
          <a:solidFill>
            <a:srgbClr val="0E1117"/>
          </a:solidFill>
          <a:ln/>
        </p:spPr>
      </p:sp>
      <p:sp>
        <p:nvSpPr>
          <p:cNvPr id="15" name="Text 13"/>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6" name="Text 14"/>
          <p:cNvSpPr/>
          <p:nvPr/>
        </p:nvSpPr>
        <p:spPr>
          <a:xfrm>
            <a:off x="6781788" y="4175683"/>
            <a:ext cx="4552162" cy="1397223"/>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method GET</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url /products/7?sort=desc</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originalUrl /products/7?sort=desc</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path /products/7</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hostname localhost</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protocol http</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REQ.PARAMS · MORE THAN ONE</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Each :name in the route becomes a key</a:t>
            </a:r>
            <a:endParaRPr lang="en-US" sz="2800" dirty="0"/>
          </a:p>
        </p:txBody>
      </p:sp>
      <p:sp>
        <p:nvSpPr>
          <p:cNvPr id="4" name="Shape 2"/>
          <p:cNvSpPr/>
          <p:nvPr/>
        </p:nvSpPr>
        <p:spPr>
          <a:xfrm>
            <a:off x="812788" y="1696641"/>
            <a:ext cx="5588000" cy="3388754"/>
          </a:xfrm>
          <a:prstGeom prst="roundRect">
            <a:avLst>
              <a:gd name="adj" fmla="val 2998"/>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769046"/>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'/products/:id/reviews/:reviewId'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(req.params);</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(req.params.id + </a:t>
            </a:r>
            <a:r>
              <a:rPr lang="en-US" sz="1200" dirty="0">
                <a:solidFill>
                  <a:srgbClr val="F78C6C"/>
                </a:solidFill>
                <a:latin typeface="JetBrains Mono" pitchFamily="49" charset="0"/>
                <a:ea typeface="JetBrains Mono" pitchFamily="49" charset="-122"/>
                <a:cs typeface="JetBrains Mono" pitchFamily="49" charset="-120"/>
              </a:rPr>
              <a:t>1</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id = </a:t>
            </a:r>
            <a:r>
              <a:rPr lang="en-US" sz="1200" dirty="0">
                <a:solidFill>
                  <a:srgbClr val="82AAFF"/>
                </a:solidFill>
                <a:latin typeface="JetBrains Mono" pitchFamily="49" charset="0"/>
                <a:ea typeface="JetBrains Mono" pitchFamily="49" charset="-122"/>
                <a:cs typeface="JetBrains Mono" pitchFamily="49" charset="-120"/>
              </a:rPr>
              <a:t>Number</a:t>
            </a:r>
            <a:r>
              <a:rPr lang="en-US" sz="1200" dirty="0">
                <a:solidFill>
                  <a:srgbClr val="E6E1D6"/>
                </a:solidFill>
                <a:latin typeface="JetBrains Mono" pitchFamily="49" charset="0"/>
                <a:ea typeface="JetBrains Mono" pitchFamily="49" charset="-122"/>
                <a:cs typeface="JetBrains Mono" pitchFamily="49" charset="-120"/>
              </a:rPr>
              <a:t>(req.params.id);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(id + </a:t>
            </a:r>
            <a:r>
              <a:rPr lang="en-US" sz="1200" dirty="0">
                <a:solidFill>
                  <a:srgbClr val="F78C6C"/>
                </a:solidFill>
                <a:latin typeface="JetBrains Mono" pitchFamily="49" charset="0"/>
                <a:ea typeface="JetBrains Mono" pitchFamily="49" charset="-122"/>
                <a:cs typeface="JetBrains Mono" pitchFamily="49" charset="-120"/>
              </a:rPr>
              <a:t>1</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(req.params);</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694"/>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localhost:11000/products/7/reviews/3</a:t>
            </a:r>
            <a:endParaRPr lang="en-US" sz="1200" dirty="0"/>
          </a:p>
        </p:txBody>
      </p:sp>
      <p:sp>
        <p:nvSpPr>
          <p:cNvPr id="13" name="Text 11"/>
          <p:cNvSpPr/>
          <p:nvPr/>
        </p:nvSpPr>
        <p:spPr>
          <a:xfrm>
            <a:off x="6819057" y="2307890"/>
            <a:ext cx="447538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{"id":"7","reviewId":"3"}</a:t>
            </a:r>
            <a:endParaRPr lang="en-US" sz="1400" dirty="0"/>
          </a:p>
        </p:txBody>
      </p:sp>
      <p:sp>
        <p:nvSpPr>
          <p:cNvPr id="14" name="Shape 12"/>
          <p:cNvSpPr/>
          <p:nvPr/>
        </p:nvSpPr>
        <p:spPr>
          <a:xfrm>
            <a:off x="6604000" y="3733788"/>
            <a:ext cx="4775150" cy="2311363"/>
          </a:xfrm>
          <a:prstGeom prst="roundRect">
            <a:avLst>
              <a:gd name="adj" fmla="val 4396"/>
            </a:avLst>
          </a:prstGeom>
          <a:solidFill>
            <a:srgbClr val="0E1117"/>
          </a:solidFill>
          <a:ln/>
        </p:spPr>
      </p:sp>
      <p:sp>
        <p:nvSpPr>
          <p:cNvPr id="15" name="Text 13"/>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6" name="Text 14"/>
          <p:cNvSpPr/>
          <p:nvPr/>
        </p:nvSpPr>
        <p:spPr>
          <a:xfrm>
            <a:off x="6781788" y="4175683"/>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 id: '7', reviewId: '3' }</a:t>
            </a:r>
            <a:endParaRPr lang="en-US" sz="1200" dirty="0"/>
          </a:p>
          <a:p>
            <a:pPr algn="l" indent="0" marL="0">
              <a:lnSpc>
                <a:spcPts val="1800"/>
              </a:lnSpc>
              <a:buNone/>
            </a:pPr>
            <a:r>
              <a:rPr lang="en-US" sz="1200" dirty="0">
                <a:solidFill>
                  <a:srgbClr val="F0A15E"/>
                </a:solidFill>
                <a:latin typeface="JetBrains Mono" pitchFamily="49" charset="0"/>
                <a:ea typeface="JetBrains Mono" pitchFamily="49" charset="-122"/>
                <a:cs typeface="JetBrains Mono" pitchFamily="49" charset="-120"/>
              </a:rPr>
              <a:t>71</a:t>
            </a:r>
            <a:endParaRPr lang="en-US" sz="1200" dirty="0"/>
          </a:p>
          <a:p>
            <a:pPr algn="l" indent="0" marL="0">
              <a:lnSpc>
                <a:spcPts val="1800"/>
              </a:lnSpc>
              <a:buNone/>
            </a:pPr>
            <a:r>
              <a:rPr lang="en-US" sz="1200" dirty="0">
                <a:solidFill>
                  <a:srgbClr val="7BD88F"/>
                </a:solidFill>
                <a:latin typeface="JetBrains Mono" pitchFamily="49" charset="0"/>
                <a:ea typeface="JetBrains Mono" pitchFamily="49" charset="-122"/>
                <a:cs typeface="JetBrains Mono" pitchFamily="49" charset="-120"/>
              </a:rPr>
              <a:t>8</a:t>
            </a:r>
            <a:endParaRPr lang="en-US" sz="1200" dirty="0"/>
          </a:p>
        </p:txBody>
      </p:sp>
      <p:sp>
        <p:nvSpPr>
          <p:cNvPr id="17" name="Text 15"/>
          <p:cNvSpPr/>
          <p:nvPr/>
        </p:nvSpPr>
        <p:spPr>
          <a:xfrm>
            <a:off x="6781788" y="4937745"/>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'7' + 1 joins text. Convert with Number() before doing maths or comparing with ===.</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REQ.QUERY · EVERYTHING AFTER ?</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Optional filters, no route change needed</a:t>
            </a:r>
            <a:endParaRPr lang="en-US" sz="2800" dirty="0"/>
          </a:p>
        </p:txBody>
      </p:sp>
      <p:sp>
        <p:nvSpPr>
          <p:cNvPr id="4" name="Shape 2"/>
          <p:cNvSpPr/>
          <p:nvPr/>
        </p:nvSpPr>
        <p:spPr>
          <a:xfrm>
            <a:off x="812788" y="1696641"/>
            <a:ext cx="5588000" cy="3846029"/>
          </a:xfrm>
          <a:prstGeom prst="roundRect">
            <a:avLst>
              <a:gd name="adj" fmla="val 2642"/>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3226321"/>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(req.query);</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 category, limit } = req.query;</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(category, limit, </a:t>
            </a:r>
            <a:r>
              <a:rPr lang="en-US" sz="1200" dirty="0">
                <a:solidFill>
                  <a:srgbClr val="C792EA"/>
                </a:solidFill>
                <a:latin typeface="JetBrains Mono" pitchFamily="49" charset="0"/>
                <a:ea typeface="JetBrains Mono" pitchFamily="49" charset="-122"/>
                <a:cs typeface="JetBrains Mono" pitchFamily="49" charset="-120"/>
              </a:rPr>
              <a:t>typeof</a:t>
            </a:r>
            <a:r>
              <a:rPr lang="en-US" sz="1200" dirty="0">
                <a:solidFill>
                  <a:srgbClr val="E6E1D6"/>
                </a:solidFill>
                <a:latin typeface="JetBrains Mono" pitchFamily="49" charset="0"/>
                <a:ea typeface="JetBrains Mono" pitchFamily="49" charset="-122"/>
                <a:cs typeface="JetBrains Mono" pitchFamily="49" charset="-120"/>
              </a:rPr>
              <a:t> limit);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(req.query.sort); </a:t>
            </a:r>
            <a:r>
              <a:rPr lang="en-US" sz="1200" dirty="0">
                <a:solidFill>
                  <a:srgbClr val="7F8796"/>
                </a:solidFill>
                <a:latin typeface="JetBrains Mono" pitchFamily="49" charset="0"/>
                <a:ea typeface="JetBrains Mono" pitchFamily="49" charset="-122"/>
                <a:cs typeface="JetBrains Mono" pitchFamily="49" charset="-120"/>
              </a:rPr>
              <a:t>// not sent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`category=${category}, limit=${limit}`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params → which thing (/products/7)</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query → how to filter it (?limit=2)</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694"/>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…/products?category=jewelery&amp;limit=2</a:t>
            </a:r>
            <a:endParaRPr lang="en-US" sz="1200" dirty="0"/>
          </a:p>
        </p:txBody>
      </p:sp>
      <p:sp>
        <p:nvSpPr>
          <p:cNvPr id="13" name="Text 11"/>
          <p:cNvSpPr/>
          <p:nvPr/>
        </p:nvSpPr>
        <p:spPr>
          <a:xfrm>
            <a:off x="6819057" y="2307890"/>
            <a:ext cx="447538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category=jewelery, limit=2</a:t>
            </a:r>
            <a:endParaRPr lang="en-US" sz="1400" dirty="0"/>
          </a:p>
        </p:txBody>
      </p:sp>
      <p:sp>
        <p:nvSpPr>
          <p:cNvPr id="14" name="Shape 12"/>
          <p:cNvSpPr/>
          <p:nvPr/>
        </p:nvSpPr>
        <p:spPr>
          <a:xfrm>
            <a:off x="6604000" y="3733788"/>
            <a:ext cx="4775150" cy="2311363"/>
          </a:xfrm>
          <a:prstGeom prst="roundRect">
            <a:avLst>
              <a:gd name="adj" fmla="val 4396"/>
            </a:avLst>
          </a:prstGeom>
          <a:solidFill>
            <a:srgbClr val="0E1117"/>
          </a:solidFill>
          <a:ln/>
        </p:spPr>
      </p:sp>
      <p:sp>
        <p:nvSpPr>
          <p:cNvPr id="15" name="Text 13"/>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6" name="Text 14"/>
          <p:cNvSpPr/>
          <p:nvPr/>
        </p:nvSpPr>
        <p:spPr>
          <a:xfrm>
            <a:off x="6781788" y="4175683"/>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 category: 'jewelery', limit: '2' }</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jewelery 2 string</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undefined</a:t>
            </a:r>
            <a:endParaRPr lang="en-US" sz="1200" dirty="0"/>
          </a:p>
        </p:txBody>
      </p:sp>
      <p:sp>
        <p:nvSpPr>
          <p:cNvPr id="17" name="Text 15"/>
          <p:cNvSpPr/>
          <p:nvPr/>
        </p:nvSpPr>
        <p:spPr>
          <a:xfrm>
            <a:off x="6781788" y="4937745"/>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Missing keys are </a:t>
            </a:r>
            <a:r>
              <a:rPr lang="en-US" sz="1200" b="1" dirty="0">
                <a:solidFill>
                  <a:srgbClr val="B9C0CC"/>
                </a:solidFill>
                <a:latin typeface="Space Grotesk" pitchFamily="34" charset="0"/>
                <a:ea typeface="Space Grotesk" pitchFamily="34" charset="-122"/>
                <a:cs typeface="Space Grotesk" pitchFamily="34" charset="-120"/>
              </a:rPr>
              <a:t>undefined</a:t>
            </a:r>
            <a:r>
              <a:rPr lang="en-US" sz="1200" dirty="0">
                <a:solidFill>
                  <a:srgbClr val="B9C0CC"/>
                </a:solidFill>
                <a:latin typeface="Space Grotesk" pitchFamily="34" charset="0"/>
                <a:ea typeface="Space Grotesk" pitchFamily="34" charset="-122"/>
                <a:cs typeface="Space Grotesk" pitchFamily="34" charset="-120"/>
              </a:rPr>
              <a:t>, not errors. Values are strings again.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REQ.HEADERS, REQ.GET(), REQ.IP</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Who is asking, and from where</a:t>
            </a:r>
            <a:endParaRPr lang="en-US" sz="2800" dirty="0"/>
          </a:p>
        </p:txBody>
      </p:sp>
      <p:sp>
        <p:nvSpPr>
          <p:cNvPr id="4" name="Shape 2"/>
          <p:cNvSpPr/>
          <p:nvPr/>
        </p:nvSpPr>
        <p:spPr>
          <a:xfrm>
            <a:off x="812788" y="1696641"/>
            <a:ext cx="5588000" cy="3846029"/>
          </a:xfrm>
          <a:prstGeom prst="roundRect">
            <a:avLst>
              <a:gd name="adj" fmla="val 2642"/>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3226321"/>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'/whoami'</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(req.ip);</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'User-Agent'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(req.headers.host);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(req.headers[</a:t>
            </a:r>
            <a:r>
              <a:rPr lang="en-US" sz="1200" dirty="0">
                <a:solidFill>
                  <a:srgbClr val="C3E88D"/>
                </a:solidFill>
                <a:latin typeface="JetBrains Mono" pitchFamily="49" charset="0"/>
                <a:ea typeface="JetBrains Mono" pitchFamily="49" charset="-122"/>
                <a:cs typeface="JetBrains Mono" pitchFamily="49" charset="-120"/>
              </a:rPr>
              <a:t>'accept-language'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(req.secure);</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ip: req.ip,</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browser: req.</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'User-Agent'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req.get() ignores case; req.headers keys</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are always lowercase</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694"/>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localhost:11000/whoami</a:t>
            </a:r>
            <a:endParaRPr lang="en-US" sz="1200" dirty="0"/>
          </a:p>
        </p:txBody>
      </p:sp>
      <p:sp>
        <p:nvSpPr>
          <p:cNvPr id="13" name="Text 11"/>
          <p:cNvSpPr/>
          <p:nvPr/>
        </p:nvSpPr>
        <p:spPr>
          <a:xfrm>
            <a:off x="6819057" y="2307890"/>
            <a:ext cx="4475388"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A1F2B"/>
                </a:solidFill>
                <a:latin typeface="JetBrains Mono" pitchFamily="49" charset="0"/>
                <a:ea typeface="JetBrains Mono" pitchFamily="49" charset="-122"/>
                <a:cs typeface="JetBrains Mono" pitchFamily="49" charset="-120"/>
              </a:rPr>
              <a:t>{"ip":"::1","browser":"Mozilla/5.0 (Windows NT 10.0; Win64; x64) AppleWebKit/537.36 …"}</a:t>
            </a:r>
            <a:endParaRPr lang="en-US" sz="1200" dirty="0"/>
          </a:p>
        </p:txBody>
      </p:sp>
      <p:sp>
        <p:nvSpPr>
          <p:cNvPr id="14" name="Shape 12"/>
          <p:cNvSpPr/>
          <p:nvPr/>
        </p:nvSpPr>
        <p:spPr>
          <a:xfrm>
            <a:off x="6604000" y="3733788"/>
            <a:ext cx="4775150" cy="2311363"/>
          </a:xfrm>
          <a:prstGeom prst="roundRect">
            <a:avLst>
              <a:gd name="adj" fmla="val 4396"/>
            </a:avLst>
          </a:prstGeom>
          <a:solidFill>
            <a:srgbClr val="0E1117"/>
          </a:solidFill>
          <a:ln/>
        </p:spPr>
      </p:sp>
      <p:sp>
        <p:nvSpPr>
          <p:cNvPr id="15" name="Text 13"/>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6" name="Text 14"/>
          <p:cNvSpPr/>
          <p:nvPr/>
        </p:nvSpPr>
        <p:spPr>
          <a:xfrm>
            <a:off x="6781788" y="4175683"/>
            <a:ext cx="4552162" cy="1168586"/>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::1</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Mozilla/5.0 (Windows NT 10.0; …</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localhost:11000</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en-IN,en;q=0.9</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false</a:t>
            </a:r>
            <a:endParaRPr lang="en-US" sz="1200" dirty="0"/>
          </a:p>
        </p:txBody>
      </p:sp>
      <p:sp>
        <p:nvSpPr>
          <p:cNvPr id="17" name="Text 15"/>
          <p:cNvSpPr/>
          <p:nvPr/>
        </p:nvSpPr>
        <p:spPr>
          <a:xfrm>
            <a:off x="6781788" y="5395020"/>
            <a:ext cx="4597363"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Open it from a phone on the same Wi-Fi and req.ip changes.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REQ.BODY · DATA SENT WITH POST OR PUT</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req.body is empty until something reads it</a:t>
            </a:r>
            <a:endParaRPr lang="en-US" sz="2800" dirty="0"/>
          </a:p>
        </p:txBody>
      </p:sp>
      <p:sp>
        <p:nvSpPr>
          <p:cNvPr id="4" name="Shape 2"/>
          <p:cNvSpPr/>
          <p:nvPr/>
        </p:nvSpPr>
        <p:spPr>
          <a:xfrm>
            <a:off x="812788" y="1696641"/>
            <a:ext cx="5588000" cy="3388754"/>
          </a:xfrm>
          <a:prstGeom prst="roundRect">
            <a:avLst>
              <a:gd name="adj" fmla="val 2998"/>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769046"/>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(express.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 this one line fills req.body</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post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(req.body);</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(req.body.title, req.body.price);</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201</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id: </a:t>
            </a:r>
            <a:r>
              <a:rPr lang="en-US" sz="1200" dirty="0">
                <a:solidFill>
                  <a:srgbClr val="F78C6C"/>
                </a:solidFill>
                <a:latin typeface="JetBrains Mono" pitchFamily="49" charset="0"/>
                <a:ea typeface="JetBrains Mono" pitchFamily="49" charset="-122"/>
                <a:cs typeface="JetBrains Mono" pitchFamily="49" charset="-120"/>
              </a:rPr>
              <a:t>21</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...req.body</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Text 6"/>
          <p:cNvSpPr/>
          <p:nvPr/>
        </p:nvSpPr>
        <p:spPr>
          <a:xfrm>
            <a:off x="6793694" y="1853344"/>
            <a:ext cx="543533" cy="264108"/>
          </a:xfrm>
          <a:prstGeom prst="roundRect">
            <a:avLst>
              <a:gd name="adj" fmla="val 19235"/>
            </a:avLst>
          </a:prstGeom>
          <a:solidFill>
            <a:srgbClr val="D9692A"/>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JetBrains Mono" pitchFamily="49" charset="0"/>
                <a:ea typeface="JetBrains Mono" pitchFamily="49" charset="-122"/>
                <a:cs typeface="JetBrains Mono" pitchFamily="49" charset="-120"/>
              </a:rPr>
              <a:t>POST</a:t>
            </a:r>
            <a:endParaRPr lang="en-US" sz="1200" dirty="0"/>
          </a:p>
        </p:txBody>
      </p:sp>
      <p:sp>
        <p:nvSpPr>
          <p:cNvPr id="9" name="Text 7"/>
          <p:cNvSpPr/>
          <p:nvPr/>
        </p:nvSpPr>
        <p:spPr>
          <a:xfrm>
            <a:off x="7413377" y="1878707"/>
            <a:ext cx="263351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localhost:11000/products</a:t>
            </a:r>
            <a:endParaRPr lang="en-US" sz="1200" dirty="0"/>
          </a:p>
        </p:txBody>
      </p:sp>
      <p:sp>
        <p:nvSpPr>
          <p:cNvPr id="10" name="Text 8"/>
          <p:cNvSpPr/>
          <p:nvPr/>
        </p:nvSpPr>
        <p:spPr>
          <a:xfrm>
            <a:off x="6793694" y="2180952"/>
            <a:ext cx="4527636"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Body (JSON): {"title":"Steel Bottle","price":12.5}</a:t>
            </a:r>
            <a:endParaRPr lang="en-US" sz="1200" dirty="0"/>
          </a:p>
        </p:txBody>
      </p:sp>
      <p:sp>
        <p:nvSpPr>
          <p:cNvPr id="11" name="Text 9"/>
          <p:cNvSpPr/>
          <p:nvPr/>
        </p:nvSpPr>
        <p:spPr>
          <a:xfrm>
            <a:off x="6793694" y="267121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7D4F"/>
                </a:solidFill>
                <a:latin typeface="Space Grotesk" pitchFamily="34" charset="0"/>
                <a:ea typeface="Space Grotesk" pitchFamily="34" charset="-122"/>
                <a:cs typeface="Space Grotesk" pitchFamily="34" charset="-120"/>
              </a:rPr>
              <a:t>Status: 201 Created</a:t>
            </a:r>
            <a:endParaRPr lang="en-US" sz="1200" dirty="0"/>
          </a:p>
        </p:txBody>
      </p:sp>
      <p:sp>
        <p:nvSpPr>
          <p:cNvPr id="12" name="Text 10"/>
          <p:cNvSpPr/>
          <p:nvPr/>
        </p:nvSpPr>
        <p:spPr>
          <a:xfrm>
            <a:off x="6793694" y="2948099"/>
            <a:ext cx="4527636"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{"id":21,"title":"Steel Bottle","price":12.5}</a:t>
            </a:r>
            <a:endParaRPr lang="en-US" sz="1200" dirty="0"/>
          </a:p>
        </p:txBody>
      </p:sp>
      <p:sp>
        <p:nvSpPr>
          <p:cNvPr id="13" name="Shape 11"/>
          <p:cNvSpPr/>
          <p:nvPr/>
        </p:nvSpPr>
        <p:spPr>
          <a:xfrm>
            <a:off x="6604000" y="3733788"/>
            <a:ext cx="4775150" cy="2311363"/>
          </a:xfrm>
          <a:prstGeom prst="roundRect">
            <a:avLst>
              <a:gd name="adj" fmla="val 4396"/>
            </a:avLst>
          </a:prstGeom>
          <a:solidFill>
            <a:srgbClr val="0E1117"/>
          </a:solidFill>
          <a:ln/>
        </p:spPr>
      </p:sp>
      <p:sp>
        <p:nvSpPr>
          <p:cNvPr id="14" name="Text 12"/>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5" name="Text 13"/>
          <p:cNvSpPr/>
          <p:nvPr/>
        </p:nvSpPr>
        <p:spPr>
          <a:xfrm>
            <a:off x="6781788" y="4175683"/>
            <a:ext cx="4552162"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 title: 'Steel Bottle', price: 12.5 }</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Steel Bottle 12.5</a:t>
            </a:r>
            <a:endParaRPr lang="en-US" sz="1200" dirty="0"/>
          </a:p>
        </p:txBody>
      </p:sp>
      <p:sp>
        <p:nvSpPr>
          <p:cNvPr id="16" name="Text 14"/>
          <p:cNvSpPr/>
          <p:nvPr/>
        </p:nvSpPr>
        <p:spPr>
          <a:xfrm>
            <a:off x="6781788" y="4709108"/>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15E"/>
                </a:solidFill>
                <a:latin typeface="Space Grotesk" pitchFamily="34" charset="0"/>
                <a:ea typeface="Space Grotesk" pitchFamily="34" charset="-122"/>
                <a:cs typeface="Space Grotesk" pitchFamily="34" charset="-120"/>
              </a:rPr>
              <a:t>Remove express.json() and req.body is undefined, so req.body.title throws a TypeError.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CHEAT SHEET · REQ</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GET /products/7?sort=desc on route /products/:id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694" y="1708547"/>
          <a:ext cx="5169669" cy="2655590"/>
        </p:xfrm>
        <a:graphic>
          <a:graphicData uri="http://schemas.openxmlformats.org/drawingml/2006/table">
            <a:tbl>
              <a:tblPr/>
              <a:tblGrid>
                <a:gridCol w="2481441"/>
                <a:gridCol w="2688228"/>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Property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Value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req.method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'GET'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req.params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 id: '7'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req.query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 sort: 'desc'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req.path</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'/products/7'</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req.originalUrl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'/products/7?sort=desc'</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req.hostname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'localhost'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req.protocol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'http'</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209419" y="1708547"/>
          <a:ext cx="5169669" cy="3509119"/>
        </p:xfrm>
        <a:graphic>
          <a:graphicData uri="http://schemas.openxmlformats.org/drawingml/2006/table">
            <a:tbl>
              <a:tblPr/>
              <a:tblGrid>
                <a:gridCol w="2481441"/>
                <a:gridCol w="2688228"/>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Property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Value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req.ip</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'::1'</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req.get('User-Agent')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'Mozilla/5.0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req.headers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all headers, lowercase keys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5331">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req.baseUrl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 (or '/api' inside a router)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5331">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req.url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prefix removed inside a router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5331">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req.body</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undefined until express.json()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5331">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req.cookies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undefined until cookie-parser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6" name="Text 2"/>
          <p:cNvSpPr/>
          <p:nvPr/>
        </p:nvSpPr>
        <p:spPr>
          <a:xfrm>
            <a:off x="812788" y="5446241"/>
            <a:ext cx="1088341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Rule of thumb: URL pieces are always strings; only a parsed JSON body keeps numbers and booleans.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2166751"/>
            <a:ext cx="10883418" cy="274253"/>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A15E"/>
                </a:solidFill>
                <a:latin typeface="Space Grotesk" pitchFamily="34" charset="0"/>
                <a:ea typeface="Space Grotesk" pitchFamily="34" charset="-122"/>
                <a:cs typeface="Space Grotesk" pitchFamily="34" charset="-120"/>
              </a:rPr>
              <a:t>PART 3</a:t>
            </a:r>
            <a:endParaRPr lang="en-US" sz="1400" dirty="0"/>
          </a:p>
        </p:txBody>
      </p:sp>
      <p:sp>
        <p:nvSpPr>
          <p:cNvPr id="3" name="Text 1"/>
          <p:cNvSpPr/>
          <p:nvPr>
            <p:ph type="title"/>
          </p:nvPr>
        </p:nvSpPr>
        <p:spPr>
          <a:xfrm>
            <a:off x="812788" y="2593392"/>
            <a:ext cx="10883418" cy="1305446"/>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0A15E"/>
                </a:solidFill>
                <a:latin typeface="Space Grotesk" pitchFamily="34" charset="0"/>
                <a:ea typeface="Space Grotesk" pitchFamily="34" charset="-122"/>
                <a:cs typeface="Space Grotesk" pitchFamily="34" charset="-120"/>
              </a:rPr>
              <a:t>res</a:t>
            </a:r>
            <a:r>
              <a:rPr lang="en-US" sz="4800" b="1" i="0" dirty="0">
                <a:solidFill>
                  <a:srgbClr val="F2EFE6"/>
                </a:solidFill>
                <a:latin typeface="Space Grotesk" pitchFamily="34" charset="0"/>
                <a:ea typeface="Space Grotesk" pitchFamily="34" charset="-122"/>
                <a:cs typeface="Space Grotesk" pitchFamily="34" charset="-120"/>
              </a:rPr>
              <a:t>: everything you</a:t>
            </a:r>
            <a:endParaRPr lang="en-US" sz="4800" dirty="0"/>
          </a:p>
          <a:p>
            <a:pPr algn="l" indent="0" marL="0">
              <a:lnSpc>
                <a:spcPts val="5040"/>
              </a:lnSpc>
              <a:buNone/>
            </a:pPr>
            <a:r>
              <a:rPr lang="en-US" sz="4800" b="1" i="0" dirty="0">
                <a:solidFill>
                  <a:srgbClr val="F2EFE6"/>
                </a:solidFill>
                <a:latin typeface="Space Grotesk" pitchFamily="34" charset="0"/>
                <a:ea typeface="Space Grotesk" pitchFamily="34" charset="-122"/>
                <a:cs typeface="Space Grotesk" pitchFamily="34" charset="-120"/>
              </a:rPr>
              <a:t>can send back</a:t>
            </a:r>
            <a:endParaRPr lang="en-US" sz="4800" dirty="0"/>
          </a:p>
        </p:txBody>
      </p:sp>
      <p:sp>
        <p:nvSpPr>
          <p:cNvPr id="4" name="Text 2"/>
          <p:cNvSpPr/>
          <p:nvPr/>
        </p:nvSpPr>
        <p:spPr>
          <a:xfrm>
            <a:off x="812788" y="4051226"/>
            <a:ext cx="784860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9C0CC"/>
                </a:solidFill>
                <a:latin typeface="Space Grotesk" pitchFamily="34" charset="0"/>
                <a:ea typeface="Space Grotesk" pitchFamily="34" charset="-122"/>
                <a:cs typeface="Space Grotesk" pitchFamily="34" charset="-120"/>
              </a:rPr>
              <a:t>Text, HTML, JSON, files, downloads, redirects, status codes, headers and cookies. One answer per request.</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THE ONE RULE OF RES</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Answer exactly once. Use return to stop.</a:t>
            </a:r>
            <a:endParaRPr lang="en-US" sz="2800" dirty="0"/>
          </a:p>
        </p:txBody>
      </p:sp>
      <p:sp>
        <p:nvSpPr>
          <p:cNvPr id="4" name="Shape 2"/>
          <p:cNvSpPr/>
          <p:nvPr/>
        </p:nvSpPr>
        <p:spPr>
          <a:xfrm>
            <a:off x="812788" y="1696641"/>
            <a:ext cx="5588000" cy="3617392"/>
          </a:xfrm>
          <a:prstGeom prst="roundRect">
            <a:avLst>
              <a:gd name="adj" fmla="val 2809"/>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 · a very common bug</a:t>
            </a:r>
            <a:endParaRPr lang="en-US" sz="1200" dirty="0"/>
          </a:p>
        </p:txBody>
      </p:sp>
      <p:sp>
        <p:nvSpPr>
          <p:cNvPr id="6" name="Text 4"/>
          <p:cNvSpPr/>
          <p:nvPr/>
        </p:nvSpPr>
        <p:spPr>
          <a:xfrm>
            <a:off x="1015938" y="2163961"/>
            <a:ext cx="5337150" cy="299768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 = products.</a:t>
            </a:r>
            <a:r>
              <a:rPr lang="en-US" sz="1200" dirty="0">
                <a:solidFill>
                  <a:srgbClr val="82AAFF"/>
                </a:solidFill>
                <a:latin typeface="JetBrains Mono" pitchFamily="49" charset="0"/>
                <a:ea typeface="JetBrains Mono" pitchFamily="49" charset="-122"/>
                <a:cs typeface="JetBrains Mono" pitchFamily="49" charset="-120"/>
              </a:rPr>
              <a:t>find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x =&gt; x.id === </a:t>
            </a:r>
            <a:r>
              <a:rPr lang="en-US" sz="1200" dirty="0">
                <a:solidFill>
                  <a:srgbClr val="82AAFF"/>
                </a:solidFill>
                <a:latin typeface="JetBrains Mono" pitchFamily="49" charset="0"/>
                <a:ea typeface="JetBrains Mono" pitchFamily="49" charset="-122"/>
                <a:cs typeface="JetBrains Mono" pitchFamily="49" charset="-120"/>
              </a:rPr>
              <a:t>Number</a:t>
            </a:r>
            <a:r>
              <a:rPr lang="en-US" sz="1200" dirty="0">
                <a:solidFill>
                  <a:srgbClr val="E6E1D6"/>
                </a:solidFill>
                <a:latin typeface="JetBrains Mono" pitchFamily="49" charset="0"/>
                <a:ea typeface="JetBrains Mono" pitchFamily="49" charset="-122"/>
                <a:cs typeface="JetBrains Mono" pitchFamily="49" charset="-120"/>
              </a:rPr>
              <a:t>(req.params.id));</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(!p)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404</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'Not found'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no return → code keeps going</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(p); </a:t>
            </a:r>
            <a:r>
              <a:rPr lang="en-US" sz="1200" dirty="0">
                <a:solidFill>
                  <a:srgbClr val="F0A15E"/>
                </a:solidFill>
                <a:latin typeface="JetBrains Mono" pitchFamily="49" charset="0"/>
                <a:ea typeface="JetBrains Mono" pitchFamily="49" charset="-122"/>
                <a:cs typeface="JetBrains Mono" pitchFamily="49" charset="-120"/>
              </a:rPr>
              <a:t>// second answer!</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7BD88F"/>
                </a:solidFill>
                <a:latin typeface="JetBrains Mono" pitchFamily="49" charset="0"/>
                <a:ea typeface="JetBrains Mono" pitchFamily="49" charset="-122"/>
                <a:cs typeface="JetBrains Mono" pitchFamily="49" charset="-120"/>
              </a:rPr>
              <a:t>// fix:</a:t>
            </a: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(!p) </a:t>
            </a:r>
            <a:r>
              <a:rPr lang="en-US" sz="1200" dirty="0">
                <a:solidFill>
                  <a:srgbClr val="C792EA"/>
                </a:solidFill>
                <a:latin typeface="JetBrains Mono" pitchFamily="49" charset="0"/>
                <a:ea typeface="JetBrains Mono" pitchFamily="49" charset="-122"/>
                <a:cs typeface="JetBrains Mono" pitchFamily="49" charset="-120"/>
              </a:rPr>
              <a:t>return</a:t>
            </a: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404</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'Not found'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694"/>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localhost:11000/products/99</a:t>
            </a:r>
            <a:endParaRPr lang="en-US" sz="1200" dirty="0"/>
          </a:p>
        </p:txBody>
      </p:sp>
      <p:sp>
        <p:nvSpPr>
          <p:cNvPr id="13" name="Text 11"/>
          <p:cNvSpPr/>
          <p:nvPr/>
        </p:nvSpPr>
        <p:spPr>
          <a:xfrm>
            <a:off x="6819057" y="2307890"/>
            <a:ext cx="4475388" cy="3098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F2B"/>
                </a:solidFill>
                <a:latin typeface="Space Grotesk" pitchFamily="34" charset="0"/>
                <a:ea typeface="Space Grotesk" pitchFamily="34" charset="-122"/>
                <a:cs typeface="Space Grotesk" pitchFamily="34" charset="-120"/>
              </a:rPr>
              <a:t>Not found</a:t>
            </a:r>
            <a:endParaRPr lang="en-US" sz="1600" dirty="0"/>
          </a:p>
        </p:txBody>
      </p:sp>
      <p:sp>
        <p:nvSpPr>
          <p:cNvPr id="14" name="Text 12"/>
          <p:cNvSpPr/>
          <p:nvPr/>
        </p:nvSpPr>
        <p:spPr>
          <a:xfrm>
            <a:off x="6819057" y="2655838"/>
            <a:ext cx="4475388"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The browser got the first answer. The second one crashed on the server.</a:t>
            </a:r>
            <a:endParaRPr lang="en-US" sz="1200" dirty="0"/>
          </a:p>
        </p:txBody>
      </p:sp>
      <p:sp>
        <p:nvSpPr>
          <p:cNvPr id="15" name="Shape 13"/>
          <p:cNvSpPr/>
          <p:nvPr/>
        </p:nvSpPr>
        <p:spPr>
          <a:xfrm>
            <a:off x="6604000" y="3733788"/>
            <a:ext cx="4775150" cy="2311363"/>
          </a:xfrm>
          <a:prstGeom prst="roundRect">
            <a:avLst>
              <a:gd name="adj" fmla="val 4396"/>
            </a:avLst>
          </a:prstGeom>
          <a:solidFill>
            <a:srgbClr val="0E1117"/>
          </a:solidFill>
          <a:ln/>
        </p:spPr>
      </p:sp>
      <p:sp>
        <p:nvSpPr>
          <p:cNvPr id="16" name="Text 14"/>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7" name="Text 15"/>
          <p:cNvSpPr/>
          <p:nvPr/>
        </p:nvSpPr>
        <p:spPr>
          <a:xfrm>
            <a:off x="6781788" y="4175683"/>
            <a:ext cx="4552162"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8A80"/>
                </a:solidFill>
                <a:latin typeface="JetBrains Mono" pitchFamily="49" charset="0"/>
                <a:ea typeface="JetBrains Mono" pitchFamily="49" charset="-122"/>
                <a:cs typeface="JetBrains Mono" pitchFamily="49" charset="-120"/>
              </a:rPr>
              <a:t>Error [ERR_HTTP_HEADERS_SENT]: Cannot set headers after they are sent to the client</a:t>
            </a:r>
            <a:endParaRPr lang="en-US" sz="1200" dirty="0"/>
          </a:p>
        </p:txBody>
      </p:sp>
      <p:sp>
        <p:nvSpPr>
          <p:cNvPr id="18" name="Text 16"/>
          <p:cNvSpPr/>
          <p:nvPr/>
        </p:nvSpPr>
        <p:spPr>
          <a:xfrm>
            <a:off x="6781788" y="4709108"/>
            <a:ext cx="4552162" cy="25403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at ServerResponse.setHeader …</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RES.SEND() · PREDICT, THEN CLICK</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send() looks at what you give it</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694" y="1708547"/>
          <a:ext cx="10554519" cy="2310929"/>
        </p:xfrm>
        <a:graphic>
          <a:graphicData uri="http://schemas.openxmlformats.org/drawingml/2006/table">
            <a:tbl>
              <a:tblPr/>
              <a:tblGrid>
                <a:gridCol w="4221807"/>
                <a:gridCol w="3166356"/>
                <a:gridCol w="3166356"/>
              </a:tblGrid>
              <a:tr h="385155">
                <a:tc>
                  <a:txBody>
                    <a:bodyPr/>
                    <a:lstStyle/>
                    <a:p>
                      <a:pPr indent="0" marL="0">
                        <a:lnSpc>
                          <a:spcPts val="1960"/>
                        </a:lnSpc>
                        <a:buNone/>
                      </a:pPr>
                      <a:r>
                        <a:rPr lang="en-US" sz="1400" b="1" dirty="0">
                          <a:solidFill>
                            <a:srgbClr val="1A1F2B"/>
                          </a:solidFill>
                          <a:latin typeface="JetBrains Mono" pitchFamily="49" charset="0"/>
                          <a:ea typeface="JetBrains Mono" pitchFamily="49" charset="-122"/>
                          <a:cs typeface="JetBrains Mono" pitchFamily="49" charset="-120"/>
                        </a:rPr>
                        <a:t>You write</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960"/>
                        </a:lnSpc>
                        <a:buNone/>
                      </a:pPr>
                      <a:r>
                        <a:rPr lang="en-US" sz="1400" b="1" dirty="0">
                          <a:solidFill>
                            <a:srgbClr val="1A1F2B"/>
                          </a:solidFill>
                          <a:latin typeface="JetBrains Mono" pitchFamily="49" charset="0"/>
                          <a:ea typeface="JetBrains Mono" pitchFamily="49" charset="-122"/>
                          <a:cs typeface="JetBrains Mono" pitchFamily="49" charset="-120"/>
                        </a:rPr>
                        <a:t>Browser shows</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960"/>
                        </a:lnSpc>
                        <a:buNone/>
                      </a:pPr>
                      <a:r>
                        <a:rPr lang="en-US" sz="1400" b="1" dirty="0">
                          <a:solidFill>
                            <a:srgbClr val="1A1F2B"/>
                          </a:solidFill>
                          <a:latin typeface="JetBrains Mono" pitchFamily="49" charset="0"/>
                          <a:ea typeface="JetBrains Mono" pitchFamily="49" charset="-122"/>
                          <a:cs typeface="JetBrains Mono" pitchFamily="49" charset="-120"/>
                        </a:rPr>
                        <a:t>Content-Type</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85155">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res.send('Hello')</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Hello</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text/html</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155">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res.send('&lt;h1&gt;Hi&lt;/h1&gt;')</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Hi, as a big heading</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text/html</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155">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res.send({ id: 1 })</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{"id":1}</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application/json</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155">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res.send([1, 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[1,2]</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application/json</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155">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res.send(Buffer.from('hi'))</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a file download</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application/octet-stream</a:t>
                      </a:r>
                      <a:endParaRPr lang="en-US" sz="1400" dirty="0">
                        <a:latin typeface="JetBrains Mono" charset="0"/>
                        <a:ea typeface="JetBrains Mono" charset="0"/>
                        <a:cs typeface="JetBrains Mono"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5048213" y="2101850"/>
            <a:ext cx="6324588" cy="1892300"/>
          </a:xfrm>
          <a:prstGeom prst="roundRect">
            <a:avLst>
              <a:gd name="adj" fmla="val 3691"/>
            </a:avLst>
          </a:prstGeom>
          <a:solidFill>
            <a:srgbClr val="E9E6DC"/>
          </a:solidFill>
          <a:ln w="12700">
            <a:solidFill>
              <a:srgbClr val="B9B2A0"/>
            </a:solidFill>
            <a:prstDash val="dash"/>
          </a:ln>
        </p:spPr>
        <p:txBody>
          <a:bodyPr wrap="square" lIns="0" tIns="0" rIns="0" bIns="0" rtlCol="0" anchor="ctr">
            <a:normAutofit/>
          </a:bodyPr>
          <a:lstStyle/>
          <a:p>
            <a:pPr algn="ctr" indent="0" marL="0">
              <a:lnSpc>
                <a:spcPts val="2240"/>
              </a:lnSpc>
              <a:buNone/>
            </a:pPr>
            <a:r>
              <a:rPr lang="en-US" sz="1600" b="1" dirty="0">
                <a:solidFill>
                  <a:srgbClr val="4C5566"/>
                </a:solidFill>
                <a:latin typeface="Space Grotesk" pitchFamily="34" charset="0"/>
                <a:ea typeface="Space Grotesk" pitchFamily="34" charset="-122"/>
                <a:cs typeface="Space Grotesk" pitchFamily="34" charset="-120"/>
              </a:rPr>
              <a:t>What will the browser show?</a:t>
            </a:r>
            <a:endParaRPr lang="en-US" sz="1600" dirty="0"/>
          </a:p>
        </p:txBody>
      </p:sp>
      <p:sp>
        <p:nvSpPr>
          <p:cNvPr id="6" name="Shape 3"/>
          <p:cNvSpPr/>
          <p:nvPr/>
        </p:nvSpPr>
        <p:spPr>
          <a:xfrm>
            <a:off x="819138" y="4451350"/>
            <a:ext cx="5181588" cy="1257300"/>
          </a:xfrm>
          <a:prstGeom prst="roundRect">
            <a:avLst>
              <a:gd name="adj" fmla="val 7576"/>
            </a:avLst>
          </a:prstGeom>
          <a:solidFill>
            <a:srgbClr val="FDFCF8"/>
          </a:solidFill>
          <a:ln w="12700">
            <a:solidFill>
              <a:srgbClr val="DDD8CA"/>
            </a:solidFill>
            <a:prstDash val="solid"/>
          </a:ln>
        </p:spPr>
      </p:sp>
      <p:sp>
        <p:nvSpPr>
          <p:cNvPr id="7" name="Text 4"/>
          <p:cNvSpPr/>
          <p:nvPr/>
        </p:nvSpPr>
        <p:spPr>
          <a:xfrm>
            <a:off x="1027844" y="4814652"/>
            <a:ext cx="4907100" cy="274253"/>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1F2B"/>
                </a:solidFill>
                <a:latin typeface="Space Grotesk" pitchFamily="34" charset="0"/>
                <a:ea typeface="Space Grotesk" pitchFamily="34" charset="-122"/>
                <a:cs typeface="Space Grotesk" pitchFamily="34" charset="-120"/>
              </a:rPr>
              <a:t>String → HTML</a:t>
            </a:r>
            <a:endParaRPr lang="en-US" sz="1400" dirty="0"/>
          </a:p>
        </p:txBody>
      </p:sp>
      <p:sp>
        <p:nvSpPr>
          <p:cNvPr id="8" name="Text 5"/>
          <p:cNvSpPr/>
          <p:nvPr/>
        </p:nvSpPr>
        <p:spPr>
          <a:xfrm>
            <a:off x="1027844" y="5114292"/>
            <a:ext cx="4907100"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C5566"/>
                </a:solidFill>
                <a:latin typeface="Space Grotesk" pitchFamily="34" charset="0"/>
                <a:ea typeface="Space Grotesk" pitchFamily="34" charset="-122"/>
                <a:cs typeface="Space Grotesk" pitchFamily="34" charset="-120"/>
              </a:rPr>
              <a:t>Your teacher-code index.html renders because of this.</a:t>
            </a:r>
            <a:endParaRPr lang="en-US" sz="1300" dirty="0"/>
          </a:p>
        </p:txBody>
      </p:sp>
      <p:sp>
        <p:nvSpPr>
          <p:cNvPr id="9" name="Shape 6"/>
          <p:cNvSpPr/>
          <p:nvPr/>
        </p:nvSpPr>
        <p:spPr>
          <a:xfrm>
            <a:off x="6191213" y="4451350"/>
            <a:ext cx="5181588" cy="1257300"/>
          </a:xfrm>
          <a:prstGeom prst="roundRect">
            <a:avLst>
              <a:gd name="adj" fmla="val 7576"/>
            </a:avLst>
          </a:prstGeom>
          <a:solidFill>
            <a:srgbClr val="FDFCF8"/>
          </a:solidFill>
          <a:ln w="12700">
            <a:solidFill>
              <a:srgbClr val="DDD8CA"/>
            </a:solidFill>
            <a:prstDash val="solid"/>
          </a:ln>
        </p:spPr>
      </p:sp>
      <p:sp>
        <p:nvSpPr>
          <p:cNvPr id="10" name="Text 7"/>
          <p:cNvSpPr/>
          <p:nvPr/>
        </p:nvSpPr>
        <p:spPr>
          <a:xfrm>
            <a:off x="6399919" y="4814652"/>
            <a:ext cx="4907100" cy="274253"/>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A1F2B"/>
                </a:solidFill>
                <a:latin typeface="Space Grotesk" pitchFamily="34" charset="0"/>
                <a:ea typeface="Space Grotesk" pitchFamily="34" charset="-122"/>
                <a:cs typeface="Space Grotesk" pitchFamily="34" charset="-120"/>
              </a:rPr>
              <a:t>Object or array → JSON</a:t>
            </a:r>
            <a:endParaRPr lang="en-US" sz="1400" dirty="0"/>
          </a:p>
        </p:txBody>
      </p:sp>
      <p:sp>
        <p:nvSpPr>
          <p:cNvPr id="11" name="Text 8"/>
          <p:cNvSpPr/>
          <p:nvPr/>
        </p:nvSpPr>
        <p:spPr>
          <a:xfrm>
            <a:off x="6399919" y="5114292"/>
            <a:ext cx="4907100"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C5566"/>
                </a:solidFill>
                <a:latin typeface="Space Grotesk" pitchFamily="34" charset="0"/>
                <a:ea typeface="Space Grotesk" pitchFamily="34" charset="-122"/>
                <a:cs typeface="Space Grotesk" pitchFamily="34" charset="-120"/>
              </a:rPr>
              <a:t>send() hands it to res.json() for you.</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RES.JSON(), RES.STATUS(), RES.SENDSTATUS()</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Data plus a status code that tells the truth</a:t>
            </a:r>
            <a:endParaRPr lang="en-US" sz="2800" dirty="0"/>
          </a:p>
        </p:txBody>
      </p:sp>
      <p:sp>
        <p:nvSpPr>
          <p:cNvPr id="4" name="Shape 2"/>
          <p:cNvSpPr/>
          <p:nvPr/>
        </p:nvSpPr>
        <p:spPr>
          <a:xfrm>
            <a:off x="812788" y="1696641"/>
            <a:ext cx="5588000" cy="3617392"/>
          </a:xfrm>
          <a:prstGeom prst="roundRect">
            <a:avLst>
              <a:gd name="adj" fmla="val 2809"/>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99768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'/api/products/:id'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 = products.</a:t>
            </a:r>
            <a:r>
              <a:rPr lang="en-US" sz="1200" dirty="0">
                <a:solidFill>
                  <a:srgbClr val="82AAFF"/>
                </a:solidFill>
                <a:latin typeface="JetBrains Mono" pitchFamily="49" charset="0"/>
                <a:ea typeface="JetBrains Mono" pitchFamily="49" charset="-122"/>
                <a:cs typeface="JetBrains Mono" pitchFamily="49" charset="-120"/>
              </a:rPr>
              <a:t>find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x =&gt; x.id === </a:t>
            </a:r>
            <a:r>
              <a:rPr lang="en-US" sz="1200" dirty="0">
                <a:solidFill>
                  <a:srgbClr val="82AAFF"/>
                </a:solidFill>
                <a:latin typeface="JetBrains Mono" pitchFamily="49" charset="0"/>
                <a:ea typeface="JetBrains Mono" pitchFamily="49" charset="-122"/>
                <a:cs typeface="JetBrains Mono" pitchFamily="49" charset="-120"/>
              </a:rPr>
              <a:t>Number</a:t>
            </a:r>
            <a:r>
              <a:rPr lang="en-US" sz="1200" dirty="0">
                <a:solidFill>
                  <a:srgbClr val="E6E1D6"/>
                </a:solidFill>
                <a:latin typeface="JetBrains Mono" pitchFamily="49" charset="0"/>
                <a:ea typeface="JetBrains Mono" pitchFamily="49" charset="-122"/>
                <a:cs typeface="JetBrains Mono" pitchFamily="49" charset="-120"/>
              </a:rPr>
              <a:t>(req.params.id));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(!p)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return</a:t>
            </a: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404</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 error: </a:t>
            </a:r>
            <a:r>
              <a:rPr lang="en-US" sz="1200" dirty="0">
                <a:solidFill>
                  <a:srgbClr val="C3E88D"/>
                </a:solidFill>
                <a:latin typeface="JetBrains Mono" pitchFamily="49" charset="0"/>
                <a:ea typeface="JetBrains Mono" pitchFamily="49" charset="-122"/>
                <a:cs typeface="JetBrains Mono" pitchFamily="49" charset="-120"/>
              </a:rPr>
              <a:t>'Product not found'</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(p); </a:t>
            </a:r>
            <a:r>
              <a:rPr lang="en-US" sz="1200" dirty="0">
                <a:solidFill>
                  <a:srgbClr val="7F8796"/>
                </a:solidFill>
                <a:latin typeface="JetBrains Mono" pitchFamily="49" charset="0"/>
                <a:ea typeface="JetBrains Mono" pitchFamily="49" charset="-122"/>
                <a:cs typeface="JetBrains Mono" pitchFamily="49" charset="-120"/>
              </a:rPr>
              <a:t>// status 200 by default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delete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'/api/products/:id'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 res) =&gt; res.</a:t>
            </a:r>
            <a:r>
              <a:rPr lang="en-US" sz="1200" dirty="0">
                <a:solidFill>
                  <a:srgbClr val="82AAFF"/>
                </a:solidFill>
                <a:latin typeface="JetBrains Mono" pitchFamily="49" charset="0"/>
                <a:ea typeface="JetBrains Mono" pitchFamily="49" charset="-122"/>
                <a:cs typeface="JetBrains Mono" pitchFamily="49" charset="-120"/>
              </a:rPr>
              <a:t>sendStatus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204</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status() alone sends nothing: chain it!</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694"/>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localhost:11000/api/products/99</a:t>
            </a:r>
            <a:endParaRPr lang="en-US" sz="1200" dirty="0"/>
          </a:p>
        </p:txBody>
      </p:sp>
      <p:sp>
        <p:nvSpPr>
          <p:cNvPr id="13" name="Text 11"/>
          <p:cNvSpPr/>
          <p:nvPr/>
        </p:nvSpPr>
        <p:spPr>
          <a:xfrm>
            <a:off x="6819057" y="2307890"/>
            <a:ext cx="447538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{"error":"Product not found"}</a:t>
            </a:r>
            <a:endParaRPr lang="en-US" sz="1400" dirty="0"/>
          </a:p>
        </p:txBody>
      </p:sp>
      <p:sp>
        <p:nvSpPr>
          <p:cNvPr id="14" name="Text 12"/>
          <p:cNvSpPr/>
          <p:nvPr/>
        </p:nvSpPr>
        <p:spPr>
          <a:xfrm>
            <a:off x="6819057" y="2632894"/>
            <a:ext cx="4475388"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62A"/>
                </a:solidFill>
                <a:latin typeface="Space Grotesk" pitchFamily="34" charset="0"/>
                <a:ea typeface="Space Grotesk" pitchFamily="34" charset="-122"/>
                <a:cs typeface="Space Grotesk" pitchFamily="34" charset="-120"/>
              </a:rPr>
              <a:t>Network tab: 404 Not Found</a:t>
            </a:r>
            <a:endParaRPr lang="en-US" sz="1200" dirty="0"/>
          </a:p>
        </p:txBody>
      </p:sp>
      <p:sp>
        <p:nvSpPr>
          <p:cNvPr id="15" name="Shape 13"/>
          <p:cNvSpPr/>
          <p:nvPr/>
        </p:nvSpPr>
        <p:spPr>
          <a:xfrm>
            <a:off x="6610350" y="3740138"/>
            <a:ext cx="4762450" cy="2298663"/>
          </a:xfrm>
          <a:prstGeom prst="roundRect">
            <a:avLst>
              <a:gd name="adj" fmla="val 4144"/>
            </a:avLst>
          </a:prstGeom>
          <a:solidFill>
            <a:srgbClr val="FDFCF8"/>
          </a:solidFill>
          <a:ln w="12700">
            <a:solidFill>
              <a:srgbClr val="D5D1C4"/>
            </a:solidFill>
            <a:prstDash val="solid"/>
          </a:ln>
        </p:spPr>
      </p:sp>
      <p:sp>
        <p:nvSpPr>
          <p:cNvPr id="16" name="Text 14"/>
          <p:cNvSpPr/>
          <p:nvPr/>
        </p:nvSpPr>
        <p:spPr>
          <a:xfrm>
            <a:off x="6793694" y="3898057"/>
            <a:ext cx="4527636" cy="225264"/>
          </a:xfrm>
          <a:prstGeom prst="rect">
            <a:avLst/>
          </a:prstGeom>
          <a:noFill/>
          <a:ln/>
        </p:spPr>
        <p:txBody>
          <a:bodyPr wrap="square" lIns="0" tIns="0" rIns="0" bIns="0" rtlCol="0" anchor="t">
            <a:normAutofit/>
          </a:bodyPr>
          <a:lstStyle/>
          <a:p>
            <a:pPr algn="l" indent="0" marL="0">
              <a:lnSpc>
                <a:spcPts val="1575"/>
              </a:lnSpc>
              <a:buNone/>
            </a:pPr>
            <a:r>
              <a:rPr lang="en-US" sz="1125" b="1" spc="100" kern="0" dirty="0">
                <a:solidFill>
                  <a:srgbClr val="4C5566"/>
                </a:solidFill>
                <a:latin typeface="Space Grotesk" pitchFamily="34" charset="0"/>
                <a:ea typeface="Space Grotesk" pitchFamily="34" charset="-122"/>
                <a:cs typeface="Space Grotesk" pitchFamily="34" charset="-120"/>
              </a:rPr>
              <a:t>STATUS CODES YOU WILL USE</a:t>
            </a:r>
            <a:endParaRPr lang="en-US" sz="1125"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05600" y="4173327"/>
          <a:ext cx="4383856" cy="1247428"/>
        </p:xfrm>
        <a:graphic>
          <a:graphicData uri="http://schemas.openxmlformats.org/drawingml/2006/table">
            <a:tbl>
              <a:tblPr/>
              <a:tblGrid>
                <a:gridCol w="2191928"/>
                <a:gridCol w="2191928"/>
              </a:tblGrid>
              <a:tr h="311857">
                <a:tc>
                  <a:txBody>
                    <a:bodyPr/>
                    <a:lstStyle/>
                    <a:p>
                      <a:pPr indent="0" marL="0">
                        <a:lnSpc>
                          <a:spcPts val="1575"/>
                        </a:lnSpc>
                        <a:buNone/>
                      </a:pPr>
                      <a:r>
                        <a:rPr lang="en-US" sz="1125" dirty="0">
                          <a:solidFill>
                            <a:srgbClr val="1A1F2B"/>
                          </a:solidFill>
                          <a:latin typeface="JetBrains Mono" pitchFamily="49" charset="0"/>
                          <a:ea typeface="JetBrains Mono" pitchFamily="49" charset="-122"/>
                          <a:cs typeface="JetBrains Mono" pitchFamily="49" charset="-120"/>
                        </a:rPr>
                        <a:t>200 OK</a:t>
                      </a:r>
                      <a:endParaRPr lang="en-US" sz="1125" dirty="0">
                        <a:latin typeface="JetBrains Mono" charset="0"/>
                        <a:ea typeface="JetBrains Mono" charset="0"/>
                        <a:cs typeface="JetBrains Mono" charset="0"/>
                      </a:endParaRPr>
                    </a:p>
                  </a:txBody>
                  <a:tcPr marL="50006" marR="50006" marT="50006" marB="50006"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575"/>
                        </a:lnSpc>
                        <a:buNone/>
                      </a:pPr>
                      <a:r>
                        <a:rPr lang="en-US" sz="1125" dirty="0">
                          <a:solidFill>
                            <a:srgbClr val="1A1F2B"/>
                          </a:solidFill>
                          <a:latin typeface="JetBrains Mono" pitchFamily="49" charset="0"/>
                          <a:ea typeface="JetBrains Mono" pitchFamily="49" charset="-122"/>
                          <a:cs typeface="JetBrains Mono" pitchFamily="49" charset="-120"/>
                        </a:rPr>
                        <a:t>201 Created</a:t>
                      </a:r>
                      <a:endParaRPr lang="en-US" sz="1125" dirty="0">
                        <a:latin typeface="JetBrains Mono" charset="0"/>
                        <a:ea typeface="JetBrains Mono" charset="0"/>
                        <a:cs typeface="JetBrains Mono" charset="0"/>
                      </a:endParaRPr>
                    </a:p>
                  </a:txBody>
                  <a:tcPr marL="50006" marR="50006" marT="50006" marB="50006"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11857">
                <a:tc>
                  <a:txBody>
                    <a:bodyPr/>
                    <a:lstStyle/>
                    <a:p>
                      <a:pPr indent="0" marL="0">
                        <a:lnSpc>
                          <a:spcPts val="1575"/>
                        </a:lnSpc>
                        <a:buNone/>
                      </a:pPr>
                      <a:r>
                        <a:rPr lang="en-US" sz="1125" dirty="0">
                          <a:solidFill>
                            <a:srgbClr val="1A1F2B"/>
                          </a:solidFill>
                          <a:latin typeface="JetBrains Mono" pitchFamily="49" charset="0"/>
                          <a:ea typeface="JetBrains Mono" pitchFamily="49" charset="-122"/>
                          <a:cs typeface="JetBrains Mono" pitchFamily="49" charset="-120"/>
                        </a:rPr>
                        <a:t>204 No Content</a:t>
                      </a:r>
                      <a:endParaRPr lang="en-US" sz="1125" dirty="0">
                        <a:latin typeface="JetBrains Mono" charset="0"/>
                        <a:ea typeface="JetBrains Mono" charset="0"/>
                        <a:cs typeface="JetBrains Mono" charset="0"/>
                      </a:endParaRPr>
                    </a:p>
                  </a:txBody>
                  <a:tcPr marL="50006" marR="50006" marT="50006" marB="50006"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575"/>
                        </a:lnSpc>
                        <a:buNone/>
                      </a:pPr>
                      <a:r>
                        <a:rPr lang="en-US" sz="1125" dirty="0">
                          <a:solidFill>
                            <a:srgbClr val="1A1F2B"/>
                          </a:solidFill>
                          <a:latin typeface="JetBrains Mono" pitchFamily="49" charset="0"/>
                          <a:ea typeface="JetBrains Mono" pitchFamily="49" charset="-122"/>
                          <a:cs typeface="JetBrains Mono" pitchFamily="49" charset="-120"/>
                        </a:rPr>
                        <a:t>400 Bad Request</a:t>
                      </a:r>
                      <a:endParaRPr lang="en-US" sz="1125" dirty="0">
                        <a:latin typeface="JetBrains Mono" charset="0"/>
                        <a:ea typeface="JetBrains Mono" charset="0"/>
                        <a:cs typeface="JetBrains Mono" charset="0"/>
                      </a:endParaRPr>
                    </a:p>
                  </a:txBody>
                  <a:tcPr marL="50006" marR="50006" marT="50006" marB="50006"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11857">
                <a:tc>
                  <a:txBody>
                    <a:bodyPr/>
                    <a:lstStyle/>
                    <a:p>
                      <a:pPr indent="0" marL="0">
                        <a:lnSpc>
                          <a:spcPts val="1575"/>
                        </a:lnSpc>
                        <a:buNone/>
                      </a:pPr>
                      <a:r>
                        <a:rPr lang="en-US" sz="1125" dirty="0">
                          <a:solidFill>
                            <a:srgbClr val="1A1F2B"/>
                          </a:solidFill>
                          <a:latin typeface="JetBrains Mono" pitchFamily="49" charset="0"/>
                          <a:ea typeface="JetBrains Mono" pitchFamily="49" charset="-122"/>
                          <a:cs typeface="JetBrains Mono" pitchFamily="49" charset="-120"/>
                        </a:rPr>
                        <a:t>401 Unauthorized</a:t>
                      </a:r>
                      <a:endParaRPr lang="en-US" sz="1125" dirty="0">
                        <a:latin typeface="JetBrains Mono" charset="0"/>
                        <a:ea typeface="JetBrains Mono" charset="0"/>
                        <a:cs typeface="JetBrains Mono" charset="0"/>
                      </a:endParaRPr>
                    </a:p>
                  </a:txBody>
                  <a:tcPr marL="50006" marR="50006" marT="50006" marB="50006"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575"/>
                        </a:lnSpc>
                        <a:buNone/>
                      </a:pPr>
                      <a:r>
                        <a:rPr lang="en-US" sz="1125" dirty="0">
                          <a:solidFill>
                            <a:srgbClr val="1A1F2B"/>
                          </a:solidFill>
                          <a:latin typeface="JetBrains Mono" pitchFamily="49" charset="0"/>
                          <a:ea typeface="JetBrains Mono" pitchFamily="49" charset="-122"/>
                          <a:cs typeface="JetBrains Mono" pitchFamily="49" charset="-120"/>
                        </a:rPr>
                        <a:t>404 Not Found</a:t>
                      </a:r>
                      <a:endParaRPr lang="en-US" sz="1125" dirty="0">
                        <a:latin typeface="JetBrains Mono" charset="0"/>
                        <a:ea typeface="JetBrains Mono" charset="0"/>
                        <a:cs typeface="JetBrains Mono" charset="0"/>
                      </a:endParaRPr>
                    </a:p>
                  </a:txBody>
                  <a:tcPr marL="50006" marR="50006" marT="50006" marB="50006"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11857">
                <a:tc>
                  <a:txBody>
                    <a:bodyPr/>
                    <a:lstStyle/>
                    <a:p>
                      <a:pPr indent="0" marL="0">
                        <a:lnSpc>
                          <a:spcPts val="1575"/>
                        </a:lnSpc>
                        <a:buNone/>
                      </a:pPr>
                      <a:r>
                        <a:rPr lang="en-US" sz="1125" dirty="0">
                          <a:solidFill>
                            <a:srgbClr val="1A1F2B"/>
                          </a:solidFill>
                          <a:latin typeface="JetBrains Mono" pitchFamily="49" charset="0"/>
                          <a:ea typeface="JetBrains Mono" pitchFamily="49" charset="-122"/>
                          <a:cs typeface="JetBrains Mono" pitchFamily="49" charset="-120"/>
                        </a:rPr>
                        <a:t>500 Server Error</a:t>
                      </a:r>
                      <a:endParaRPr lang="en-US" sz="1125" dirty="0">
                        <a:latin typeface="JetBrains Mono" charset="0"/>
                        <a:ea typeface="JetBrains Mono" charset="0"/>
                        <a:cs typeface="JetBrains Mono" charset="0"/>
                      </a:endParaRPr>
                    </a:p>
                  </a:txBody>
                  <a:tcPr marL="50006" marR="50006" marT="50006" marB="50006"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575"/>
                        </a:lnSpc>
                        <a:buNone/>
                      </a:pPr>
                      <a:r>
                        <a:rPr lang="en-US" sz="1125" dirty="0">
                          <a:solidFill>
                            <a:srgbClr val="1A1F2B"/>
                          </a:solidFill>
                          <a:latin typeface="JetBrains Mono" pitchFamily="49" charset="0"/>
                          <a:ea typeface="JetBrains Mono" pitchFamily="49" charset="-122"/>
                          <a:cs typeface="JetBrains Mono" pitchFamily="49" charset="-120"/>
                        </a:rPr>
                        <a:t>302 Redirect</a:t>
                      </a:r>
                      <a:endParaRPr lang="en-US" sz="1125" dirty="0">
                        <a:latin typeface="JetBrains Mono" charset="0"/>
                        <a:ea typeface="JetBrains Mono" charset="0"/>
                        <a:cs typeface="JetBrains Mono" charset="0"/>
                      </a:endParaRPr>
                    </a:p>
                  </a:txBody>
                  <a:tcPr marL="50006" marR="50006" marT="50006" marB="50006"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18" name="Text 15"/>
          <p:cNvSpPr/>
          <p:nvPr/>
        </p:nvSpPr>
        <p:spPr>
          <a:xfrm>
            <a:off x="6793694" y="5481030"/>
            <a:ext cx="4572757" cy="425252"/>
          </a:xfrm>
          <a:prstGeom prst="rect">
            <a:avLst/>
          </a:prstGeom>
          <a:noFill/>
          <a:ln/>
        </p:spPr>
        <p:txBody>
          <a:bodyPr wrap="square" lIns="0" tIns="0" rIns="0" bIns="0" rtlCol="0" anchor="t">
            <a:normAutofit/>
          </a:bodyPr>
          <a:lstStyle/>
          <a:p>
            <a:pPr algn="l" indent="0" marL="0">
              <a:lnSpc>
                <a:spcPts val="1633"/>
              </a:lnSpc>
              <a:buNone/>
            </a:pPr>
            <a:r>
              <a:rPr lang="en-US" sz="1166" dirty="0">
                <a:solidFill>
                  <a:srgbClr val="4C5566"/>
                </a:solidFill>
                <a:latin typeface="Space Grotesk" pitchFamily="34" charset="0"/>
                <a:ea typeface="Space Grotesk" pitchFamily="34" charset="-122"/>
                <a:cs typeface="Space Grotesk" pitchFamily="34" charset="-120"/>
              </a:rPr>
              <a:t>sendStatus(401) sends the word “Unauthorized” as the body.</a:t>
            </a:r>
            <a:endParaRPr lang="en-US" sz="1166"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RES.SENDFILE()</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Send a file without reading it yourself</a:t>
            </a:r>
            <a:endParaRPr lang="en-US" sz="2800" dirty="0"/>
          </a:p>
        </p:txBody>
      </p:sp>
      <p:sp>
        <p:nvSpPr>
          <p:cNvPr id="4" name="Shape 2"/>
          <p:cNvSpPr/>
          <p:nvPr/>
        </p:nvSpPr>
        <p:spPr>
          <a:xfrm>
            <a:off x="812788" y="1696641"/>
            <a:ext cx="5588000" cy="3617392"/>
          </a:xfrm>
          <a:prstGeom prst="roundRect">
            <a:avLst>
              <a:gd name="adj" fmla="val 2809"/>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99768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before: read once, send the string</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const data = fs.readFileSync(...)</a:t>
            </a:r>
            <a:endParaRPr lang="en-US" sz="1200" dirty="0"/>
          </a:p>
          <a:p>
            <a:pPr algn="l" indent="0" marL="0">
              <a:lnSpc>
                <a:spcPts val="1800"/>
              </a:lnSpc>
              <a:buNone/>
            </a:pP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path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'path'</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sendFile</a:t>
            </a:r>
            <a:r>
              <a:rPr lang="en-US" sz="1200" dirty="0">
                <a:solidFill>
                  <a:srgbClr val="E6E1D6"/>
                </a:solidFill>
                <a:latin typeface="JetBrains Mono" pitchFamily="49" charset="0"/>
                <a:ea typeface="JetBrains Mono" pitchFamily="49" charset="-122"/>
                <a:cs typeface="JetBrains Mono" pitchFamily="49" charset="-120"/>
              </a:rPr>
              <a:t>(path.</a:t>
            </a:r>
            <a:r>
              <a:rPr lang="en-US" sz="1200" dirty="0">
                <a:solidFill>
                  <a:srgbClr val="82AAFF"/>
                </a:solidFill>
                <a:latin typeface="JetBrains Mono" pitchFamily="49" charset="0"/>
                <a:ea typeface="JetBrains Mono" pitchFamily="49" charset="-122"/>
                <a:cs typeface="JetBrains Mono" pitchFamily="49" charset="-120"/>
              </a:rPr>
              <a:t>join</a:t>
            </a:r>
            <a:r>
              <a:rPr lang="en-US" sz="1200" dirty="0">
                <a:solidFill>
                  <a:srgbClr val="E6E1D6"/>
                </a:solidFill>
                <a:latin typeface="JetBrains Mono" pitchFamily="49" charset="0"/>
                <a:ea typeface="JetBrains Mono" pitchFamily="49" charset="-122"/>
                <a:cs typeface="JetBrains Mono" pitchFamily="49" charset="-120"/>
              </a:rPr>
              <a:t>(__dirname, </a:t>
            </a:r>
            <a:r>
              <a:rPr lang="en-US" sz="1200" dirty="0">
                <a:solidFill>
                  <a:srgbClr val="C3E88D"/>
                </a:solidFill>
                <a:latin typeface="JetBrains Mono" pitchFamily="49" charset="0"/>
                <a:ea typeface="JetBrains Mono" pitchFamily="49" charset="-122"/>
                <a:cs typeface="JetBrains Mono" pitchFamily="49" charset="-120"/>
              </a:rPr>
              <a:t>'index.html'</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F0A15E"/>
                </a:solidFill>
                <a:latin typeface="JetBrains Mono" pitchFamily="49" charset="0"/>
                <a:ea typeface="JetBrains Mono" pitchFamily="49" charset="-122"/>
                <a:cs typeface="JetBrains Mono" pitchFamily="49" charset="-120"/>
              </a:rPr>
              <a:t>// ✗ relative path</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res.</a:t>
            </a:r>
            <a:r>
              <a:rPr lang="en-US" sz="1200" dirty="0">
                <a:solidFill>
                  <a:srgbClr val="82AAFF"/>
                </a:solidFill>
                <a:latin typeface="JetBrains Mono" pitchFamily="49" charset="0"/>
                <a:ea typeface="JetBrains Mono" pitchFamily="49" charset="-122"/>
                <a:cs typeface="JetBrains Mono" pitchFamily="49" charset="-120"/>
              </a:rPr>
              <a:t>sendFile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'index.html'</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BD88F"/>
                </a:solidFill>
                <a:latin typeface="JetBrains Mono" pitchFamily="49" charset="0"/>
                <a:ea typeface="JetBrains Mono" pitchFamily="49" charset="-122"/>
                <a:cs typeface="JetBrains Mono" pitchFamily="49" charset="-120"/>
              </a:rPr>
              <a:t>// ✓ or give a root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res.</a:t>
            </a:r>
            <a:r>
              <a:rPr lang="en-US" sz="1200" dirty="0">
                <a:solidFill>
                  <a:srgbClr val="82AAFF"/>
                </a:solidFill>
                <a:latin typeface="JetBrains Mono" pitchFamily="49" charset="0"/>
                <a:ea typeface="JetBrains Mono" pitchFamily="49" charset="-122"/>
                <a:cs typeface="JetBrains Mono" pitchFamily="49" charset="-120"/>
              </a:rPr>
              <a:t>sendFile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'index.html'</a:t>
            </a:r>
            <a:r>
              <a:rPr lang="en-US" sz="1200" dirty="0">
                <a:solidFill>
                  <a:srgbClr val="E6E1D6"/>
                </a:solidFill>
                <a:latin typeface="JetBrains Mono" pitchFamily="49" charset="0"/>
                <a:ea typeface="JetBrains Mono" pitchFamily="49" charset="-122"/>
                <a:cs typeface="JetBrains Mono" pitchFamily="49" charset="-120"/>
              </a:rPr>
              <a:t>, { root: __dirname });</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Text 6"/>
          <p:cNvSpPr/>
          <p:nvPr/>
        </p:nvSpPr>
        <p:spPr>
          <a:xfrm>
            <a:off x="6793694" y="1866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D6"/>
                </a:solidFill>
                <a:latin typeface="Space Grotesk" pitchFamily="34" charset="0"/>
                <a:ea typeface="Space Grotesk" pitchFamily="34" charset="-122"/>
                <a:cs typeface="Space Grotesk" pitchFamily="34" charset="-120"/>
              </a:rPr>
              <a:t>WHY IT’S BETTER</a:t>
            </a:r>
            <a:endParaRPr lang="en-US" sz="1200" dirty="0"/>
          </a:p>
        </p:txBody>
      </p:sp>
      <p:sp>
        <p:nvSpPr>
          <p:cNvPr id="9" name="Text 7"/>
          <p:cNvSpPr/>
          <p:nvPr/>
        </p:nvSpPr>
        <p:spPr>
          <a:xfrm>
            <a:off x="6793694" y="2155589"/>
            <a:ext cx="4527636" cy="48751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Space Grotesk" pitchFamily="34" charset="0"/>
                <a:ea typeface="Space Grotesk" pitchFamily="34" charset="-122"/>
                <a:cs typeface="Space Grotesk" pitchFamily="34" charset="-120"/>
              </a:rPr>
              <a:t>Reads the file on each request, so edits show on refresh.</a:t>
            </a:r>
            <a:endParaRPr lang="en-US" sz="1300" dirty="0"/>
          </a:p>
        </p:txBody>
      </p:sp>
      <p:sp>
        <p:nvSpPr>
          <p:cNvPr id="10" name="Text 8"/>
          <p:cNvSpPr/>
          <p:nvPr/>
        </p:nvSpPr>
        <p:spPr>
          <a:xfrm>
            <a:off x="6793694" y="2693851"/>
            <a:ext cx="4527636" cy="48751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Space Grotesk" pitchFamily="34" charset="0"/>
                <a:ea typeface="Space Grotesk" pitchFamily="34" charset="-122"/>
                <a:cs typeface="Space Grotesk" pitchFamily="34" charset="-120"/>
              </a:rPr>
              <a:t>Sets Content-Type from the extension: .html, .png, .pdf.</a:t>
            </a:r>
            <a:endParaRPr lang="en-US" sz="1300" dirty="0"/>
          </a:p>
        </p:txBody>
      </p:sp>
      <p:sp>
        <p:nvSpPr>
          <p:cNvPr id="11" name="Shape 9"/>
          <p:cNvSpPr/>
          <p:nvPr/>
        </p:nvSpPr>
        <p:spPr>
          <a:xfrm>
            <a:off x="6604000" y="3733788"/>
            <a:ext cx="4775150" cy="2311363"/>
          </a:xfrm>
          <a:prstGeom prst="roundRect">
            <a:avLst>
              <a:gd name="adj" fmla="val 4396"/>
            </a:avLst>
          </a:prstGeom>
          <a:solidFill>
            <a:srgbClr val="0E1117"/>
          </a:solidFill>
          <a:ln/>
        </p:spPr>
      </p:sp>
      <p:sp>
        <p:nvSpPr>
          <p:cNvPr id="12" name="Text 10"/>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 · THE ✗ LINE</a:t>
            </a:r>
            <a:endParaRPr lang="en-US" sz="1200" dirty="0"/>
          </a:p>
        </p:txBody>
      </p:sp>
      <p:sp>
        <p:nvSpPr>
          <p:cNvPr id="13" name="Text 11"/>
          <p:cNvSpPr/>
          <p:nvPr/>
        </p:nvSpPr>
        <p:spPr>
          <a:xfrm>
            <a:off x="6781788" y="4175683"/>
            <a:ext cx="4552162"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8A80"/>
                </a:solidFill>
                <a:latin typeface="JetBrains Mono" pitchFamily="49" charset="0"/>
                <a:ea typeface="JetBrains Mono" pitchFamily="49" charset="-122"/>
                <a:cs typeface="JetBrains Mono" pitchFamily="49" charset="-120"/>
              </a:rPr>
              <a:t>TypeError: path must be absolute or specify root to res.sendFile</a:t>
            </a:r>
            <a:endParaRPr lang="en-US" sz="1200" dirty="0"/>
          </a:p>
        </p:txBody>
      </p:sp>
      <p:sp>
        <p:nvSpPr>
          <p:cNvPr id="14" name="Text 12"/>
          <p:cNvSpPr/>
          <p:nvPr/>
        </p:nvSpPr>
        <p:spPr>
          <a:xfrm>
            <a:off x="6781788" y="4709108"/>
            <a:ext cx="4552162"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__dirname is the folder that holds server.js.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RES.REDIRECT() AND RES.DOWNLOAD()</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Send the browser elsewhere, or save a file</a:t>
            </a:r>
            <a:endParaRPr lang="en-US" sz="2800" dirty="0"/>
          </a:p>
        </p:txBody>
      </p:sp>
      <p:sp>
        <p:nvSpPr>
          <p:cNvPr id="4" name="Shape 2"/>
          <p:cNvSpPr/>
          <p:nvPr/>
        </p:nvSpPr>
        <p:spPr>
          <a:xfrm>
            <a:off x="812788" y="1696641"/>
            <a:ext cx="5588000" cy="3617392"/>
          </a:xfrm>
          <a:prstGeom prst="roundRect">
            <a:avLst>
              <a:gd name="adj" fmla="val 2809"/>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99768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'/shop'</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redirect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302</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'/old-products'</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redirect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301</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moved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'/products/:id/image'</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 = </a:t>
            </a:r>
            <a:r>
              <a:rPr lang="en-US" sz="1200" dirty="0">
                <a:solidFill>
                  <a:srgbClr val="82AAFF"/>
                </a:solidFill>
                <a:latin typeface="JetBrains Mono" pitchFamily="49" charset="0"/>
                <a:ea typeface="JetBrains Mono" pitchFamily="49" charset="-122"/>
                <a:cs typeface="JetBrains Mono" pitchFamily="49" charset="-120"/>
              </a:rPr>
              <a:t>findProduct</a:t>
            </a:r>
            <a:r>
              <a:rPr lang="en-US" sz="1200" dirty="0">
                <a:solidFill>
                  <a:srgbClr val="E6E1D6"/>
                </a:solidFill>
                <a:latin typeface="JetBrains Mono" pitchFamily="49" charset="0"/>
                <a:ea typeface="JetBrains Mono" pitchFamily="49" charset="-122"/>
                <a:cs typeface="JetBrains Mono" pitchFamily="49" charset="-120"/>
              </a:rPr>
              <a:t>(req.params.id);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redirect</a:t>
            </a:r>
            <a:r>
              <a:rPr lang="en-US" sz="1200" dirty="0">
                <a:solidFill>
                  <a:srgbClr val="E6E1D6"/>
                </a:solidFill>
                <a:latin typeface="JetBrains Mono" pitchFamily="49" charset="0"/>
                <a:ea typeface="JetBrains Mono" pitchFamily="49" charset="-122"/>
                <a:cs typeface="JetBrains Mono" pitchFamily="49" charset="-120"/>
              </a:rPr>
              <a:t>(p.image); </a:t>
            </a:r>
            <a:r>
              <a:rPr lang="en-US" sz="1200" dirty="0">
                <a:solidFill>
                  <a:srgbClr val="7F8796"/>
                </a:solidFill>
                <a:latin typeface="JetBrains Mono" pitchFamily="49" charset="0"/>
                <a:ea typeface="JetBrains Mono" pitchFamily="49" charset="-122"/>
                <a:cs typeface="JetBrains Mono" pitchFamily="49" charset="-120"/>
              </a:rPr>
              <a:t>// another site</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'/invoice'</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download</a:t>
            </a:r>
            <a:r>
              <a:rPr lang="en-US" sz="1200" dirty="0">
                <a:solidFill>
                  <a:srgbClr val="E6E1D6"/>
                </a:solidFill>
                <a:latin typeface="JetBrains Mono" pitchFamily="49" charset="0"/>
                <a:ea typeface="JetBrains Mono" pitchFamily="49" charset="-122"/>
                <a:cs typeface="JetBrains Mono" pitchFamily="49" charset="-120"/>
              </a:rPr>
              <a:t>(path.</a:t>
            </a:r>
            <a:r>
              <a:rPr lang="en-US" sz="1200" dirty="0">
                <a:solidFill>
                  <a:srgbClr val="82AAFF"/>
                </a:solidFill>
                <a:latin typeface="JetBrains Mono" pitchFamily="49" charset="0"/>
                <a:ea typeface="JetBrains Mono" pitchFamily="49" charset="-122"/>
                <a:cs typeface="JetBrains Mono" pitchFamily="49" charset="-120"/>
              </a:rPr>
              <a:t>join</a:t>
            </a:r>
            <a:r>
              <a:rPr lang="en-US" sz="1200" dirty="0">
                <a:solidFill>
                  <a:srgbClr val="E6E1D6"/>
                </a:solidFill>
                <a:latin typeface="JetBrains Mono" pitchFamily="49" charset="0"/>
                <a:ea typeface="JetBrains Mono" pitchFamily="49" charset="-122"/>
                <a:cs typeface="JetBrains Mono" pitchFamily="49" charset="-120"/>
              </a:rPr>
              <a:t>(__dirname, </a:t>
            </a:r>
            <a:r>
              <a:rPr lang="en-US" sz="1200" dirty="0">
                <a:solidFill>
                  <a:srgbClr val="C3E88D"/>
                </a:solidFill>
                <a:latin typeface="JetBrains Mono" pitchFamily="49" charset="0"/>
                <a:ea typeface="JetBrains Mono" pitchFamily="49" charset="-122"/>
                <a:cs typeface="JetBrains Mono" pitchFamily="49" charset="-120"/>
              </a:rPr>
              <a:t>'invoice.pdf'</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38"/>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694"/>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/shop → localhost:11000/products</a:t>
            </a:r>
            <a:endParaRPr lang="en-US" sz="1200" dirty="0"/>
          </a:p>
        </p:txBody>
      </p:sp>
      <p:sp>
        <p:nvSpPr>
          <p:cNvPr id="13" name="Text 11"/>
          <p:cNvSpPr/>
          <p:nvPr/>
        </p:nvSpPr>
        <p:spPr>
          <a:xfrm>
            <a:off x="6819057" y="2307890"/>
            <a:ext cx="4475388" cy="48751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Space Grotesk" pitchFamily="34" charset="0"/>
                <a:ea typeface="Space Grotesk" pitchFamily="34" charset="-122"/>
                <a:cs typeface="Space Grotesk" pitchFamily="34" charset="-120"/>
              </a:rPr>
              <a:t>You typed /shop. The address bar now says /products: the browser made a second request on its own.</a:t>
            </a:r>
            <a:endParaRPr lang="en-US" sz="1300" dirty="0"/>
          </a:p>
        </p:txBody>
      </p:sp>
      <p:sp>
        <p:nvSpPr>
          <p:cNvPr id="14" name="Shape 12"/>
          <p:cNvSpPr/>
          <p:nvPr/>
        </p:nvSpPr>
        <p:spPr>
          <a:xfrm>
            <a:off x="6610350" y="3740138"/>
            <a:ext cx="4762450" cy="2298663"/>
          </a:xfrm>
          <a:prstGeom prst="roundRect">
            <a:avLst>
              <a:gd name="adj" fmla="val 4144"/>
            </a:avLst>
          </a:prstGeom>
          <a:solidFill>
            <a:srgbClr val="FDFCF8"/>
          </a:solidFill>
          <a:ln w="12700">
            <a:solidFill>
              <a:srgbClr val="D5D1C4"/>
            </a:solidFill>
            <a:prstDash val="solid"/>
          </a:ln>
        </p:spPr>
      </p:sp>
      <p:sp>
        <p:nvSpPr>
          <p:cNvPr id="15" name="Text 13"/>
          <p:cNvSpPr/>
          <p:nvPr/>
        </p:nvSpPr>
        <p:spPr>
          <a:xfrm>
            <a:off x="6793694" y="3898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DEVTOOLS › NETWORK</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05600" y="4224920"/>
          <a:ext cx="4383856" cy="1327795"/>
        </p:xfrm>
        <a:graphic>
          <a:graphicData uri="http://schemas.openxmlformats.org/drawingml/2006/table">
            <a:tbl>
              <a:tblPr/>
              <a:tblGrid>
                <a:gridCol w="2191928"/>
                <a:gridCol w="876771"/>
                <a:gridCol w="1315157"/>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Name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Status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Note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shop</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302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Location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200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page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invoice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200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saved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RES.SET(), RES.TYPE(), RES.COOKIE(), RES.END()</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Labels on the envelope, before you seal it</a:t>
            </a:r>
            <a:endParaRPr lang="en-US" sz="2800" dirty="0"/>
          </a:p>
        </p:txBody>
      </p:sp>
      <p:sp>
        <p:nvSpPr>
          <p:cNvPr id="4" name="Shape 2"/>
          <p:cNvSpPr/>
          <p:nvPr/>
        </p:nvSpPr>
        <p:spPr>
          <a:xfrm>
            <a:off x="812788" y="1696641"/>
            <a:ext cx="5588000" cy="3846029"/>
          </a:xfrm>
          <a:prstGeom prst="roundRect">
            <a:avLst>
              <a:gd name="adj" fmla="val 2642"/>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3226321"/>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'/api/products'</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'X-Total-Count'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String</a:t>
            </a:r>
            <a:r>
              <a:rPr lang="en-US" sz="1200" dirty="0">
                <a:solidFill>
                  <a:srgbClr val="E6E1D6"/>
                </a:solidFill>
                <a:latin typeface="JetBrains Mono" pitchFamily="49" charset="0"/>
                <a:ea typeface="JetBrains Mono" pitchFamily="49" charset="-122"/>
                <a:cs typeface="JetBrains Mono" pitchFamily="49" charset="-120"/>
              </a:rPr>
              <a:t>(products.length));</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'Cache-Control'</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'no-store'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cookie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'lastVisit'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(products);</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'/plain'</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type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'text'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'&lt;h1&gt;not rendered&lt;/h1&gt;'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'/logout'</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clearCookie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'lastVisit'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end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04000" y="1701788"/>
            <a:ext cx="4775150" cy="2540000"/>
          </a:xfrm>
          <a:prstGeom prst="roundRect">
            <a:avLst>
              <a:gd name="adj" fmla="val 4000"/>
            </a:avLst>
          </a:prstGeom>
          <a:solidFill>
            <a:srgbClr val="0E1117"/>
          </a:solidFill>
          <a:ln/>
        </p:spPr>
      </p:sp>
      <p:sp>
        <p:nvSpPr>
          <p:cNvPr id="8" name="Text 6"/>
          <p:cNvSpPr/>
          <p:nvPr/>
        </p:nvSpPr>
        <p:spPr>
          <a:xfrm>
            <a:off x="6781788" y="1854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RESPONSE HEADERS · /api/products</a:t>
            </a:r>
            <a:endParaRPr lang="en-US" sz="1200" dirty="0"/>
          </a:p>
        </p:txBody>
      </p:sp>
      <p:sp>
        <p:nvSpPr>
          <p:cNvPr id="9" name="Text 7"/>
          <p:cNvSpPr/>
          <p:nvPr/>
        </p:nvSpPr>
        <p:spPr>
          <a:xfrm>
            <a:off x="6781788" y="2131033"/>
            <a:ext cx="4552162" cy="1397223"/>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HTTP/1.1 200 OK</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X-Powered-By: Express</a:t>
            </a:r>
            <a:endParaRPr lang="en-US" sz="1200" dirty="0"/>
          </a:p>
          <a:p>
            <a:pPr algn="l" indent="0" marL="0">
              <a:lnSpc>
                <a:spcPts val="1800"/>
              </a:lnSpc>
              <a:buNone/>
            </a:pPr>
            <a:r>
              <a:rPr lang="en-US" sz="1200" dirty="0">
                <a:solidFill>
                  <a:srgbClr val="F0A15E"/>
                </a:solidFill>
                <a:latin typeface="JetBrains Mono" pitchFamily="49" charset="0"/>
                <a:ea typeface="JetBrains Mono" pitchFamily="49" charset="-122"/>
                <a:cs typeface="JetBrains Mono" pitchFamily="49" charset="-120"/>
              </a:rPr>
              <a:t>X-Total-Count: 20</a:t>
            </a:r>
            <a:endParaRPr lang="en-US" sz="1200" dirty="0"/>
          </a:p>
          <a:p>
            <a:pPr algn="l" indent="0" marL="0">
              <a:lnSpc>
                <a:spcPts val="1800"/>
              </a:lnSpc>
              <a:buNone/>
            </a:pPr>
            <a:r>
              <a:rPr lang="en-US" sz="1200" dirty="0">
                <a:solidFill>
                  <a:srgbClr val="F0A15E"/>
                </a:solidFill>
                <a:latin typeface="JetBrains Mono" pitchFamily="49" charset="0"/>
                <a:ea typeface="JetBrains Mono" pitchFamily="49" charset="-122"/>
                <a:cs typeface="JetBrains Mono" pitchFamily="49" charset="-120"/>
              </a:rPr>
              <a:t>Cache-Control: no-store</a:t>
            </a:r>
            <a:endParaRPr lang="en-US" sz="1200" dirty="0"/>
          </a:p>
          <a:p>
            <a:pPr algn="l" indent="0" marL="0">
              <a:lnSpc>
                <a:spcPts val="1800"/>
              </a:lnSpc>
              <a:buNone/>
            </a:pPr>
            <a:r>
              <a:rPr lang="en-US" sz="1200" dirty="0">
                <a:solidFill>
                  <a:srgbClr val="F0A15E"/>
                </a:solidFill>
                <a:latin typeface="JetBrains Mono" pitchFamily="49" charset="0"/>
                <a:ea typeface="JetBrains Mono" pitchFamily="49" charset="-122"/>
                <a:cs typeface="JetBrains Mono" pitchFamily="49" charset="-120"/>
              </a:rPr>
              <a:t>Set-Cookie: lastVisit=products; Path=/</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Content-Type: application/json</a:t>
            </a:r>
            <a:endParaRPr lang="en-US" sz="1200" dirty="0"/>
          </a:p>
        </p:txBody>
      </p:sp>
      <p:sp>
        <p:nvSpPr>
          <p:cNvPr id="10" name="Shape 8"/>
          <p:cNvSpPr/>
          <p:nvPr/>
        </p:nvSpPr>
        <p:spPr>
          <a:xfrm>
            <a:off x="6610350" y="4400500"/>
            <a:ext cx="4762450" cy="1638300"/>
          </a:xfrm>
          <a:prstGeom prst="roundRect">
            <a:avLst>
              <a:gd name="adj" fmla="val 5814"/>
            </a:avLst>
          </a:prstGeom>
          <a:solidFill>
            <a:srgbClr val="FDFCF8"/>
          </a:solidFill>
          <a:ln w="12700">
            <a:solidFill>
              <a:srgbClr val="D5D1C4"/>
            </a:solidFill>
            <a:prstDash val="solid"/>
          </a:ln>
        </p:spPr>
      </p:sp>
      <p:sp>
        <p:nvSpPr>
          <p:cNvPr id="11" name="Shape 9"/>
          <p:cNvSpPr/>
          <p:nvPr/>
        </p:nvSpPr>
        <p:spPr>
          <a:xfrm>
            <a:off x="6615906" y="4406057"/>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12" name="Shape 10"/>
          <p:cNvSpPr/>
          <p:nvPr/>
        </p:nvSpPr>
        <p:spPr>
          <a:xfrm>
            <a:off x="6742906" y="4576155"/>
            <a:ext cx="101575" cy="101575"/>
          </a:xfrm>
          <a:prstGeom prst="roundRect">
            <a:avLst>
              <a:gd name="adj" fmla="val 50000"/>
            </a:avLst>
          </a:prstGeom>
          <a:solidFill>
            <a:srgbClr val="E0675A"/>
          </a:solidFill>
          <a:ln/>
        </p:spPr>
      </p:sp>
      <p:sp>
        <p:nvSpPr>
          <p:cNvPr id="13" name="Shape 11"/>
          <p:cNvSpPr/>
          <p:nvPr/>
        </p:nvSpPr>
        <p:spPr>
          <a:xfrm>
            <a:off x="6907981" y="4576155"/>
            <a:ext cx="101575" cy="101575"/>
          </a:xfrm>
          <a:prstGeom prst="roundRect">
            <a:avLst>
              <a:gd name="adj" fmla="val 50000"/>
            </a:avLst>
          </a:prstGeom>
          <a:solidFill>
            <a:srgbClr val="E7B54A"/>
          </a:solidFill>
          <a:ln/>
        </p:spPr>
      </p:sp>
      <p:sp>
        <p:nvSpPr>
          <p:cNvPr id="14" name="Shape 12"/>
          <p:cNvSpPr/>
          <p:nvPr/>
        </p:nvSpPr>
        <p:spPr>
          <a:xfrm>
            <a:off x="7073057" y="4576155"/>
            <a:ext cx="101575" cy="101575"/>
          </a:xfrm>
          <a:prstGeom prst="roundRect">
            <a:avLst>
              <a:gd name="adj" fmla="val 50000"/>
            </a:avLst>
          </a:prstGeom>
          <a:solidFill>
            <a:srgbClr val="6BBF6A"/>
          </a:solidFill>
          <a:ln/>
        </p:spPr>
      </p:sp>
      <p:sp>
        <p:nvSpPr>
          <p:cNvPr id="15" name="Text 13"/>
          <p:cNvSpPr/>
          <p:nvPr/>
        </p:nvSpPr>
        <p:spPr>
          <a:xfrm>
            <a:off x="7238132" y="4494919"/>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localhost:11000/plain</a:t>
            </a:r>
            <a:endParaRPr lang="en-US" sz="1200" dirty="0"/>
          </a:p>
        </p:txBody>
      </p:sp>
      <p:sp>
        <p:nvSpPr>
          <p:cNvPr id="16" name="Text 14"/>
          <p:cNvSpPr/>
          <p:nvPr/>
        </p:nvSpPr>
        <p:spPr>
          <a:xfrm>
            <a:off x="6819057" y="4974890"/>
            <a:ext cx="447538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&lt;h1&gt;not rendered&lt;/h1&gt;</a:t>
            </a:r>
            <a:endParaRPr lang="en-US" sz="1400" dirty="0"/>
          </a:p>
        </p:txBody>
      </p:sp>
      <p:sp>
        <p:nvSpPr>
          <p:cNvPr id="17" name="Text 15"/>
          <p:cNvSpPr/>
          <p:nvPr/>
        </p:nvSpPr>
        <p:spPr>
          <a:xfrm>
            <a:off x="6819057" y="5274531"/>
            <a:ext cx="4475388"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text/plain: the tags show as text.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CHEAT SHEET · RES</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Prepare as much as you like, finish once</a:t>
            </a:r>
            <a:endParaRPr lang="en-US" sz="2800" dirty="0"/>
          </a:p>
        </p:txBody>
      </p:sp>
      <p:sp>
        <p:nvSpPr>
          <p:cNvPr id="4" name="Text 2"/>
          <p:cNvSpPr/>
          <p:nvPr/>
        </p:nvSpPr>
        <p:spPr>
          <a:xfrm>
            <a:off x="812788" y="1696641"/>
            <a:ext cx="533702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D9692A"/>
                </a:solidFill>
                <a:latin typeface="Space Grotesk" pitchFamily="34" charset="0"/>
                <a:ea typeface="Space Grotesk" pitchFamily="34" charset="-122"/>
                <a:cs typeface="Space Grotesk" pitchFamily="34" charset="-120"/>
              </a:rPr>
              <a:t>Finishes the response (pick one)</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4694" y="2053952"/>
          <a:ext cx="5169669" cy="2987539"/>
        </p:xfrm>
        <a:graphic>
          <a:graphicData uri="http://schemas.openxmlformats.org/drawingml/2006/table">
            <a:tbl>
              <a:tblPr/>
              <a:tblGrid>
                <a:gridCol w="2688228"/>
                <a:gridCol w="2481441"/>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Method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Sends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res.send(x)</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text, HTML or JSON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res.json(obj)</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JSON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res.sendStatus(404)</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code + “Not Found”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res.sendFile(absPath)</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a file to view</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res.download(path)</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a file to save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res.redirect('/x')</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302 + Location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res.end()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nothing more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res.render(view)</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HTML from a template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6" name="Text 3"/>
          <p:cNvSpPr/>
          <p:nvPr/>
        </p:nvSpPr>
        <p:spPr>
          <a:xfrm>
            <a:off x="6197513" y="1696641"/>
            <a:ext cx="533702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F6FD6"/>
                </a:solidFill>
                <a:latin typeface="Space Grotesk" pitchFamily="34" charset="0"/>
                <a:ea typeface="Space Grotesk" pitchFamily="34" charset="-122"/>
                <a:cs typeface="Space Grotesk" pitchFamily="34" charset="-120"/>
              </a:rPr>
              <a:t>Prepares it (chain, then finish)</a:t>
            </a:r>
            <a:endParaRPr lang="en-US" sz="16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09419" y="2053952"/>
          <a:ext cx="5169669" cy="2323641"/>
        </p:xfrm>
        <a:graphic>
          <a:graphicData uri="http://schemas.openxmlformats.org/drawingml/2006/table">
            <a:tbl>
              <a:tblPr/>
              <a:tblGrid>
                <a:gridCol w="2688228"/>
                <a:gridCol w="2481441"/>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Method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Sets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res.status(201)</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status code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res.set(name, val)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any header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res.type('json')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Content-Type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res.cookie(name, val)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Set-Cookie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res.clearCookie(name)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expires a cookie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res.locals.x =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data for this request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HEADS-UP · EXPRESS 5</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Old tutorials show v4 code. Spot the difference.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694" y="1708547"/>
          <a:ext cx="10554519" cy="2323641"/>
        </p:xfrm>
        <a:graphic>
          <a:graphicData uri="http://schemas.openxmlformats.org/drawingml/2006/table">
            <a:tbl>
              <a:tblPr/>
              <a:tblGrid>
                <a:gridCol w="4855079"/>
                <a:gridCol w="5699440"/>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Seen in old (v4) tutorials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Write this in Express 5</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res.send(404)</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res.sendStatus(404)</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res.json(obj, 404)</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res.status(404).json(obj)</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res.redirect('back')</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res.redirect(req.get('Referrer') ||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req.body is {} with no parser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req.body is undefined with no parser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app.get('*',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app.get('/*splat', …), or a final app.use for 404s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async errors need try/catch</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a rejected promise reaches the error handler by itself</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788" y="4260763"/>
            <a:ext cx="1088341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npm install express now installs version 5. Check yours with npm ls express.</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D9692A"/>
        </a:solidFill>
      </p:bgPr>
    </p:bg>
    <p:spTree>
      <p:nvGrpSpPr>
        <p:cNvPr id="1" name=""/>
        <p:cNvGrpSpPr/>
        <p:nvPr/>
      </p:nvGrpSpPr>
      <p:grpSpPr>
        <a:xfrm>
          <a:off x="0" y="0"/>
          <a:ext cx="0" cy="0"/>
          <a:chOff x="0" y="0"/>
          <a:chExt cx="0" cy="0"/>
        </a:xfrm>
      </p:grpSpPr>
      <p:sp>
        <p:nvSpPr>
          <p:cNvPr id="2" name="Text 0"/>
          <p:cNvSpPr/>
          <p:nvPr/>
        </p:nvSpPr>
        <p:spPr>
          <a:xfrm>
            <a:off x="812788" y="2166751"/>
            <a:ext cx="10883418" cy="274253"/>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A1F2B"/>
                </a:solidFill>
                <a:latin typeface="Space Grotesk" pitchFamily="34" charset="0"/>
                <a:ea typeface="Space Grotesk" pitchFamily="34" charset="-122"/>
                <a:cs typeface="Space Grotesk" pitchFamily="34" charset="-120"/>
              </a:rPr>
              <a:t>PART 4 · PRACTICE</a:t>
            </a:r>
            <a:endParaRPr lang="en-US" sz="1400" dirty="0"/>
          </a:p>
        </p:txBody>
      </p:sp>
      <p:sp>
        <p:nvSpPr>
          <p:cNvPr id="3" name="Text 1"/>
          <p:cNvSpPr/>
          <p:nvPr>
            <p:ph type="title"/>
          </p:nvPr>
        </p:nvSpPr>
        <p:spPr>
          <a:xfrm>
            <a:off x="812788" y="2593392"/>
            <a:ext cx="10883418" cy="1305446"/>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4110E"/>
                </a:solidFill>
                <a:latin typeface="Space Grotesk" pitchFamily="34" charset="0"/>
                <a:ea typeface="Space Grotesk" pitchFamily="34" charset="-122"/>
                <a:cs typeface="Space Grotesk" pitchFamily="34" charset="-120"/>
              </a:rPr>
              <a:t>Build your own</a:t>
            </a:r>
            <a:endParaRPr lang="en-US" sz="4800" dirty="0"/>
          </a:p>
          <a:p>
            <a:pPr algn="l" indent="0" marL="0">
              <a:lnSpc>
                <a:spcPts val="5040"/>
              </a:lnSpc>
              <a:buNone/>
            </a:pPr>
            <a:r>
              <a:rPr lang="en-US" sz="4800" b="1" i="0" dirty="0">
                <a:solidFill>
                  <a:srgbClr val="14110E"/>
                </a:solidFill>
                <a:latin typeface="Space Grotesk" pitchFamily="34" charset="0"/>
                <a:ea typeface="Space Grotesk" pitchFamily="34" charset="-122"/>
                <a:cs typeface="Space Grotesk" pitchFamily="34" charset="-120"/>
              </a:rPr>
              <a:t>mini store API</a:t>
            </a:r>
            <a:endParaRPr lang="en-US" sz="4800" dirty="0"/>
          </a:p>
        </p:txBody>
      </p:sp>
      <p:sp>
        <p:nvSpPr>
          <p:cNvPr id="4" name="Text 2"/>
          <p:cNvSpPr/>
          <p:nvPr/>
        </p:nvSpPr>
        <p:spPr>
          <a:xfrm>
            <a:off x="812788" y="4051226"/>
            <a:ext cx="784860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A1A10"/>
                </a:solidFill>
                <a:latin typeface="Space Grotesk" pitchFamily="34" charset="0"/>
                <a:ea typeface="Space Grotesk" pitchFamily="34" charset="-122"/>
                <a:cs typeface="Space Grotesk" pitchFamily="34" charset="-120"/>
              </a:rPr>
              <a:t>Real product data from fakestoreapi.com, six sets from easy to tricky. Every set says exactly what output to expect.</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788"/>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THE DATA · FAKESTOREAPI.COM/PRODUCTS</a:t>
            </a:r>
            <a:endParaRPr lang="en-US" sz="1200" dirty="0"/>
          </a:p>
        </p:txBody>
      </p:sp>
      <p:sp>
        <p:nvSpPr>
          <p:cNvPr id="3" name="Text 1"/>
          <p:cNvSpPr/>
          <p:nvPr>
            <p:ph type="title"/>
          </p:nvPr>
        </p:nvSpPr>
        <p:spPr>
          <a:xfrm>
            <a:off x="812788" y="1076958"/>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20 products, one shape</a:t>
            </a:r>
            <a:endParaRPr lang="en-US" sz="2800" dirty="0"/>
          </a:p>
        </p:txBody>
      </p:sp>
      <p:sp>
        <p:nvSpPr>
          <p:cNvPr id="4" name="Shape 2"/>
          <p:cNvSpPr/>
          <p:nvPr/>
        </p:nvSpPr>
        <p:spPr>
          <a:xfrm>
            <a:off x="812788" y="1696641"/>
            <a:ext cx="5588000" cy="3388754"/>
          </a:xfrm>
          <a:prstGeom prst="roundRect">
            <a:avLst>
              <a:gd name="adj" fmla="val 2998"/>
            </a:avLst>
          </a:prstGeom>
          <a:solidFill>
            <a:srgbClr val="161B24"/>
          </a:solidFill>
          <a:ln/>
        </p:spPr>
      </p:sp>
      <p:sp>
        <p:nvSpPr>
          <p:cNvPr id="5" name="Text 3"/>
          <p:cNvSpPr/>
          <p:nvPr/>
        </p:nvSpPr>
        <p:spPr>
          <a:xfrm>
            <a:off x="1015938" y="1874428"/>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one product (id 1)</a:t>
            </a:r>
            <a:endParaRPr lang="en-US" sz="1200" dirty="0"/>
          </a:p>
        </p:txBody>
      </p:sp>
      <p:sp>
        <p:nvSpPr>
          <p:cNvPr id="6" name="Text 4"/>
          <p:cNvSpPr/>
          <p:nvPr/>
        </p:nvSpPr>
        <p:spPr>
          <a:xfrm>
            <a:off x="1015938" y="2163961"/>
            <a:ext cx="5337150" cy="2769046"/>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CB6B"/>
                </a:solidFill>
                <a:latin typeface="JetBrains Mono" pitchFamily="49" charset="0"/>
                <a:ea typeface="JetBrains Mono" pitchFamily="49" charset="-122"/>
                <a:cs typeface="JetBrains Mono" pitchFamily="49" charset="-120"/>
              </a:rPr>
              <a:t>"id"</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78C6C"/>
                </a:solidFill>
                <a:latin typeface="JetBrains Mono" pitchFamily="49" charset="0"/>
                <a:ea typeface="JetBrains Mono" pitchFamily="49" charset="-122"/>
                <a:cs typeface="JetBrains Mono" pitchFamily="49" charset="-120"/>
              </a:rPr>
              <a:t>1</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CB6B"/>
                </a:solidFill>
                <a:latin typeface="JetBrains Mono" pitchFamily="49" charset="0"/>
                <a:ea typeface="JetBrains Mono" pitchFamily="49" charset="-122"/>
                <a:cs typeface="JetBrains Mono" pitchFamily="49" charset="-120"/>
              </a:rPr>
              <a:t>"title"</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"Fjallraven - Foldsack No. 1 Backp…"</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CB6B"/>
                </a:solidFill>
                <a:latin typeface="JetBrains Mono" pitchFamily="49" charset="0"/>
                <a:ea typeface="JetBrains Mono" pitchFamily="49" charset="-122"/>
                <a:cs typeface="JetBrains Mono" pitchFamily="49" charset="-120"/>
              </a:rPr>
              <a:t>"price"</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78C6C"/>
                </a:solidFill>
                <a:latin typeface="JetBrains Mono" pitchFamily="49" charset="0"/>
                <a:ea typeface="JetBrains Mono" pitchFamily="49" charset="-122"/>
                <a:cs typeface="JetBrains Mono" pitchFamily="49" charset="-120"/>
              </a:rPr>
              <a:t>109.95</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CB6B"/>
                </a:solidFill>
                <a:latin typeface="JetBrains Mono" pitchFamily="49" charset="0"/>
                <a:ea typeface="JetBrains Mono" pitchFamily="49" charset="-122"/>
                <a:cs typeface="JetBrains Mono" pitchFamily="49" charset="-120"/>
              </a:rPr>
              <a:t>"description"</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"Your perfect pack for…"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CB6B"/>
                </a:solidFill>
                <a:latin typeface="JetBrains Mono" pitchFamily="49" charset="0"/>
                <a:ea typeface="JetBrains Mono" pitchFamily="49" charset="-122"/>
                <a:cs typeface="JetBrains Mono" pitchFamily="49" charset="-120"/>
              </a:rPr>
              <a:t>"category"</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"men's clothing"</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CB6B"/>
                </a:solidFill>
                <a:latin typeface="JetBrains Mono" pitchFamily="49" charset="0"/>
                <a:ea typeface="JetBrains Mono" pitchFamily="49" charset="-122"/>
                <a:cs typeface="JetBrains Mono" pitchFamily="49" charset="-120"/>
              </a:rPr>
              <a:t>"image"</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"https://fakestoreapi.com/img/…png"</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CB6B"/>
                </a:solidFill>
                <a:latin typeface="JetBrains Mono" pitchFamily="49" charset="0"/>
                <a:ea typeface="JetBrains Mono" pitchFamily="49" charset="-122"/>
                <a:cs typeface="JetBrains Mono" pitchFamily="49" charset="-120"/>
              </a:rPr>
              <a:t>"rating"</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CB6B"/>
                </a:solidFill>
                <a:latin typeface="JetBrains Mono" pitchFamily="49" charset="0"/>
                <a:ea typeface="JetBrains Mono" pitchFamily="49" charset="-122"/>
                <a:cs typeface="JetBrains Mono" pitchFamily="49" charset="-120"/>
              </a:rPr>
              <a:t>"rate"</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78C6C"/>
                </a:solidFill>
                <a:latin typeface="JetBrains Mono" pitchFamily="49" charset="0"/>
                <a:ea typeface="JetBrains Mono" pitchFamily="49" charset="-122"/>
                <a:cs typeface="JetBrains Mono" pitchFamily="49" charset="-120"/>
              </a:rPr>
              <a:t>3.9</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CB6B"/>
                </a:solidFill>
                <a:latin typeface="JetBrains Mono" pitchFamily="49" charset="0"/>
                <a:ea typeface="JetBrains Mono" pitchFamily="49" charset="-122"/>
                <a:cs typeface="JetBrains Mono" pitchFamily="49" charset="-120"/>
              </a:rPr>
              <a:t>"count"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78C6C"/>
                </a:solidFill>
                <a:latin typeface="JetBrains Mono" pitchFamily="49" charset="0"/>
                <a:ea typeface="JetBrains Mono" pitchFamily="49" charset="-122"/>
                <a:cs typeface="JetBrains Mono" pitchFamily="49" charset="-120"/>
              </a:rPr>
              <a:t>120</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90481" y="1708547"/>
          <a:ext cx="4788731" cy="1659744"/>
        </p:xfrm>
        <a:graphic>
          <a:graphicData uri="http://schemas.openxmlformats.org/drawingml/2006/table">
            <a:tbl>
              <a:tblPr/>
              <a:tblGrid>
                <a:gridCol w="2490140"/>
                <a:gridCol w="1149295"/>
                <a:gridCol w="1149295"/>
              </a:tblGrid>
              <a:tr h="331949">
                <a:tc>
                  <a:txBody>
                    <a:bodyPr/>
                    <a:lstStyle/>
                    <a:p>
                      <a:pPr indent="0" marL="0">
                        <a:lnSpc>
                          <a:spcPts val="1680"/>
                        </a:lnSpc>
                        <a:buNone/>
                      </a:pPr>
                      <a:r>
                        <a:rPr lang="en-US" sz="1200" b="1" dirty="0">
                          <a:solidFill>
                            <a:srgbClr val="1A1F2B"/>
                          </a:solidFill>
                          <a:latin typeface="Space Grotesk" pitchFamily="34" charset="0"/>
                          <a:ea typeface="Space Grotesk" pitchFamily="34" charset="-122"/>
                          <a:cs typeface="Space Grotesk" pitchFamily="34" charset="-120"/>
                        </a:rPr>
                        <a:t>category</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Space Grotesk" pitchFamily="34" charset="0"/>
                          <a:ea typeface="Space Grotesk" pitchFamily="34" charset="-122"/>
                          <a:cs typeface="Space Grotesk" pitchFamily="34" charset="-120"/>
                        </a:rPr>
                        <a:t>ids</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Space Grotesk" pitchFamily="34" charset="0"/>
                          <a:ea typeface="Space Grotesk" pitchFamily="34" charset="-122"/>
                          <a:cs typeface="Space Grotesk" pitchFamily="34" charset="-120"/>
                        </a:rPr>
                        <a:t>count</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men's clothing</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1–4</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4</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jewelery</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5–8</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4</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electronics</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9–14</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6</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women's clothing</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15–20</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6</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8" name="Shape 5"/>
          <p:cNvSpPr/>
          <p:nvPr/>
        </p:nvSpPr>
        <p:spPr>
          <a:xfrm>
            <a:off x="6584925" y="3501628"/>
            <a:ext cx="4787937" cy="1507269"/>
          </a:xfrm>
          <a:prstGeom prst="roundRect">
            <a:avLst>
              <a:gd name="adj" fmla="val 6319"/>
            </a:avLst>
          </a:prstGeom>
          <a:solidFill>
            <a:srgbClr val="FDFCF8"/>
          </a:solidFill>
          <a:ln w="12700">
            <a:solidFill>
              <a:srgbClr val="DDD8CA"/>
            </a:solidFill>
            <a:prstDash val="solid"/>
          </a:ln>
        </p:spPr>
      </p:sp>
      <p:sp>
        <p:nvSpPr>
          <p:cNvPr id="9" name="Text 6"/>
          <p:cNvSpPr/>
          <p:nvPr/>
        </p:nvSpPr>
        <p:spPr>
          <a:xfrm>
            <a:off x="6768269" y="3659560"/>
            <a:ext cx="4553887"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THE REAL API OFFERS</a:t>
            </a:r>
            <a:endParaRPr lang="en-US" sz="1200" dirty="0"/>
          </a:p>
        </p:txBody>
      </p:sp>
      <p:sp>
        <p:nvSpPr>
          <p:cNvPr id="10" name="Text 7"/>
          <p:cNvSpPr/>
          <p:nvPr/>
        </p:nvSpPr>
        <p:spPr>
          <a:xfrm>
            <a:off x="6768269" y="3936454"/>
            <a:ext cx="4553887" cy="939949"/>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A1F2B"/>
                </a:solidFill>
                <a:latin typeface="JetBrains Mono" pitchFamily="49" charset="0"/>
                <a:ea typeface="JetBrains Mono" pitchFamily="49" charset="-122"/>
                <a:cs typeface="JetBrains Mono" pitchFamily="49" charset="-120"/>
              </a:rPr>
              <a:t>/products /products/1</a:t>
            </a:r>
            <a:endParaRPr lang="en-US" sz="1200" dirty="0"/>
          </a:p>
          <a:p>
            <a:pPr algn="l" indent="0" marL="0">
              <a:lnSpc>
                <a:spcPts val="1800"/>
              </a:lnSpc>
              <a:buNone/>
            </a:pPr>
            <a:r>
              <a:rPr lang="en-US" sz="1200" dirty="0">
                <a:solidFill>
                  <a:srgbClr val="1A1F2B"/>
                </a:solidFill>
                <a:latin typeface="JetBrains Mono" pitchFamily="49" charset="0"/>
                <a:ea typeface="JetBrains Mono" pitchFamily="49" charset="-122"/>
                <a:cs typeface="JetBrains Mono" pitchFamily="49" charset="-120"/>
              </a:rPr>
              <a:t>/products?limit=5&amp;sort=desc</a:t>
            </a:r>
            <a:endParaRPr lang="en-US" sz="1200" dirty="0"/>
          </a:p>
          <a:p>
            <a:pPr algn="l" indent="0" marL="0">
              <a:lnSpc>
                <a:spcPts val="1800"/>
              </a:lnSpc>
              <a:buNone/>
            </a:pPr>
            <a:r>
              <a:rPr lang="en-US" sz="1200" dirty="0">
                <a:solidFill>
                  <a:srgbClr val="1A1F2B"/>
                </a:solidFill>
                <a:latin typeface="JetBrains Mono" pitchFamily="49" charset="0"/>
                <a:ea typeface="JetBrains Mono" pitchFamily="49" charset="-122"/>
                <a:cs typeface="JetBrains Mono" pitchFamily="49" charset="-120"/>
              </a:rPr>
              <a:t>/products/categories</a:t>
            </a:r>
            <a:endParaRPr lang="en-US" sz="1200" dirty="0"/>
          </a:p>
          <a:p>
            <a:pPr algn="l" indent="0" marL="0">
              <a:lnSpc>
                <a:spcPts val="1800"/>
              </a:lnSpc>
              <a:buNone/>
            </a:pPr>
            <a:r>
              <a:rPr lang="en-US" sz="1200" dirty="0">
                <a:solidFill>
                  <a:srgbClr val="1A1F2B"/>
                </a:solidFill>
                <a:latin typeface="JetBrains Mono" pitchFamily="49" charset="0"/>
                <a:ea typeface="JetBrains Mono" pitchFamily="49" charset="-122"/>
                <a:cs typeface="JetBrains Mono" pitchFamily="49" charset="-120"/>
              </a:rPr>
              <a:t>/products/category/jewelery</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SETUP · GET THE 20 PRODUCTS INTO YOUR SERVER</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Two ways to load the data</a:t>
            </a:r>
            <a:endParaRPr lang="en-US" sz="2800" dirty="0"/>
          </a:p>
        </p:txBody>
      </p:sp>
      <p:sp>
        <p:nvSpPr>
          <p:cNvPr id="4" name="Shape 2"/>
          <p:cNvSpPr/>
          <p:nvPr/>
        </p:nvSpPr>
        <p:spPr>
          <a:xfrm>
            <a:off x="812788" y="1696641"/>
            <a:ext cx="5194288" cy="2245568"/>
          </a:xfrm>
          <a:prstGeom prst="roundRect">
            <a:avLst>
              <a:gd name="adj" fmla="val 4524"/>
            </a:avLst>
          </a:prstGeom>
          <a:solidFill>
            <a:srgbClr val="161B24"/>
          </a:solidFill>
          <a:ln/>
        </p:spPr>
      </p:sp>
      <p:sp>
        <p:nvSpPr>
          <p:cNvPr id="5" name="Text 3"/>
          <p:cNvSpPr/>
          <p:nvPr/>
        </p:nvSpPr>
        <p:spPr>
          <a:xfrm>
            <a:off x="1015938" y="1874441"/>
            <a:ext cx="4931626"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BD88F"/>
                </a:solidFill>
                <a:latin typeface="Space Grotesk" pitchFamily="34" charset="0"/>
                <a:ea typeface="Space Grotesk" pitchFamily="34" charset="-122"/>
                <a:cs typeface="Space Grotesk" pitchFamily="34" charset="-120"/>
              </a:rPr>
              <a:t>A · Save a file (best for class)</a:t>
            </a:r>
            <a:endParaRPr lang="en-US" sz="1200" dirty="0"/>
          </a:p>
        </p:txBody>
      </p:sp>
      <p:sp>
        <p:nvSpPr>
          <p:cNvPr id="6" name="Text 4"/>
          <p:cNvSpPr/>
          <p:nvPr/>
        </p:nvSpPr>
        <p:spPr>
          <a:xfrm>
            <a:off x="1015938" y="2163961"/>
            <a:ext cx="4931626" cy="162586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open fakestoreapi.com/products,</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save it as products.json beside</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server.js</a:t>
            </a: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products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'./products.json'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`Loaded ${products.length}`</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works offline, never rate-limited</a:t>
            </a:r>
            <a:endParaRPr lang="en-US" sz="1200" dirty="0"/>
          </a:p>
        </p:txBody>
      </p:sp>
      <p:sp>
        <p:nvSpPr>
          <p:cNvPr id="7" name="Shape 5"/>
          <p:cNvSpPr/>
          <p:nvPr/>
        </p:nvSpPr>
        <p:spPr>
          <a:xfrm>
            <a:off x="6184863" y="1696641"/>
            <a:ext cx="5194350" cy="2245568"/>
          </a:xfrm>
          <a:prstGeom prst="roundRect">
            <a:avLst>
              <a:gd name="adj" fmla="val 4524"/>
            </a:avLst>
          </a:prstGeom>
          <a:solidFill>
            <a:srgbClr val="161B24"/>
          </a:solidFill>
          <a:ln/>
        </p:spPr>
      </p:sp>
      <p:sp>
        <p:nvSpPr>
          <p:cNvPr id="8" name="Text 6"/>
          <p:cNvSpPr/>
          <p:nvPr/>
        </p:nvSpPr>
        <p:spPr>
          <a:xfrm>
            <a:off x="6388013" y="1874441"/>
            <a:ext cx="4931690"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15E"/>
                </a:solidFill>
                <a:latin typeface="Space Grotesk" pitchFamily="34" charset="0"/>
                <a:ea typeface="Space Grotesk" pitchFamily="34" charset="-122"/>
                <a:cs typeface="Space Grotesk" pitchFamily="34" charset="-120"/>
              </a:rPr>
              <a:t>B · Fetch at startup (Node 18+)</a:t>
            </a:r>
            <a:endParaRPr lang="en-US" sz="1200" dirty="0"/>
          </a:p>
        </p:txBody>
      </p:sp>
      <p:sp>
        <p:nvSpPr>
          <p:cNvPr id="9" name="Text 7"/>
          <p:cNvSpPr/>
          <p:nvPr/>
        </p:nvSpPr>
        <p:spPr>
          <a:xfrm>
            <a:off x="6388013" y="2163961"/>
            <a:ext cx="4931690" cy="162586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let</a:t>
            </a:r>
            <a:r>
              <a:rPr lang="en-US" sz="1200" dirty="0">
                <a:solidFill>
                  <a:srgbClr val="E6E1D6"/>
                </a:solidFill>
                <a:latin typeface="JetBrains Mono" pitchFamily="49" charset="0"/>
                <a:ea typeface="JetBrains Mono" pitchFamily="49" charset="-122"/>
                <a:cs typeface="JetBrains Mono" pitchFamily="49" charset="-120"/>
              </a:rPr>
              <a:t> products = [];</a:t>
            </a:r>
            <a:endParaRPr lang="en-US" sz="1200" dirty="0"/>
          </a:p>
          <a:p>
            <a:pPr algn="l" indent="0" marL="0">
              <a:lnSpc>
                <a:spcPts val="1800"/>
              </a:lnSpc>
              <a:buNone/>
            </a:pPr>
            <a:r>
              <a:rPr lang="en-US" sz="1200" dirty="0">
                <a:solidFill>
                  <a:srgbClr val="82AAFF"/>
                </a:solidFill>
                <a:latin typeface="JetBrains Mono" pitchFamily="49" charset="0"/>
                <a:ea typeface="JetBrains Mono" pitchFamily="49" charset="-122"/>
                <a:cs typeface="JetBrains Mono" pitchFamily="49" charset="-120"/>
              </a:rPr>
              <a:t>fetch</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'https://fakestoreapi.com/products'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then</a:t>
            </a:r>
            <a:r>
              <a:rPr lang="en-US" sz="1200" dirty="0">
                <a:solidFill>
                  <a:srgbClr val="E6E1D6"/>
                </a:solidFill>
                <a:latin typeface="JetBrains Mono" pitchFamily="49" charset="0"/>
                <a:ea typeface="JetBrains Mono" pitchFamily="49" charset="-122"/>
                <a:cs typeface="JetBrains Mono" pitchFamily="49" charset="-120"/>
              </a:rPr>
              <a:t>(r =&gt; r.</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then</a:t>
            </a:r>
            <a:r>
              <a:rPr lang="en-US" sz="1200" dirty="0">
                <a:solidFill>
                  <a:srgbClr val="E6E1D6"/>
                </a:solidFill>
                <a:latin typeface="JetBrains Mono" pitchFamily="49" charset="0"/>
                <a:ea typeface="JetBrains Mono" pitchFamily="49" charset="-122"/>
                <a:cs typeface="JetBrains Mono" pitchFamily="49" charset="-120"/>
              </a:rPr>
              <a:t>(data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products = data;</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`Loaded ${data.length}`</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p:txBody>
      </p:sp>
      <p:sp>
        <p:nvSpPr>
          <p:cNvPr id="10" name="Shape 8"/>
          <p:cNvSpPr/>
          <p:nvPr/>
        </p:nvSpPr>
        <p:spPr>
          <a:xfrm>
            <a:off x="812788" y="4521150"/>
            <a:ext cx="5194288" cy="1524000"/>
          </a:xfrm>
          <a:prstGeom prst="roundRect">
            <a:avLst>
              <a:gd name="adj" fmla="val 6667"/>
            </a:avLst>
          </a:prstGeom>
          <a:solidFill>
            <a:srgbClr val="0E1117"/>
          </a:solidFill>
          <a:ln/>
        </p:spPr>
      </p:sp>
      <p:sp>
        <p:nvSpPr>
          <p:cNvPr id="11" name="Text 9"/>
          <p:cNvSpPr/>
          <p:nvPr/>
        </p:nvSpPr>
        <p:spPr>
          <a:xfrm>
            <a:off x="990575" y="4673501"/>
            <a:ext cx="4983874"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CONSOLE · A</a:t>
            </a:r>
            <a:endParaRPr lang="en-US" sz="1200" dirty="0"/>
          </a:p>
        </p:txBody>
      </p:sp>
      <p:sp>
        <p:nvSpPr>
          <p:cNvPr id="12" name="Text 10"/>
          <p:cNvSpPr/>
          <p:nvPr/>
        </p:nvSpPr>
        <p:spPr>
          <a:xfrm>
            <a:off x="990575" y="4937671"/>
            <a:ext cx="4983874"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Loaded 20</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Server running on port 11000</a:t>
            </a:r>
            <a:endParaRPr lang="en-US" sz="1200" dirty="0"/>
          </a:p>
        </p:txBody>
      </p:sp>
      <p:sp>
        <p:nvSpPr>
          <p:cNvPr id="13" name="Shape 11"/>
          <p:cNvSpPr/>
          <p:nvPr/>
        </p:nvSpPr>
        <p:spPr>
          <a:xfrm>
            <a:off x="6184863" y="4521150"/>
            <a:ext cx="5194288" cy="1524000"/>
          </a:xfrm>
          <a:prstGeom prst="roundRect">
            <a:avLst>
              <a:gd name="adj" fmla="val 6667"/>
            </a:avLst>
          </a:prstGeom>
          <a:solidFill>
            <a:srgbClr val="0E1117"/>
          </a:solidFill>
          <a:ln/>
        </p:spPr>
      </p:sp>
      <p:sp>
        <p:nvSpPr>
          <p:cNvPr id="14" name="Text 12"/>
          <p:cNvSpPr/>
          <p:nvPr/>
        </p:nvSpPr>
        <p:spPr>
          <a:xfrm>
            <a:off x="6362650" y="4673501"/>
            <a:ext cx="4983874"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CONSOLE · B (order flips!)</a:t>
            </a:r>
            <a:endParaRPr lang="en-US" sz="1200" dirty="0"/>
          </a:p>
        </p:txBody>
      </p:sp>
      <p:sp>
        <p:nvSpPr>
          <p:cNvPr id="15" name="Text 13"/>
          <p:cNvSpPr/>
          <p:nvPr/>
        </p:nvSpPr>
        <p:spPr>
          <a:xfrm>
            <a:off x="6362650" y="4937671"/>
            <a:ext cx="4983874"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Server running on port 11000</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Loaded 20</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SET 1 · REQ.PARAMS, RES.JSON, RES.STATUS · LEVEL 1</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Find one product by id</a:t>
            </a:r>
            <a:endParaRPr lang="en-US" sz="2800" dirty="0"/>
          </a:p>
        </p:txBody>
      </p:sp>
      <p:sp>
        <p:nvSpPr>
          <p:cNvPr id="4" name="Shape 2"/>
          <p:cNvSpPr/>
          <p:nvPr/>
        </p:nvSpPr>
        <p:spPr>
          <a:xfrm>
            <a:off x="819138" y="1702991"/>
            <a:ext cx="4051300" cy="2407493"/>
          </a:xfrm>
          <a:prstGeom prst="roundRect">
            <a:avLst>
              <a:gd name="adj" fmla="val 3956"/>
            </a:avLst>
          </a:prstGeom>
          <a:solidFill>
            <a:srgbClr val="FDFCF8"/>
          </a:solidFill>
          <a:ln w="12700">
            <a:solidFill>
              <a:srgbClr val="DDD8CA"/>
            </a:solidFill>
            <a:prstDash val="solid"/>
          </a:ln>
        </p:spPr>
      </p:sp>
      <p:sp>
        <p:nvSpPr>
          <p:cNvPr id="5" name="Text 3"/>
          <p:cNvSpPr/>
          <p:nvPr/>
        </p:nvSpPr>
        <p:spPr>
          <a:xfrm>
            <a:off x="1027844" y="1911697"/>
            <a:ext cx="3742903"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D6"/>
                </a:solidFill>
                <a:latin typeface="Space Grotesk" pitchFamily="34" charset="0"/>
                <a:ea typeface="Space Grotesk" pitchFamily="34" charset="-122"/>
                <a:cs typeface="Space Grotesk" pitchFamily="34" charset="-120"/>
              </a:rPr>
              <a:t>BUILD</a:t>
            </a:r>
            <a:endParaRPr lang="en-US" sz="1200" dirty="0"/>
          </a:p>
        </p:txBody>
      </p:sp>
      <p:sp>
        <p:nvSpPr>
          <p:cNvPr id="6" name="Text 4"/>
          <p:cNvSpPr/>
          <p:nvPr/>
        </p:nvSpPr>
        <p:spPr>
          <a:xfrm>
            <a:off x="1100770" y="2226667"/>
            <a:ext cx="3662358" cy="1700523"/>
          </a:xfrm>
          <a:prstGeom prst="rect">
            <a:avLst/>
          </a:prstGeom>
          <a:noFill/>
          <a:ln/>
        </p:spPr>
        <p:txBody>
          <a:bodyPr wrap="square" lIns="0" tIns="0" rIns="0" bIns="0" rtlCol="0" anchor="t">
            <a:normAutofit/>
          </a:bodyPr>
          <a:lstStyle/>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GET /products/:id → the product as JSON</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Unknown id → status 404 and an error object</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GET /products/:id/price → only id and price</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GET /products/:id/rating → only the rating</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Bonus: id that is not a number → 400</a:t>
            </a:r>
            <a:endParaRPr lang="en-US" sz="1300" dirty="0"/>
          </a:p>
        </p:txBody>
      </p:sp>
      <p:sp>
        <p:nvSpPr>
          <p:cNvPr id="7" name="Shape 5"/>
          <p:cNvSpPr/>
          <p:nvPr/>
        </p:nvSpPr>
        <p:spPr>
          <a:xfrm>
            <a:off x="5054575" y="1696641"/>
            <a:ext cx="6324637" cy="3007134"/>
          </a:xfrm>
          <a:prstGeom prst="roundRect">
            <a:avLst>
              <a:gd name="adj" fmla="val 3379"/>
            </a:avLst>
          </a:prstGeom>
          <a:solidFill>
            <a:srgbClr val="0E1117"/>
          </a:solidFill>
          <a:ln/>
        </p:spPr>
      </p:sp>
      <p:sp>
        <p:nvSpPr>
          <p:cNvPr id="8" name="Text 6"/>
          <p:cNvSpPr/>
          <p:nvPr/>
        </p:nvSpPr>
        <p:spPr>
          <a:xfrm>
            <a:off x="5257726" y="1874441"/>
            <a:ext cx="6095887"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EXPECTED OUTPUT</a:t>
            </a:r>
            <a:endParaRPr lang="en-US" sz="1200" dirty="0"/>
          </a:p>
        </p:txBody>
      </p:sp>
      <p:sp>
        <p:nvSpPr>
          <p:cNvPr id="9" name="Text 7"/>
          <p:cNvSpPr/>
          <p:nvPr/>
        </p:nvSpPr>
        <p:spPr>
          <a:xfrm>
            <a:off x="5257726" y="2163961"/>
            <a:ext cx="6095887" cy="2387426"/>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7FB0FF"/>
                </a:solidFill>
                <a:latin typeface="JetBrains Mono" pitchFamily="49" charset="0"/>
                <a:ea typeface="JetBrains Mono" pitchFamily="49" charset="-122"/>
                <a:cs typeface="JetBrains Mono" pitchFamily="49" charset="-120"/>
              </a:rPr>
              <a:t>/products/5</a:t>
            </a:r>
            <a:endParaRPr lang="en-US" sz="1200" dirty="0"/>
          </a:p>
          <a:p>
            <a:pPr algn="l" indent="0" marL="0">
              <a:lnSpc>
                <a:spcPts val="1860"/>
              </a:lnSpc>
              <a:buNone/>
            </a:pPr>
            <a:r>
              <a:rPr lang="en-US" sz="1200" dirty="0">
                <a:solidFill>
                  <a:srgbClr val="D7DCE2"/>
                </a:solidFill>
                <a:latin typeface="JetBrains Mono" pitchFamily="49" charset="0"/>
                <a:ea typeface="JetBrains Mono" pitchFamily="49" charset="-122"/>
                <a:cs typeface="JetBrains Mono" pitchFamily="49" charset="-120"/>
              </a:rPr>
              <a:t>{"id":5,"title":"John Hardy Women's…","price":695,…}</a:t>
            </a:r>
            <a:endParaRPr lang="en-US" sz="1200" dirty="0"/>
          </a:p>
          <a:p>
            <a:pPr algn="l" indent="0" marL="0">
              <a:lnSpc>
                <a:spcPts val="1860"/>
              </a:lnSpc>
              <a:buNone/>
            </a:pPr>
            <a:r>
              <a:rPr lang="en-US" sz="1200" dirty="0">
                <a:solidFill>
                  <a:srgbClr val="7FB0FF"/>
                </a:solidFill>
                <a:latin typeface="JetBrains Mono" pitchFamily="49" charset="0"/>
                <a:ea typeface="JetBrains Mono" pitchFamily="49" charset="-122"/>
                <a:cs typeface="JetBrains Mono" pitchFamily="49" charset="-120"/>
              </a:rPr>
              <a:t>/products/99</a:t>
            </a:r>
            <a:r>
              <a:rPr lang="en-US" sz="1200" dirty="0">
                <a:solidFill>
                  <a:srgbClr val="D7DCE2"/>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404</a:t>
            </a:r>
            <a:endParaRPr lang="en-US" sz="1200" dirty="0"/>
          </a:p>
          <a:p>
            <a:pPr algn="l" indent="0" marL="0">
              <a:lnSpc>
                <a:spcPts val="1860"/>
              </a:lnSpc>
              <a:buNone/>
            </a:pPr>
            <a:r>
              <a:rPr lang="en-US" sz="1200" dirty="0">
                <a:solidFill>
                  <a:srgbClr val="D7DCE2"/>
                </a:solidFill>
                <a:latin typeface="JetBrains Mono" pitchFamily="49" charset="0"/>
                <a:ea typeface="JetBrains Mono" pitchFamily="49" charset="-122"/>
                <a:cs typeface="JetBrains Mono" pitchFamily="49" charset="-120"/>
              </a:rPr>
              <a:t>{"error":"Product 99 not found"}</a:t>
            </a:r>
            <a:endParaRPr lang="en-US" sz="1200" dirty="0"/>
          </a:p>
          <a:p>
            <a:pPr algn="l" indent="0" marL="0">
              <a:lnSpc>
                <a:spcPts val="1860"/>
              </a:lnSpc>
              <a:buNone/>
            </a:pPr>
            <a:r>
              <a:rPr lang="en-US" sz="1200" dirty="0">
                <a:solidFill>
                  <a:srgbClr val="7FB0FF"/>
                </a:solidFill>
                <a:latin typeface="JetBrains Mono" pitchFamily="49" charset="0"/>
                <a:ea typeface="JetBrains Mono" pitchFamily="49" charset="-122"/>
                <a:cs typeface="JetBrains Mono" pitchFamily="49" charset="-120"/>
              </a:rPr>
              <a:t>/products/5/price</a:t>
            </a:r>
            <a:endParaRPr lang="en-US" sz="1200" dirty="0"/>
          </a:p>
          <a:p>
            <a:pPr algn="l" indent="0" marL="0">
              <a:lnSpc>
                <a:spcPts val="1860"/>
              </a:lnSpc>
              <a:buNone/>
            </a:pPr>
            <a:r>
              <a:rPr lang="en-US" sz="1200" dirty="0">
                <a:solidFill>
                  <a:srgbClr val="D7DCE2"/>
                </a:solidFill>
                <a:latin typeface="JetBrains Mono" pitchFamily="49" charset="0"/>
                <a:ea typeface="JetBrains Mono" pitchFamily="49" charset="-122"/>
                <a:cs typeface="JetBrains Mono" pitchFamily="49" charset="-120"/>
              </a:rPr>
              <a:t>{"id":5,"price":695}</a:t>
            </a:r>
            <a:endParaRPr lang="en-US" sz="1200" dirty="0"/>
          </a:p>
          <a:p>
            <a:pPr algn="l" indent="0" marL="0">
              <a:lnSpc>
                <a:spcPts val="1860"/>
              </a:lnSpc>
              <a:buNone/>
            </a:pPr>
            <a:r>
              <a:rPr lang="en-US" sz="1200" dirty="0">
                <a:solidFill>
                  <a:srgbClr val="7FB0FF"/>
                </a:solidFill>
                <a:latin typeface="JetBrains Mono" pitchFamily="49" charset="0"/>
                <a:ea typeface="JetBrains Mono" pitchFamily="49" charset="-122"/>
                <a:cs typeface="JetBrains Mono" pitchFamily="49" charset="-120"/>
              </a:rPr>
              <a:t>/products/11/rating</a:t>
            </a:r>
            <a:endParaRPr lang="en-US" sz="1200" dirty="0"/>
          </a:p>
          <a:p>
            <a:pPr algn="l" indent="0" marL="0">
              <a:lnSpc>
                <a:spcPts val="1860"/>
              </a:lnSpc>
              <a:buNone/>
            </a:pPr>
            <a:r>
              <a:rPr lang="en-US" sz="1200" dirty="0">
                <a:solidFill>
                  <a:srgbClr val="D7DCE2"/>
                </a:solidFill>
                <a:latin typeface="JetBrains Mono" pitchFamily="49" charset="0"/>
                <a:ea typeface="JetBrains Mono" pitchFamily="49" charset="-122"/>
                <a:cs typeface="JetBrains Mono" pitchFamily="49" charset="-120"/>
              </a:rPr>
              <a:t>{"rate":4.8,"count":319}</a:t>
            </a:r>
            <a:endParaRPr lang="en-US" sz="1200" dirty="0"/>
          </a:p>
          <a:p>
            <a:pPr algn="l" indent="0" marL="0">
              <a:lnSpc>
                <a:spcPts val="1860"/>
              </a:lnSpc>
              <a:buNone/>
            </a:pPr>
            <a:r>
              <a:rPr lang="en-US" sz="1200" dirty="0">
                <a:solidFill>
                  <a:srgbClr val="7FB0FF"/>
                </a:solidFill>
                <a:latin typeface="JetBrains Mono" pitchFamily="49" charset="0"/>
                <a:ea typeface="JetBrains Mono" pitchFamily="49" charset="-122"/>
                <a:cs typeface="JetBrains Mono" pitchFamily="49" charset="-120"/>
              </a:rPr>
              <a:t>/products/abc</a:t>
            </a:r>
            <a:r>
              <a:rPr lang="en-US" sz="1200" dirty="0">
                <a:solidFill>
                  <a:srgbClr val="D7DCE2"/>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400</a:t>
            </a:r>
            <a:endParaRPr lang="en-US" sz="1200" dirty="0"/>
          </a:p>
          <a:p>
            <a:pPr algn="l" indent="0" marL="0">
              <a:lnSpc>
                <a:spcPts val="1860"/>
              </a:lnSpc>
              <a:buNone/>
            </a:pPr>
            <a:r>
              <a:rPr lang="en-US" sz="1200" dirty="0">
                <a:solidFill>
                  <a:srgbClr val="D7DCE2"/>
                </a:solidFill>
                <a:latin typeface="JetBrains Mono" pitchFamily="49" charset="0"/>
                <a:ea typeface="JetBrains Mono" pitchFamily="49" charset="-122"/>
                <a:cs typeface="JetBrains Mono" pitchFamily="49" charset="-120"/>
              </a:rPr>
              <a:t>{"error":"id must be a number"}</a:t>
            </a:r>
            <a:endParaRPr lang="en-US" sz="1200" dirty="0"/>
          </a:p>
        </p:txBody>
      </p:sp>
      <p:sp>
        <p:nvSpPr>
          <p:cNvPr id="10" name="Text 8"/>
          <p:cNvSpPr/>
          <p:nvPr/>
        </p:nvSpPr>
        <p:spPr>
          <a:xfrm>
            <a:off x="812788" y="5461000"/>
            <a:ext cx="10883354"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Hint: </a:t>
            </a:r>
            <a:r>
              <a:rPr lang="en-US" sz="1400" b="1" dirty="0">
                <a:solidFill>
                  <a:srgbClr val="4C5566"/>
                </a:solidFill>
                <a:latin typeface="Space Grotesk" pitchFamily="34" charset="0"/>
                <a:ea typeface="Space Grotesk" pitchFamily="34" charset="-122"/>
                <a:cs typeface="Space Grotesk" pitchFamily="34" charset="-120"/>
              </a:rPr>
              <a:t>Number(req.params.id)</a:t>
            </a:r>
            <a:r>
              <a:rPr lang="en-US" sz="1400" dirty="0">
                <a:solidFill>
                  <a:srgbClr val="4C5566"/>
                </a:solidFill>
                <a:latin typeface="Space Grotesk" pitchFamily="34" charset="0"/>
                <a:ea typeface="Space Grotesk" pitchFamily="34" charset="-122"/>
                <a:cs typeface="Space Grotesk" pitchFamily="34" charset="-120"/>
              </a:rPr>
              <a:t>, then </a:t>
            </a:r>
            <a:r>
              <a:rPr lang="en-US" sz="1400" b="1" dirty="0">
                <a:solidFill>
                  <a:srgbClr val="4C5566"/>
                </a:solidFill>
                <a:latin typeface="Space Grotesk" pitchFamily="34" charset="0"/>
                <a:ea typeface="Space Grotesk" pitchFamily="34" charset="-122"/>
                <a:cs typeface="Space Grotesk" pitchFamily="34" charset="-120"/>
              </a:rPr>
              <a:t>products.find(p =&gt; p.id === id)</a:t>
            </a:r>
            <a:r>
              <a:rPr lang="en-US" sz="1400" dirty="0">
                <a:solidFill>
                  <a:srgbClr val="4C5566"/>
                </a:solidFill>
                <a:latin typeface="Space Grotesk" pitchFamily="34" charset="0"/>
                <a:ea typeface="Space Grotesk" pitchFamily="34" charset="-122"/>
                <a:cs typeface="Space Grotesk" pitchFamily="34" charset="-120"/>
              </a:rPr>
              <a:t>. Check </a:t>
            </a:r>
            <a:r>
              <a:rPr lang="en-US" sz="1400" b="1" dirty="0">
                <a:solidFill>
                  <a:srgbClr val="4C5566"/>
                </a:solidFill>
                <a:latin typeface="Space Grotesk" pitchFamily="34" charset="0"/>
                <a:ea typeface="Space Grotesk" pitchFamily="34" charset="-122"/>
                <a:cs typeface="Space Grotesk" pitchFamily="34" charset="-120"/>
              </a:rPr>
              <a:t>Number.isNaN(id)</a:t>
            </a:r>
            <a:r>
              <a:rPr lang="en-US" sz="1400" dirty="0">
                <a:solidFill>
                  <a:srgbClr val="4C5566"/>
                </a:solidFill>
                <a:latin typeface="Space Grotesk" pitchFamily="34" charset="0"/>
                <a:ea typeface="Space Grotesk" pitchFamily="34" charset="-122"/>
                <a:cs typeface="Space Grotesk" pitchFamily="34" charset="-120"/>
              </a:rPr>
              <a:t> for the bonus.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SET 2 · REQ.QUERY, RES.SET · LEVEL 2</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One route, many filters</a:t>
            </a:r>
            <a:endParaRPr lang="en-US" sz="2800" dirty="0"/>
          </a:p>
        </p:txBody>
      </p:sp>
      <p:sp>
        <p:nvSpPr>
          <p:cNvPr id="4" name="Shape 2"/>
          <p:cNvSpPr/>
          <p:nvPr/>
        </p:nvSpPr>
        <p:spPr>
          <a:xfrm>
            <a:off x="819138" y="1702991"/>
            <a:ext cx="4051300" cy="2168190"/>
          </a:xfrm>
          <a:prstGeom prst="roundRect">
            <a:avLst>
              <a:gd name="adj" fmla="val 4393"/>
            </a:avLst>
          </a:prstGeom>
          <a:solidFill>
            <a:srgbClr val="FDFCF8"/>
          </a:solidFill>
          <a:ln w="12700">
            <a:solidFill>
              <a:srgbClr val="DDD8CA"/>
            </a:solidFill>
            <a:prstDash val="solid"/>
          </a:ln>
        </p:spPr>
      </p:sp>
      <p:sp>
        <p:nvSpPr>
          <p:cNvPr id="5" name="Text 3"/>
          <p:cNvSpPr/>
          <p:nvPr/>
        </p:nvSpPr>
        <p:spPr>
          <a:xfrm>
            <a:off x="1027844" y="1911697"/>
            <a:ext cx="3742903"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D6"/>
                </a:solidFill>
                <a:latin typeface="Space Grotesk" pitchFamily="34" charset="0"/>
                <a:ea typeface="Space Grotesk" pitchFamily="34" charset="-122"/>
                <a:cs typeface="Space Grotesk" pitchFamily="34" charset="-120"/>
              </a:rPr>
              <a:t>BUILD · GET /products</a:t>
            </a:r>
            <a:endParaRPr lang="en-US" sz="1200" dirty="0"/>
          </a:p>
        </p:txBody>
      </p:sp>
      <p:sp>
        <p:nvSpPr>
          <p:cNvPr id="6" name="Text 4"/>
          <p:cNvSpPr/>
          <p:nvPr/>
        </p:nvSpPr>
        <p:spPr>
          <a:xfrm>
            <a:off x="1100770" y="2226667"/>
            <a:ext cx="3662358" cy="1461219"/>
          </a:xfrm>
          <a:prstGeom prst="rect">
            <a:avLst/>
          </a:prstGeom>
          <a:noFill/>
          <a:ln/>
        </p:spPr>
        <p:txBody>
          <a:bodyPr wrap="square" lIns="0" tIns="0" rIns="0" bIns="0" rtlCol="0" anchor="t">
            <a:normAutofit/>
          </a:bodyPr>
          <a:lstStyle/>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?category=… keeps one category</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?maxPrice=… keeps price ≤ that number</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?sort=desc reverses the order</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?limit=… keeps the first n</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Any mix of them works together</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Header X-Total-Count = items returned</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66481" y="1708547"/>
          <a:ext cx="6312669" cy="2323641"/>
        </p:xfrm>
        <a:graphic>
          <a:graphicData uri="http://schemas.openxmlformats.org/drawingml/2006/table">
            <a:tbl>
              <a:tblPr/>
              <a:tblGrid>
                <a:gridCol w="3913855"/>
                <a:gridCol w="2398814"/>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Request (/products…)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ids returned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?category=electronics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9–14 (6)</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?maxPrice=20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4, 7, 8, 18, 19, 20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?limit=3</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1, 2, 3</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?sort=desc&amp;limit=3</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20, 19, 18</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?category=jewelery&amp;maxPrice=50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7, 8</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?category=toys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 (0)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8" name="Text 5"/>
          <p:cNvSpPr/>
          <p:nvPr/>
        </p:nvSpPr>
        <p:spPr>
          <a:xfrm>
            <a:off x="812788" y="5334000"/>
            <a:ext cx="10883354"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Hint: start with </a:t>
            </a:r>
            <a:r>
              <a:rPr lang="en-US" sz="1400" b="1" dirty="0">
                <a:solidFill>
                  <a:srgbClr val="4C5566"/>
                </a:solidFill>
                <a:latin typeface="Space Grotesk" pitchFamily="34" charset="0"/>
                <a:ea typeface="Space Grotesk" pitchFamily="34" charset="-122"/>
                <a:cs typeface="Space Grotesk" pitchFamily="34" charset="-120"/>
              </a:rPr>
              <a:t>let list = [...products]</a:t>
            </a:r>
            <a:r>
              <a:rPr lang="en-US" sz="1400" dirty="0">
                <a:solidFill>
                  <a:srgbClr val="4C5566"/>
                </a:solidFill>
                <a:latin typeface="Space Grotesk" pitchFamily="34" charset="0"/>
                <a:ea typeface="Space Grotesk" pitchFamily="34" charset="-122"/>
                <a:cs typeface="Space Grotesk" pitchFamily="34" charset="-120"/>
              </a:rPr>
              <a:t>, filter step by step, apply limit last. Query values are strings: </a:t>
            </a:r>
            <a:r>
              <a:rPr lang="en-US" sz="1400" b="1" dirty="0">
                <a:solidFill>
                  <a:srgbClr val="4C5566"/>
                </a:solidFill>
                <a:latin typeface="Space Grotesk" pitchFamily="34" charset="0"/>
                <a:ea typeface="Space Grotesk" pitchFamily="34" charset="-122"/>
                <a:cs typeface="Space Grotesk" pitchFamily="34" charset="-120"/>
              </a:rPr>
              <a:t>Number(maxPrice)</a:t>
            </a:r>
            <a:r>
              <a:rPr lang="en-US" sz="1400" dirty="0">
                <a:solidFill>
                  <a:srgbClr val="4C5566"/>
                </a:solidFill>
                <a:latin typeface="Space Grotesk" pitchFamily="34" charset="0"/>
                <a:ea typeface="Space Grotesk" pitchFamily="34" charset="-122"/>
                <a:cs typeface="Space Grotesk" pitchFamily="34" charset="-120"/>
              </a:rPr>
              <a: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SET 3 · ROUTE ORDER · LEVEL 2</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Categories, and the route that steals them</a:t>
            </a:r>
            <a:endParaRPr lang="en-US" sz="2800" dirty="0"/>
          </a:p>
        </p:txBody>
      </p:sp>
      <p:sp>
        <p:nvSpPr>
          <p:cNvPr id="4" name="Shape 2"/>
          <p:cNvSpPr/>
          <p:nvPr/>
        </p:nvSpPr>
        <p:spPr>
          <a:xfrm>
            <a:off x="812788" y="1696641"/>
            <a:ext cx="5588000" cy="3160117"/>
          </a:xfrm>
          <a:prstGeom prst="roundRect">
            <a:avLst>
              <a:gd name="adj" fmla="val 3215"/>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 · spot the bug</a:t>
            </a:r>
            <a:endParaRPr lang="en-US" sz="1200" dirty="0"/>
          </a:p>
        </p:txBody>
      </p:sp>
      <p:sp>
        <p:nvSpPr>
          <p:cNvPr id="6" name="Text 4"/>
          <p:cNvSpPr/>
          <p:nvPr/>
        </p:nvSpPr>
        <p:spPr>
          <a:xfrm>
            <a:off x="1015938" y="2163961"/>
            <a:ext cx="5337150" cy="2540409"/>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getOne);</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'/products/categories'</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names = products.</a:t>
            </a:r>
            <a:r>
              <a:rPr lang="en-US" sz="1200" dirty="0">
                <a:solidFill>
                  <a:srgbClr val="82AAFF"/>
                </a:solidFill>
                <a:latin typeface="JetBrains Mono" pitchFamily="49" charset="0"/>
                <a:ea typeface="JetBrains Mono" pitchFamily="49" charset="-122"/>
                <a:cs typeface="JetBrains Mono" pitchFamily="49" charset="-120"/>
              </a:rPr>
              <a:t>map</a:t>
            </a:r>
            <a:r>
              <a:rPr lang="en-US" sz="1200" dirty="0">
                <a:solidFill>
                  <a:srgbClr val="E6E1D6"/>
                </a:solidFill>
                <a:latin typeface="JetBrains Mono" pitchFamily="49" charset="0"/>
                <a:ea typeface="JetBrains Mono" pitchFamily="49" charset="-122"/>
                <a:cs typeface="JetBrains Mono" pitchFamily="49" charset="-120"/>
              </a:rPr>
              <a:t>(p =&gt; p.category);</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792EA"/>
                </a:solidFill>
                <a:latin typeface="JetBrains Mono" pitchFamily="49" charset="0"/>
                <a:ea typeface="JetBrains Mono" pitchFamily="49" charset="-122"/>
                <a:cs typeface="JetBrains Mono" pitchFamily="49" charset="-120"/>
              </a:rPr>
              <a:t>new</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Set</a:t>
            </a:r>
            <a:r>
              <a:rPr lang="en-US" sz="1200" dirty="0">
                <a:solidFill>
                  <a:srgbClr val="E6E1D6"/>
                </a:solidFill>
                <a:latin typeface="JetBrains Mono" pitchFamily="49" charset="0"/>
                <a:ea typeface="JetBrains Mono" pitchFamily="49" charset="-122"/>
                <a:cs typeface="JetBrains Mono" pitchFamily="49" charset="-120"/>
              </a:rPr>
              <a:t>(names)]);</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'/products/category/:name'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 res) =&gt; { </a:t>
            </a:r>
            <a:r>
              <a:rPr lang="en-US" sz="1200" dirty="0">
                <a:solidFill>
                  <a:srgbClr val="7F8796"/>
                </a:solidFill>
                <a:latin typeface="JetBrains Mono" pitchFamily="49" charset="0"/>
                <a:ea typeface="JetBrains Mono" pitchFamily="49" charset="-122"/>
                <a:cs typeface="JetBrains Mono" pitchFamily="49" charset="-120"/>
              </a:rPr>
              <a:t>/* filter by name */</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BUILD: both routes, then fix the order</a:t>
            </a:r>
            <a:endParaRPr lang="en-US" sz="1200" dirty="0"/>
          </a:p>
        </p:txBody>
      </p:sp>
      <p:sp>
        <p:nvSpPr>
          <p:cNvPr id="7" name="Shape 5"/>
          <p:cNvSpPr/>
          <p:nvPr/>
        </p:nvSpPr>
        <p:spPr>
          <a:xfrm>
            <a:off x="6610350" y="1708150"/>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706"/>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localhost:11000/products/categories</a:t>
            </a:r>
            <a:endParaRPr lang="en-US" sz="1200" dirty="0"/>
          </a:p>
        </p:txBody>
      </p:sp>
      <p:sp>
        <p:nvSpPr>
          <p:cNvPr id="13" name="Text 11"/>
          <p:cNvSpPr/>
          <p:nvPr/>
        </p:nvSpPr>
        <p:spPr>
          <a:xfrm>
            <a:off x="6819057" y="2307878"/>
            <a:ext cx="4475388"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5462A"/>
                </a:solidFill>
                <a:latin typeface="JetBrains Mono" pitchFamily="49" charset="0"/>
                <a:ea typeface="JetBrains Mono" pitchFamily="49" charset="-122"/>
                <a:cs typeface="JetBrains Mono" pitchFamily="49" charset="-120"/>
              </a:rPr>
              <a:t>{"error":"id must be a number"}</a:t>
            </a:r>
            <a:endParaRPr lang="en-US" sz="1300" dirty="0"/>
          </a:p>
        </p:txBody>
      </p:sp>
      <p:sp>
        <p:nvSpPr>
          <p:cNvPr id="14" name="Text 12"/>
          <p:cNvSpPr/>
          <p:nvPr/>
        </p:nvSpPr>
        <p:spPr>
          <a:xfrm>
            <a:off x="6819057" y="2602458"/>
            <a:ext cx="4475388"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':id' matched first, with id = 'categories'.</a:t>
            </a:r>
            <a:endParaRPr lang="en-US" sz="1200" dirty="0"/>
          </a:p>
        </p:txBody>
      </p:sp>
      <p:sp>
        <p:nvSpPr>
          <p:cNvPr id="15" name="Shape 13"/>
          <p:cNvSpPr/>
          <p:nvPr/>
        </p:nvSpPr>
        <p:spPr>
          <a:xfrm>
            <a:off x="6604000" y="3733800"/>
            <a:ext cx="4775150" cy="2311363"/>
          </a:xfrm>
          <a:prstGeom prst="roundRect">
            <a:avLst>
              <a:gd name="adj" fmla="val 4396"/>
            </a:avLst>
          </a:prstGeom>
          <a:solidFill>
            <a:srgbClr val="0E1117"/>
          </a:solidFill>
          <a:ln/>
        </p:spPr>
      </p:sp>
      <p:sp>
        <p:nvSpPr>
          <p:cNvPr id="16" name="Text 14"/>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BD88F"/>
                </a:solidFill>
                <a:latin typeface="Space Grotesk" pitchFamily="34" charset="0"/>
                <a:ea typeface="Space Grotesk" pitchFamily="34" charset="-122"/>
                <a:cs typeface="Space Grotesk" pitchFamily="34" charset="-120"/>
              </a:rPr>
              <a:t>AFTER MOVING /categories ABOVE /:id</a:t>
            </a:r>
            <a:endParaRPr lang="en-US" sz="1200" dirty="0"/>
          </a:p>
        </p:txBody>
      </p:sp>
      <p:sp>
        <p:nvSpPr>
          <p:cNvPr id="17" name="Text 15"/>
          <p:cNvSpPr/>
          <p:nvPr/>
        </p:nvSpPr>
        <p:spPr>
          <a:xfrm>
            <a:off x="6781788" y="4175671"/>
            <a:ext cx="4552162" cy="1168586"/>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FB0FF"/>
                </a:solidFill>
                <a:latin typeface="JetBrains Mono" pitchFamily="49" charset="0"/>
                <a:ea typeface="JetBrains Mono" pitchFamily="49" charset="-122"/>
                <a:cs typeface="JetBrains Mono" pitchFamily="49" charset="-120"/>
              </a:rPr>
              <a:t>/products/categories</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["men's clothing","jewelery",</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 "electronics","women's clothing"]</a:t>
            </a:r>
            <a:endParaRPr lang="en-US" sz="1200" dirty="0"/>
          </a:p>
          <a:p>
            <a:pPr algn="l" indent="0" marL="0">
              <a:lnSpc>
                <a:spcPts val="1800"/>
              </a:lnSpc>
              <a:buNone/>
            </a:pPr>
            <a:r>
              <a:rPr lang="en-US" sz="1200" dirty="0">
                <a:solidFill>
                  <a:srgbClr val="7FB0FF"/>
                </a:solidFill>
                <a:latin typeface="JetBrains Mono" pitchFamily="49" charset="0"/>
                <a:ea typeface="JetBrains Mono" pitchFamily="49" charset="-122"/>
                <a:cs typeface="JetBrains Mono" pitchFamily="49" charset="-120"/>
              </a:rPr>
              <a:t>/products/category/jewelery</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ids 5, 6, 7, 8</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SET 4 · EVERY KIND OF RES · LEVEL 2</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Same data, five different answers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694" y="1708547"/>
          <a:ext cx="10554519" cy="2845222"/>
        </p:xfrm>
        <a:graphic>
          <a:graphicData uri="http://schemas.openxmlformats.org/drawingml/2006/table">
            <a:tbl>
              <a:tblPr/>
              <a:tblGrid>
                <a:gridCol w="3166356"/>
                <a:gridCol w="2321994"/>
                <a:gridCol w="5066169"/>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Route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Use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Expected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545331">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/products/:id/image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res.redirect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/products/3/image → the jacket photo opens; address bar is now fakestoreapi.com/img/…</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/products/:id/title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res.type('text')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/products/3/title → Mens Cotton Jacket (plain text)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45331">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/products/:id/card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res.send(html)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title as a heading, the image 200px wide, the price below</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758713">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/stats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res.json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{"count":20,"avgPrice":162.05, "cheapest":{"id":19,"price":7.95}, "costliest":{"id":14,"price":999.99}}</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/download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res.download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products.json is saved by the browser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788" y="5207000"/>
            <a:ext cx="10883354"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Hint: avgPrice = sum ÷ count, then </a:t>
            </a:r>
            <a:r>
              <a:rPr lang="en-US" sz="1400" b="1" dirty="0">
                <a:solidFill>
                  <a:srgbClr val="4C5566"/>
                </a:solidFill>
                <a:latin typeface="Space Grotesk" pitchFamily="34" charset="0"/>
                <a:ea typeface="Space Grotesk" pitchFamily="34" charset="-122"/>
                <a:cs typeface="Space Grotesk" pitchFamily="34" charset="-120"/>
              </a:rPr>
              <a:t>Number(avg.toFixed(2))</a:t>
            </a:r>
            <a:r>
              <a:rPr lang="en-US" sz="1400" dirty="0">
                <a:solidFill>
                  <a:srgbClr val="4C5566"/>
                </a:solidFill>
                <a:latin typeface="Space Grotesk" pitchFamily="34" charset="0"/>
                <a:ea typeface="Space Grotesk" pitchFamily="34" charset="-122"/>
                <a:cs typeface="Space Grotesk" pitchFamily="34" charset="-120"/>
              </a:rPr>
              <a:t>. For /card use a template string with </a:t>
            </a:r>
            <a:r>
              <a:rPr lang="en-US" sz="1400" b="1" dirty="0">
                <a:solidFill>
                  <a:srgbClr val="4C5566"/>
                </a:solidFill>
                <a:latin typeface="Space Grotesk" pitchFamily="34" charset="0"/>
                <a:ea typeface="Space Grotesk" pitchFamily="34" charset="-122"/>
                <a:cs typeface="Space Grotesk" pitchFamily="34" charset="-120"/>
              </a:rPr>
              <a:t>${p.title}</a:t>
            </a:r>
            <a:r>
              <a:rPr lang="en-US" sz="1400" dirty="0">
                <a:solidFill>
                  <a:srgbClr val="4C5566"/>
                </a:solidFill>
                <a:latin typeface="Space Grotesk" pitchFamily="34" charset="0"/>
                <a:ea typeface="Space Grotesk" pitchFamily="34" charset="-122"/>
                <a:cs typeface="Space Grotesk" pitchFamily="34" charset="-120"/>
              </a:rPr>
              <a:t>, </a:t>
            </a:r>
            <a:r>
              <a:rPr lang="en-US" sz="1400" b="1" dirty="0">
                <a:solidFill>
                  <a:srgbClr val="4C5566"/>
                </a:solidFill>
                <a:latin typeface="Space Grotesk" pitchFamily="34" charset="0"/>
                <a:ea typeface="Space Grotesk" pitchFamily="34" charset="-122"/>
                <a:cs typeface="Space Grotesk" pitchFamily="34" charset="-120"/>
              </a:rPr>
              <a:t>${p.image}</a:t>
            </a:r>
            <a:r>
              <a:rPr lang="en-US" sz="1400" dirty="0">
                <a:solidFill>
                  <a:srgbClr val="4C5566"/>
                </a:solidFill>
                <a:latin typeface="Space Grotesk" pitchFamily="34" charset="0"/>
                <a:ea typeface="Space Grotesk" pitchFamily="34" charset="-122"/>
                <a:cs typeface="Space Grotesk" pitchFamily="34" charset="-120"/>
              </a:rPr>
              <a:t>, </a:t>
            </a:r>
            <a:r>
              <a:rPr lang="en-US" sz="1400" b="1" dirty="0">
                <a:solidFill>
                  <a:srgbClr val="4C5566"/>
                </a:solidFill>
                <a:latin typeface="Space Grotesk" pitchFamily="34" charset="0"/>
                <a:ea typeface="Space Grotesk" pitchFamily="34" charset="-122"/>
                <a:cs typeface="Space Grotesk" pitchFamily="34" charset="-120"/>
              </a:rPr>
              <a:t>${p.price}</a:t>
            </a:r>
            <a:r>
              <a:rPr lang="en-US" sz="1400" dirty="0">
                <a:solidFill>
                  <a:srgbClr val="4C5566"/>
                </a:solidFill>
                <a:latin typeface="Space Grotesk" pitchFamily="34" charset="0"/>
                <a:ea typeface="Space Grotesk" pitchFamily="34" charset="-122"/>
                <a:cs typeface="Space Grotesk" pitchFamily="34" charset="-120"/>
              </a:rPr>
              <a:t>.</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SET 5 · REQ.BODY, POST, PUT, DELETE · LEVEL 3</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Change the data, not just read it</a:t>
            </a:r>
            <a:endParaRPr lang="en-US" sz="2800" dirty="0"/>
          </a:p>
        </p:txBody>
      </p:sp>
      <p:sp>
        <p:nvSpPr>
          <p:cNvPr id="4" name="Shape 2"/>
          <p:cNvSpPr/>
          <p:nvPr/>
        </p:nvSpPr>
        <p:spPr>
          <a:xfrm>
            <a:off x="819138" y="1702991"/>
            <a:ext cx="4051300" cy="2646797"/>
          </a:xfrm>
          <a:prstGeom prst="roundRect">
            <a:avLst>
              <a:gd name="adj" fmla="val 3599"/>
            </a:avLst>
          </a:prstGeom>
          <a:solidFill>
            <a:srgbClr val="FDFCF8"/>
          </a:solidFill>
          <a:ln w="12700">
            <a:solidFill>
              <a:srgbClr val="DDD8CA"/>
            </a:solidFill>
            <a:prstDash val="solid"/>
          </a:ln>
        </p:spPr>
      </p:sp>
      <p:sp>
        <p:nvSpPr>
          <p:cNvPr id="5" name="Text 3"/>
          <p:cNvSpPr/>
          <p:nvPr/>
        </p:nvSpPr>
        <p:spPr>
          <a:xfrm>
            <a:off x="1027844" y="1911697"/>
            <a:ext cx="3742903"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9692A"/>
                </a:solidFill>
                <a:latin typeface="Space Grotesk" pitchFamily="34" charset="0"/>
                <a:ea typeface="Space Grotesk" pitchFamily="34" charset="-122"/>
                <a:cs typeface="Space Grotesk" pitchFamily="34" charset="-120"/>
              </a:rPr>
              <a:t>BUILD (use Thunder Client)</a:t>
            </a:r>
            <a:endParaRPr lang="en-US" sz="1200" dirty="0"/>
          </a:p>
        </p:txBody>
      </p:sp>
      <p:sp>
        <p:nvSpPr>
          <p:cNvPr id="6" name="Text 4"/>
          <p:cNvSpPr/>
          <p:nvPr/>
        </p:nvSpPr>
        <p:spPr>
          <a:xfrm>
            <a:off x="1100770" y="2226667"/>
            <a:ext cx="3662358" cy="1939826"/>
          </a:xfrm>
          <a:prstGeom prst="rect">
            <a:avLst/>
          </a:prstGeom>
          <a:noFill/>
          <a:ln/>
        </p:spPr>
        <p:txBody>
          <a:bodyPr wrap="square" lIns="0" tIns="0" rIns="0" bIns="0" rtlCol="0" anchor="t">
            <a:normAutofit/>
          </a:bodyPr>
          <a:lstStyle/>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Add server.use(express.json())</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POST /products → new id = highest id + 1, push it, reply 201</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No title, or price not a number → 400</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PUT /products/:id → update only the fields sent</a:t>
            </a:r>
            <a:endParaRPr lang="en-US" sz="1300" dirty="0"/>
          </a:p>
          <a:p>
            <a:pPr algn="l" marL="181074" indent="-181074">
              <a:lnSpc>
                <a:spcPts val="1885"/>
              </a:lnSpc>
              <a:buSzPct val="100000"/>
              <a:buFontTx/>
              <a:buAutoNum type="arabicPeriod" startAt="1"/>
            </a:pPr>
            <a:r>
              <a:rPr lang="en-US" sz="1300" dirty="0">
                <a:solidFill>
                  <a:srgbClr val="1A1F2B"/>
                </a:solidFill>
                <a:latin typeface="Space Grotesk" pitchFamily="34" charset="0"/>
                <a:ea typeface="Space Grotesk" pitchFamily="34" charset="-122"/>
                <a:cs typeface="Space Grotesk" pitchFamily="34" charset="-120"/>
              </a:rPr>
              <a:t>DELETE /products/:id → 204, then GET gives 404</a:t>
            </a:r>
            <a:endParaRPr lang="en-US" sz="1300" dirty="0"/>
          </a:p>
        </p:txBody>
      </p:sp>
      <p:sp>
        <p:nvSpPr>
          <p:cNvPr id="7" name="Shape 5"/>
          <p:cNvSpPr/>
          <p:nvPr/>
        </p:nvSpPr>
        <p:spPr>
          <a:xfrm>
            <a:off x="5054575" y="1696641"/>
            <a:ext cx="6324637" cy="3007134"/>
          </a:xfrm>
          <a:prstGeom prst="roundRect">
            <a:avLst>
              <a:gd name="adj" fmla="val 3379"/>
            </a:avLst>
          </a:prstGeom>
          <a:solidFill>
            <a:srgbClr val="0E1117"/>
          </a:solidFill>
          <a:ln/>
        </p:spPr>
      </p:sp>
      <p:sp>
        <p:nvSpPr>
          <p:cNvPr id="8" name="Text 6"/>
          <p:cNvSpPr/>
          <p:nvPr/>
        </p:nvSpPr>
        <p:spPr>
          <a:xfrm>
            <a:off x="5257726" y="1874441"/>
            <a:ext cx="6095887"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EXPECTED OUTPUT</a:t>
            </a:r>
            <a:endParaRPr lang="en-US" sz="1200" dirty="0"/>
          </a:p>
        </p:txBody>
      </p:sp>
      <p:sp>
        <p:nvSpPr>
          <p:cNvPr id="9" name="Text 7"/>
          <p:cNvSpPr/>
          <p:nvPr/>
        </p:nvSpPr>
        <p:spPr>
          <a:xfrm>
            <a:off x="5257726" y="2163961"/>
            <a:ext cx="6095887" cy="2387426"/>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F0A15E"/>
                </a:solidFill>
                <a:latin typeface="JetBrains Mono" pitchFamily="49" charset="0"/>
                <a:ea typeface="JetBrains Mono" pitchFamily="49" charset="-122"/>
                <a:cs typeface="JetBrains Mono" pitchFamily="49" charset="-120"/>
              </a:rPr>
              <a:t>POST</a:t>
            </a:r>
            <a:r>
              <a:rPr lang="en-US" sz="1200" dirty="0">
                <a:solidFill>
                  <a:srgbClr val="D7DCE2"/>
                </a:solidFill>
                <a:latin typeface="JetBrains Mono" pitchFamily="49" charset="0"/>
                <a:ea typeface="JetBrains Mono" pitchFamily="49" charset="-122"/>
                <a:cs typeface="JetBrains Mono" pitchFamily="49" charset="-120"/>
              </a:rPr>
              <a:t> /products {"title":"Steel Bottle","price":12.5}</a:t>
            </a:r>
            <a:endParaRPr lang="en-US" sz="1200" dirty="0"/>
          </a:p>
          <a:p>
            <a:pPr algn="l" indent="0" marL="0">
              <a:lnSpc>
                <a:spcPts val="1860"/>
              </a:lnSpc>
              <a:buNone/>
            </a:pPr>
            <a:r>
              <a:rPr lang="en-US" sz="1200" dirty="0">
                <a:solidFill>
                  <a:srgbClr val="7BD88F"/>
                </a:solidFill>
                <a:latin typeface="JetBrains Mono" pitchFamily="49" charset="0"/>
                <a:ea typeface="JetBrains Mono" pitchFamily="49" charset="-122"/>
                <a:cs typeface="JetBrains Mono" pitchFamily="49" charset="-120"/>
              </a:rPr>
              <a:t>201</a:t>
            </a:r>
            <a:r>
              <a:rPr lang="en-US" sz="1200" dirty="0">
                <a:solidFill>
                  <a:srgbClr val="D7DCE2"/>
                </a:solidFill>
                <a:latin typeface="JetBrains Mono" pitchFamily="49" charset="0"/>
                <a:ea typeface="JetBrains Mono" pitchFamily="49" charset="-122"/>
                <a:cs typeface="JetBrains Mono" pitchFamily="49" charset="-120"/>
              </a:rPr>
              <a:t> {"id":21,"title":"Steel Bottle","price":12.5}</a:t>
            </a:r>
            <a:endParaRPr lang="en-US" sz="1200" dirty="0"/>
          </a:p>
          <a:p>
            <a:pPr algn="l" indent="0" marL="0">
              <a:lnSpc>
                <a:spcPts val="1860"/>
              </a:lnSpc>
              <a:buNone/>
            </a:pPr>
            <a:r>
              <a:rPr lang="en-US" sz="1200" dirty="0">
                <a:solidFill>
                  <a:srgbClr val="F0A15E"/>
                </a:solidFill>
                <a:latin typeface="JetBrains Mono" pitchFamily="49" charset="0"/>
                <a:ea typeface="JetBrains Mono" pitchFamily="49" charset="-122"/>
                <a:cs typeface="JetBrains Mono" pitchFamily="49" charset="-120"/>
              </a:rPr>
              <a:t>POST</a:t>
            </a:r>
            <a:r>
              <a:rPr lang="en-US" sz="1200" dirty="0">
                <a:solidFill>
                  <a:srgbClr val="D7DCE2"/>
                </a:solidFill>
                <a:latin typeface="JetBrains Mono" pitchFamily="49" charset="0"/>
                <a:ea typeface="JetBrains Mono" pitchFamily="49" charset="-122"/>
                <a:cs typeface="JetBrains Mono" pitchFamily="49" charset="-120"/>
              </a:rPr>
              <a:t> /products {"price":"cheap"}</a:t>
            </a:r>
            <a:endParaRPr lang="en-US" sz="1200" dirty="0"/>
          </a:p>
          <a:p>
            <a:pPr algn="l" indent="0" marL="0">
              <a:lnSpc>
                <a:spcPts val="1860"/>
              </a:lnSpc>
              <a:buNone/>
            </a:pPr>
            <a:r>
              <a:rPr lang="en-US" sz="1200" dirty="0">
                <a:solidFill>
                  <a:srgbClr val="FF8A80"/>
                </a:solidFill>
                <a:latin typeface="JetBrains Mono" pitchFamily="49" charset="0"/>
                <a:ea typeface="JetBrains Mono" pitchFamily="49" charset="-122"/>
                <a:cs typeface="JetBrains Mono" pitchFamily="49" charset="-120"/>
              </a:rPr>
              <a:t>400</a:t>
            </a:r>
            <a:r>
              <a:rPr lang="en-US" sz="1200" dirty="0">
                <a:solidFill>
                  <a:srgbClr val="D7DCE2"/>
                </a:solidFill>
                <a:latin typeface="JetBrains Mono" pitchFamily="49" charset="0"/>
                <a:ea typeface="JetBrains Mono" pitchFamily="49" charset="-122"/>
                <a:cs typeface="JetBrains Mono" pitchFamily="49" charset="-120"/>
              </a:rPr>
              <a:t> {"error":"title and price are required"}</a:t>
            </a:r>
            <a:endParaRPr lang="en-US" sz="1200" dirty="0"/>
          </a:p>
          <a:p>
            <a:pPr algn="l" indent="0" marL="0">
              <a:lnSpc>
                <a:spcPts val="1860"/>
              </a:lnSpc>
              <a:buNone/>
            </a:pPr>
            <a:r>
              <a:rPr lang="en-US" sz="1200" dirty="0">
                <a:solidFill>
                  <a:srgbClr val="F0A15E"/>
                </a:solidFill>
                <a:latin typeface="JetBrains Mono" pitchFamily="49" charset="0"/>
                <a:ea typeface="JetBrains Mono" pitchFamily="49" charset="-122"/>
                <a:cs typeface="JetBrains Mono" pitchFamily="49" charset="-120"/>
              </a:rPr>
              <a:t>PUT</a:t>
            </a:r>
            <a:r>
              <a:rPr lang="en-US" sz="1200" dirty="0">
                <a:solidFill>
                  <a:srgbClr val="D7DCE2"/>
                </a:solidFill>
                <a:latin typeface="JetBrains Mono" pitchFamily="49" charset="0"/>
                <a:ea typeface="JetBrains Mono" pitchFamily="49" charset="-122"/>
                <a:cs typeface="JetBrains Mono" pitchFamily="49" charset="-120"/>
              </a:rPr>
              <a:t> /products/21 {"price":9.99}</a:t>
            </a:r>
            <a:endParaRPr lang="en-US" sz="1200" dirty="0"/>
          </a:p>
          <a:p>
            <a:pPr algn="l" indent="0" marL="0">
              <a:lnSpc>
                <a:spcPts val="1860"/>
              </a:lnSpc>
              <a:buNone/>
            </a:pPr>
            <a:r>
              <a:rPr lang="en-US" sz="1200" dirty="0">
                <a:solidFill>
                  <a:srgbClr val="7BD88F"/>
                </a:solidFill>
                <a:latin typeface="JetBrains Mono" pitchFamily="49" charset="0"/>
                <a:ea typeface="JetBrains Mono" pitchFamily="49" charset="-122"/>
                <a:cs typeface="JetBrains Mono" pitchFamily="49" charset="-120"/>
              </a:rPr>
              <a:t>200</a:t>
            </a:r>
            <a:r>
              <a:rPr lang="en-US" sz="1200" dirty="0">
                <a:solidFill>
                  <a:srgbClr val="D7DCE2"/>
                </a:solidFill>
                <a:latin typeface="JetBrains Mono" pitchFamily="49" charset="0"/>
                <a:ea typeface="JetBrains Mono" pitchFamily="49" charset="-122"/>
                <a:cs typeface="JetBrains Mono" pitchFamily="49" charset="-120"/>
              </a:rPr>
              <a:t> {"id":21,"title":"Steel Bottle","price":9.99}</a:t>
            </a:r>
            <a:endParaRPr lang="en-US" sz="1200" dirty="0"/>
          </a:p>
          <a:p>
            <a:pPr algn="l" indent="0" marL="0">
              <a:lnSpc>
                <a:spcPts val="1860"/>
              </a:lnSpc>
              <a:buNone/>
            </a:pPr>
            <a:r>
              <a:rPr lang="en-US" sz="1200" dirty="0">
                <a:solidFill>
                  <a:srgbClr val="F0A15E"/>
                </a:solidFill>
                <a:latin typeface="JetBrains Mono" pitchFamily="49" charset="0"/>
                <a:ea typeface="JetBrains Mono" pitchFamily="49" charset="-122"/>
                <a:cs typeface="JetBrains Mono" pitchFamily="49" charset="-120"/>
              </a:rPr>
              <a:t>DELETE</a:t>
            </a:r>
            <a:r>
              <a:rPr lang="en-US" sz="1200" dirty="0">
                <a:solidFill>
                  <a:srgbClr val="D7DCE2"/>
                </a:solidFill>
                <a:latin typeface="JetBrains Mono" pitchFamily="49" charset="0"/>
                <a:ea typeface="JetBrains Mono" pitchFamily="49" charset="-122"/>
                <a:cs typeface="JetBrains Mono" pitchFamily="49" charset="-120"/>
              </a:rPr>
              <a:t> /products/21</a:t>
            </a:r>
            <a:endParaRPr lang="en-US" sz="1200" dirty="0"/>
          </a:p>
          <a:p>
            <a:pPr algn="l" indent="0" marL="0">
              <a:lnSpc>
                <a:spcPts val="1860"/>
              </a:lnSpc>
              <a:buNone/>
            </a:pPr>
            <a:r>
              <a:rPr lang="en-US" sz="1200" dirty="0">
                <a:solidFill>
                  <a:srgbClr val="7BD88F"/>
                </a:solidFill>
                <a:latin typeface="JetBrains Mono" pitchFamily="49" charset="0"/>
                <a:ea typeface="JetBrains Mono" pitchFamily="49" charset="-122"/>
                <a:cs typeface="JetBrains Mono" pitchFamily="49" charset="-120"/>
              </a:rPr>
              <a:t>204</a:t>
            </a:r>
            <a:r>
              <a:rPr lang="en-US" sz="1200" dirty="0">
                <a:solidFill>
                  <a:srgbClr val="D7DCE2"/>
                </a:solidFill>
                <a:latin typeface="JetBrains Mono" pitchFamily="49" charset="0"/>
                <a:ea typeface="JetBrains Mono" pitchFamily="49" charset="-122"/>
                <a:cs typeface="JetBrains Mono" pitchFamily="49" charset="-120"/>
              </a:rPr>
              <a:t> (empty body)</a:t>
            </a:r>
            <a:endParaRPr lang="en-US" sz="1200" dirty="0"/>
          </a:p>
          <a:p>
            <a:pPr algn="l" indent="0" marL="0">
              <a:lnSpc>
                <a:spcPts val="1860"/>
              </a:lnSpc>
              <a:buNone/>
            </a:pPr>
            <a:r>
              <a:rPr lang="en-US" sz="1200" dirty="0">
                <a:solidFill>
                  <a:srgbClr val="7FB0FF"/>
                </a:solidFill>
                <a:latin typeface="JetBrains Mono" pitchFamily="49" charset="0"/>
                <a:ea typeface="JetBrains Mono" pitchFamily="49" charset="-122"/>
                <a:cs typeface="JetBrains Mono" pitchFamily="49" charset="-120"/>
              </a:rPr>
              <a:t>GET</a:t>
            </a:r>
            <a:r>
              <a:rPr lang="en-US" sz="1200" dirty="0">
                <a:solidFill>
                  <a:srgbClr val="D7DCE2"/>
                </a:solidFill>
                <a:latin typeface="JetBrains Mono" pitchFamily="49" charset="0"/>
                <a:ea typeface="JetBrains Mono" pitchFamily="49" charset="-122"/>
                <a:cs typeface="JetBrains Mono" pitchFamily="49" charset="-120"/>
              </a:rPr>
              <a:t> /products/21</a:t>
            </a:r>
            <a:endParaRPr lang="en-US" sz="1200" dirty="0"/>
          </a:p>
          <a:p>
            <a:pPr algn="l" indent="0" marL="0">
              <a:lnSpc>
                <a:spcPts val="1860"/>
              </a:lnSpc>
              <a:buNone/>
            </a:pPr>
            <a:r>
              <a:rPr lang="en-US" sz="1200" dirty="0">
                <a:solidFill>
                  <a:srgbClr val="FF8A80"/>
                </a:solidFill>
                <a:latin typeface="JetBrains Mono" pitchFamily="49" charset="0"/>
                <a:ea typeface="JetBrains Mono" pitchFamily="49" charset="-122"/>
                <a:cs typeface="JetBrains Mono" pitchFamily="49" charset="-120"/>
              </a:rPr>
              <a:t>404</a:t>
            </a:r>
            <a:r>
              <a:rPr lang="en-US" sz="1200" dirty="0">
                <a:solidFill>
                  <a:srgbClr val="D7DCE2"/>
                </a:solidFill>
                <a:latin typeface="JetBrains Mono" pitchFamily="49" charset="0"/>
                <a:ea typeface="JetBrains Mono" pitchFamily="49" charset="-122"/>
                <a:cs typeface="JetBrains Mono" pitchFamily="49" charset="-120"/>
              </a:rPr>
              <a:t> {"error":"Product 21 not found"}</a:t>
            </a:r>
            <a:endParaRPr lang="en-US" sz="1200" dirty="0"/>
          </a:p>
        </p:txBody>
      </p:sp>
      <p:sp>
        <p:nvSpPr>
          <p:cNvPr id="10" name="Text 8"/>
          <p:cNvSpPr/>
          <p:nvPr/>
        </p:nvSpPr>
        <p:spPr>
          <a:xfrm>
            <a:off x="812788" y="5461000"/>
            <a:ext cx="10883354" cy="523106"/>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566"/>
                </a:solidFill>
                <a:latin typeface="Space Grotesk" pitchFamily="34" charset="0"/>
                <a:ea typeface="Space Grotesk" pitchFamily="34" charset="-122"/>
                <a:cs typeface="Space Grotesk" pitchFamily="34" charset="-120"/>
              </a:rPr>
              <a:t>Hint: </a:t>
            </a:r>
            <a:r>
              <a:rPr lang="en-US" sz="1400" b="1" dirty="0">
                <a:solidFill>
                  <a:srgbClr val="4C5566"/>
                </a:solidFill>
                <a:latin typeface="Space Grotesk" pitchFamily="34" charset="0"/>
                <a:ea typeface="Space Grotesk" pitchFamily="34" charset="-122"/>
                <a:cs typeface="Space Grotesk" pitchFamily="34" charset="-120"/>
              </a:rPr>
              <a:t>Object.assign(product, req.body)</a:t>
            </a:r>
            <a:r>
              <a:rPr lang="en-US" sz="1400" dirty="0">
                <a:solidFill>
                  <a:srgbClr val="4C5566"/>
                </a:solidFill>
                <a:latin typeface="Space Grotesk" pitchFamily="34" charset="0"/>
                <a:ea typeface="Space Grotesk" pitchFamily="34" charset="-122"/>
                <a:cs typeface="Space Grotesk" pitchFamily="34" charset="-120"/>
              </a:rPr>
              <a:t> for PUT; </a:t>
            </a:r>
            <a:r>
              <a:rPr lang="en-US" sz="1400" b="1" dirty="0">
                <a:solidFill>
                  <a:srgbClr val="4C5566"/>
                </a:solidFill>
                <a:latin typeface="Space Grotesk" pitchFamily="34" charset="0"/>
                <a:ea typeface="Space Grotesk" pitchFamily="34" charset="-122"/>
                <a:cs typeface="Space Grotesk" pitchFamily="34" charset="-120"/>
              </a:rPr>
              <a:t>products.splice(index, 1)</a:t>
            </a:r>
            <a:r>
              <a:rPr lang="en-US" sz="1400" dirty="0">
                <a:solidFill>
                  <a:srgbClr val="4C5566"/>
                </a:solidFill>
                <a:latin typeface="Space Grotesk" pitchFamily="34" charset="0"/>
                <a:ea typeface="Space Grotesk" pitchFamily="34" charset="-122"/>
                <a:cs typeface="Space Grotesk" pitchFamily="34" charset="-120"/>
              </a:rPr>
              <a:t> for DELETE. Restart the server and all changes vanish: data lives in memory.</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SET 6 · CHALLENGE · LEVEL 3</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Think like an API designer</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694" y="1708547"/>
          <a:ext cx="10554519" cy="2323641"/>
        </p:xfrm>
        <a:graphic>
          <a:graphicData uri="http://schemas.openxmlformats.org/drawingml/2006/table">
            <a:tbl>
              <a:tblPr/>
              <a:tblGrid>
                <a:gridCol w="4010717"/>
                <a:gridCol w="6543802"/>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Request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Expected response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/products/top?n=3</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highest rating.rate first → ids 11, 12, 3</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/search?q=JACKET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case-insensitive title match → ids 3, 15, 16, 17</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/products/most-reviewed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id 17, Rain Jacket…, 679 reviews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/compare?a=1&amp;b=5</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{"cheaper":1,"difference":585.05}</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/compare?a=1</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400 {"error":"a and b are required"}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GET /xyz (any unknown)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404 {"error":"Route GET /xyz not found"}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Shape 2"/>
          <p:cNvSpPr/>
          <p:nvPr/>
        </p:nvSpPr>
        <p:spPr>
          <a:xfrm>
            <a:off x="812788" y="4826000"/>
            <a:ext cx="10566363" cy="1219150"/>
          </a:xfrm>
          <a:prstGeom prst="roundRect">
            <a:avLst>
              <a:gd name="adj" fmla="val 8334"/>
            </a:avLst>
          </a:prstGeom>
          <a:solidFill>
            <a:srgbClr val="12161D"/>
          </a:solidFill>
          <a:ln/>
        </p:spPr>
      </p:sp>
      <p:sp>
        <p:nvSpPr>
          <p:cNvPr id="6" name="Text 3"/>
          <p:cNvSpPr/>
          <p:nvPr/>
        </p:nvSpPr>
        <p:spPr>
          <a:xfrm>
            <a:off x="1041363" y="5163840"/>
            <a:ext cx="10412489"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6"/>
                </a:solidFill>
                <a:latin typeface="Space Grotesk" pitchFamily="34" charset="0"/>
                <a:ea typeface="Space Grotesk" pitchFamily="34" charset="-122"/>
                <a:cs typeface="Space Grotesk" pitchFamily="34" charset="-120"/>
              </a:rPr>
              <a:t>Last row: put </a:t>
            </a:r>
            <a:r>
              <a:rPr lang="en-US" sz="1400" b="1" dirty="0">
                <a:solidFill>
                  <a:srgbClr val="F0A15E"/>
                </a:solidFill>
                <a:latin typeface="Space Grotesk" pitchFamily="34" charset="0"/>
                <a:ea typeface="Space Grotesk" pitchFamily="34" charset="-122"/>
                <a:cs typeface="Space Grotesk" pitchFamily="34" charset="-120"/>
              </a:rPr>
              <a:t>server.use((req, res) =&gt; …)</a:t>
            </a:r>
            <a:r>
              <a:rPr lang="en-US" sz="1400" dirty="0">
                <a:solidFill>
                  <a:srgbClr val="F2EFE6"/>
                </a:solidFill>
                <a:latin typeface="Space Grotesk" pitchFamily="34" charset="0"/>
                <a:ea typeface="Space Grotesk" pitchFamily="34" charset="-122"/>
                <a:cs typeface="Space Grotesk" pitchFamily="34" charset="-120"/>
              </a:rPr>
              <a:t> after every route. It runs only when nothing matched.</a:t>
            </a:r>
            <a:endParaRPr lang="en-US" sz="1400" dirty="0"/>
          </a:p>
        </p:txBody>
      </p:sp>
      <p:sp>
        <p:nvSpPr>
          <p:cNvPr id="7" name="Text 4"/>
          <p:cNvSpPr/>
          <p:nvPr/>
        </p:nvSpPr>
        <p:spPr>
          <a:xfrm>
            <a:off x="1041363" y="5476180"/>
            <a:ext cx="10412489"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0CC"/>
                </a:solidFill>
                <a:latin typeface="Space Grotesk" pitchFamily="34" charset="0"/>
                <a:ea typeface="Space Grotesk" pitchFamily="34" charset="-122"/>
                <a:cs typeface="Space Grotesk" pitchFamily="34" charset="-120"/>
              </a:rPr>
              <a:t>That function is your first hand-written middleware. Keep it. We start the next part with it.</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REFERENCE SOLUTION · SETS 1 AND 2</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Compare with yours after you try</a:t>
            </a:r>
            <a:endParaRPr lang="en-US" sz="2800" dirty="0"/>
          </a:p>
        </p:txBody>
      </p:sp>
      <p:sp>
        <p:nvSpPr>
          <p:cNvPr id="4" name="Shape 2"/>
          <p:cNvSpPr/>
          <p:nvPr/>
        </p:nvSpPr>
        <p:spPr>
          <a:xfrm>
            <a:off x="812788" y="1696641"/>
            <a:ext cx="5194288" cy="3406428"/>
          </a:xfrm>
          <a:prstGeom prst="roundRect">
            <a:avLst>
              <a:gd name="adj" fmla="val 2983"/>
            </a:avLst>
          </a:prstGeom>
          <a:solidFill>
            <a:srgbClr val="161B24"/>
          </a:solidFill>
          <a:ln/>
        </p:spPr>
      </p:sp>
      <p:sp>
        <p:nvSpPr>
          <p:cNvPr id="5" name="Text 3"/>
          <p:cNvSpPr/>
          <p:nvPr/>
        </p:nvSpPr>
        <p:spPr>
          <a:xfrm>
            <a:off x="1015938" y="1874441"/>
            <a:ext cx="4931626"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BD88F"/>
                </a:solidFill>
                <a:latin typeface="Space Grotesk" pitchFamily="34" charset="0"/>
                <a:ea typeface="Space Grotesk" pitchFamily="34" charset="-122"/>
                <a:cs typeface="Space Grotesk" pitchFamily="34" charset="-120"/>
              </a:rPr>
              <a:t>Set 1 · one product</a:t>
            </a:r>
            <a:endParaRPr lang="en-US" sz="1200" dirty="0"/>
          </a:p>
        </p:txBody>
      </p:sp>
      <p:sp>
        <p:nvSpPr>
          <p:cNvPr id="6" name="Text 4"/>
          <p:cNvSpPr/>
          <p:nvPr/>
        </p:nvSpPr>
        <p:spPr>
          <a:xfrm>
            <a:off x="1015938" y="2151311"/>
            <a:ext cx="4931626" cy="279937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id = </a:t>
            </a:r>
            <a:r>
              <a:rPr lang="en-US" sz="1200" dirty="0">
                <a:solidFill>
                  <a:srgbClr val="82AAFF"/>
                </a:solidFill>
                <a:latin typeface="JetBrains Mono" pitchFamily="49" charset="0"/>
                <a:ea typeface="JetBrains Mono" pitchFamily="49" charset="-122"/>
                <a:cs typeface="JetBrains Mono" pitchFamily="49" charset="-120"/>
              </a:rPr>
              <a:t>Number</a:t>
            </a:r>
            <a:r>
              <a:rPr lang="en-US" sz="1200" dirty="0">
                <a:solidFill>
                  <a:srgbClr val="E6E1D6"/>
                </a:solidFill>
                <a:latin typeface="JetBrains Mono" pitchFamily="49" charset="0"/>
                <a:ea typeface="JetBrains Mono" pitchFamily="49" charset="-122"/>
                <a:cs typeface="JetBrains Mono" pitchFamily="49" charset="-120"/>
              </a:rPr>
              <a:t>(req.params.id);</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(Number.</a:t>
            </a:r>
            <a:r>
              <a:rPr lang="en-US" sz="1200" dirty="0">
                <a:solidFill>
                  <a:srgbClr val="82AAFF"/>
                </a:solidFill>
                <a:latin typeface="JetBrains Mono" pitchFamily="49" charset="0"/>
                <a:ea typeface="JetBrains Mono" pitchFamily="49" charset="-122"/>
                <a:cs typeface="JetBrains Mono" pitchFamily="49" charset="-120"/>
              </a:rPr>
              <a:t>isNaN</a:t>
            </a:r>
            <a:r>
              <a:rPr lang="en-US" sz="1200" dirty="0">
                <a:solidFill>
                  <a:srgbClr val="E6E1D6"/>
                </a:solidFill>
                <a:latin typeface="JetBrains Mono" pitchFamily="49" charset="0"/>
                <a:ea typeface="JetBrains Mono" pitchFamily="49" charset="-122"/>
                <a:cs typeface="JetBrains Mono" pitchFamily="49" charset="-120"/>
              </a:rPr>
              <a:t>(id))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return</a:t>
            </a: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400</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 error: </a:t>
            </a:r>
            <a:r>
              <a:rPr lang="en-US" sz="1200" dirty="0">
                <a:solidFill>
                  <a:srgbClr val="C3E88D"/>
                </a:solidFill>
                <a:latin typeface="JetBrains Mono" pitchFamily="49" charset="0"/>
                <a:ea typeface="JetBrains Mono" pitchFamily="49" charset="-122"/>
                <a:cs typeface="JetBrains Mono" pitchFamily="49" charset="-120"/>
              </a:rPr>
              <a:t>'id must be a number'</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 = products.</a:t>
            </a:r>
            <a:r>
              <a:rPr lang="en-US" sz="1200" dirty="0">
                <a:solidFill>
                  <a:srgbClr val="82AAFF"/>
                </a:solidFill>
                <a:latin typeface="JetBrains Mono" pitchFamily="49" charset="0"/>
                <a:ea typeface="JetBrains Mono" pitchFamily="49" charset="-122"/>
                <a:cs typeface="JetBrains Mono" pitchFamily="49" charset="-120"/>
              </a:rPr>
              <a:t>find</a:t>
            </a:r>
            <a:r>
              <a:rPr lang="en-US" sz="1200" dirty="0">
                <a:solidFill>
                  <a:srgbClr val="E6E1D6"/>
                </a:solidFill>
                <a:latin typeface="JetBrains Mono" pitchFamily="49" charset="0"/>
                <a:ea typeface="JetBrains Mono" pitchFamily="49" charset="-122"/>
                <a:cs typeface="JetBrains Mono" pitchFamily="49" charset="-120"/>
              </a:rPr>
              <a:t>(x =&gt; x.id === id);</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(!p)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return</a:t>
            </a: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404</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 error: </a:t>
            </a:r>
            <a:r>
              <a:rPr lang="en-US" sz="1200" dirty="0">
                <a:solidFill>
                  <a:srgbClr val="C3E88D"/>
                </a:solidFill>
                <a:latin typeface="JetBrains Mono" pitchFamily="49" charset="0"/>
                <a:ea typeface="JetBrains Mono" pitchFamily="49" charset="-122"/>
                <a:cs typeface="JetBrains Mono" pitchFamily="49" charset="-120"/>
              </a:rPr>
              <a:t>`Product ${id} not found`</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(p);</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184863" y="1696641"/>
            <a:ext cx="5194350" cy="3406428"/>
          </a:xfrm>
          <a:prstGeom prst="roundRect">
            <a:avLst>
              <a:gd name="adj" fmla="val 2983"/>
            </a:avLst>
          </a:prstGeom>
          <a:solidFill>
            <a:srgbClr val="161B24"/>
          </a:solidFill>
          <a:ln/>
        </p:spPr>
      </p:sp>
      <p:sp>
        <p:nvSpPr>
          <p:cNvPr id="8" name="Text 6"/>
          <p:cNvSpPr/>
          <p:nvPr/>
        </p:nvSpPr>
        <p:spPr>
          <a:xfrm>
            <a:off x="6388013" y="1874441"/>
            <a:ext cx="4931690"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BD88F"/>
                </a:solidFill>
                <a:latin typeface="Space Grotesk" pitchFamily="34" charset="0"/>
                <a:ea typeface="Space Grotesk" pitchFamily="34" charset="-122"/>
                <a:cs typeface="Space Grotesk" pitchFamily="34" charset="-120"/>
              </a:rPr>
              <a:t>Set 2 · filters</a:t>
            </a:r>
            <a:endParaRPr lang="en-US" sz="1200" dirty="0"/>
          </a:p>
        </p:txBody>
      </p:sp>
      <p:sp>
        <p:nvSpPr>
          <p:cNvPr id="9" name="Text 7"/>
          <p:cNvSpPr/>
          <p:nvPr/>
        </p:nvSpPr>
        <p:spPr>
          <a:xfrm>
            <a:off x="6388013" y="2151311"/>
            <a:ext cx="4931690" cy="279937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q = req.query;</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let</a:t>
            </a:r>
            <a:r>
              <a:rPr lang="en-US" sz="1200" dirty="0">
                <a:solidFill>
                  <a:srgbClr val="E6E1D6"/>
                </a:solidFill>
                <a:latin typeface="JetBrains Mono" pitchFamily="49" charset="0"/>
                <a:ea typeface="JetBrains Mono" pitchFamily="49" charset="-122"/>
                <a:cs typeface="JetBrains Mono" pitchFamily="49" charset="-120"/>
              </a:rPr>
              <a:t> list = [...products];</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(q.category) list = list.</a:t>
            </a:r>
            <a:r>
              <a:rPr lang="en-US" sz="1200" dirty="0">
                <a:solidFill>
                  <a:srgbClr val="82AAFF"/>
                </a:solidFill>
                <a:latin typeface="JetBrains Mono" pitchFamily="49" charset="0"/>
                <a:ea typeface="JetBrains Mono" pitchFamily="49" charset="-122"/>
                <a:cs typeface="JetBrains Mono" pitchFamily="49" charset="-120"/>
              </a:rPr>
              <a:t>filter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p =&gt; p.category === q.category);</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(q.maxPrice) list = list.</a:t>
            </a:r>
            <a:r>
              <a:rPr lang="en-US" sz="1200" dirty="0">
                <a:solidFill>
                  <a:srgbClr val="82AAFF"/>
                </a:solidFill>
                <a:latin typeface="JetBrains Mono" pitchFamily="49" charset="0"/>
                <a:ea typeface="JetBrains Mono" pitchFamily="49" charset="-122"/>
                <a:cs typeface="JetBrains Mono" pitchFamily="49" charset="-120"/>
              </a:rPr>
              <a:t>filter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p =&gt; p.price &lt;= </a:t>
            </a:r>
            <a:r>
              <a:rPr lang="en-US" sz="1200" dirty="0">
                <a:solidFill>
                  <a:srgbClr val="82AAFF"/>
                </a:solidFill>
                <a:latin typeface="JetBrains Mono" pitchFamily="49" charset="0"/>
                <a:ea typeface="JetBrains Mono" pitchFamily="49" charset="-122"/>
                <a:cs typeface="JetBrains Mono" pitchFamily="49" charset="-120"/>
              </a:rPr>
              <a:t>Number</a:t>
            </a:r>
            <a:r>
              <a:rPr lang="en-US" sz="1200" dirty="0">
                <a:solidFill>
                  <a:srgbClr val="E6E1D6"/>
                </a:solidFill>
                <a:latin typeface="JetBrains Mono" pitchFamily="49" charset="0"/>
                <a:ea typeface="JetBrains Mono" pitchFamily="49" charset="-122"/>
                <a:cs typeface="JetBrains Mono" pitchFamily="49" charset="-120"/>
              </a:rPr>
              <a:t>(q.maxPrice));</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(q.sort === </a:t>
            </a:r>
            <a:r>
              <a:rPr lang="en-US" sz="1200" dirty="0">
                <a:solidFill>
                  <a:srgbClr val="C3E88D"/>
                </a:solidFill>
                <a:latin typeface="JetBrains Mono" pitchFamily="49" charset="0"/>
                <a:ea typeface="JetBrains Mono" pitchFamily="49" charset="-122"/>
                <a:cs typeface="JetBrains Mono" pitchFamily="49" charset="-120"/>
              </a:rPr>
              <a:t>'desc'</a:t>
            </a:r>
            <a:r>
              <a:rPr lang="en-US" sz="1200" dirty="0">
                <a:solidFill>
                  <a:srgbClr val="E6E1D6"/>
                </a:solidFill>
                <a:latin typeface="JetBrains Mono" pitchFamily="49" charset="0"/>
                <a:ea typeface="JetBrains Mono" pitchFamily="49" charset="-122"/>
                <a:cs typeface="JetBrains Mono" pitchFamily="49" charset="-120"/>
              </a:rPr>
              <a:t>) list.</a:t>
            </a:r>
            <a:r>
              <a:rPr lang="en-US" sz="1200" dirty="0">
                <a:solidFill>
                  <a:srgbClr val="82AAFF"/>
                </a:solidFill>
                <a:latin typeface="JetBrains Mono" pitchFamily="49" charset="0"/>
                <a:ea typeface="JetBrains Mono" pitchFamily="49" charset="-122"/>
                <a:cs typeface="JetBrains Mono" pitchFamily="49" charset="-120"/>
              </a:rPr>
              <a:t>reverse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(q.limit)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list = list.</a:t>
            </a:r>
            <a:r>
              <a:rPr lang="en-US" sz="1200" dirty="0">
                <a:solidFill>
                  <a:srgbClr val="82AAFF"/>
                </a:solidFill>
                <a:latin typeface="JetBrains Mono" pitchFamily="49" charset="0"/>
                <a:ea typeface="JetBrains Mono" pitchFamily="49" charset="-122"/>
                <a:cs typeface="JetBrains Mono" pitchFamily="49" charset="-120"/>
              </a:rPr>
              <a:t>slice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0</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Number</a:t>
            </a:r>
            <a:r>
              <a:rPr lang="en-US" sz="1200" dirty="0">
                <a:solidFill>
                  <a:srgbClr val="E6E1D6"/>
                </a:solidFill>
                <a:latin typeface="JetBrains Mono" pitchFamily="49" charset="0"/>
                <a:ea typeface="JetBrains Mono" pitchFamily="49" charset="-122"/>
                <a:cs typeface="JetBrains Mono" pitchFamily="49" charset="-120"/>
              </a:rPr>
              <a:t>(q.limit));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'X-Total-Count'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String</a:t>
            </a:r>
            <a:r>
              <a:rPr lang="en-US" sz="1200" dirty="0">
                <a:solidFill>
                  <a:srgbClr val="E6E1D6"/>
                </a:solidFill>
                <a:latin typeface="JetBrains Mono" pitchFamily="49" charset="0"/>
                <a:ea typeface="JetBrains Mono" pitchFamily="49" charset="-122"/>
                <a:cs typeface="JetBrains Mono" pitchFamily="49" charset="-120"/>
              </a:rPr>
              <a:t>(list.length));</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(list);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15E"/>
                </a:solidFill>
                <a:latin typeface="Space Grotesk" pitchFamily="34" charset="0"/>
                <a:ea typeface="Space Grotesk" pitchFamily="34" charset="-122"/>
                <a:cs typeface="Space Grotesk" pitchFamily="34" charset="-120"/>
              </a:rPr>
              <a:t>QUIZ · REQ &amp; RES · 1 OF 8 · MCQ: ONE ANSWER</a:t>
            </a:r>
            <a:endParaRPr lang="en-US" sz="1200" dirty="0"/>
          </a:p>
        </p:txBody>
      </p:sp>
      <p:sp>
        <p:nvSpPr>
          <p:cNvPr id="3" name="Text 1"/>
          <p:cNvSpPr/>
          <p:nvPr>
            <p:ph type="title"/>
          </p:nvPr>
        </p:nvSpPr>
        <p:spPr>
          <a:xfrm>
            <a:off x="812788" y="1102320"/>
            <a:ext cx="10883418" cy="72638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Route is /products/:id. The request is /products/7?sort=desc. What is req.params.id?</a:t>
            </a:r>
            <a:endParaRPr lang="en-US" sz="2400" dirty="0"/>
          </a:p>
        </p:txBody>
      </p:sp>
      <p:sp>
        <p:nvSpPr>
          <p:cNvPr id="4" name="Text 2"/>
          <p:cNvSpPr/>
          <p:nvPr/>
        </p:nvSpPr>
        <p:spPr>
          <a:xfrm>
            <a:off x="819138" y="2063651"/>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F0A15E"/>
                </a:solidFill>
                <a:latin typeface="Space Grotesk" pitchFamily="34" charset="0"/>
                <a:ea typeface="Space Grotesk" pitchFamily="34" charset="-122"/>
                <a:cs typeface="Space Grotesk" pitchFamily="34" charset="-120"/>
              </a:rPr>
              <a:t>A</a:t>
            </a:r>
            <a:r>
              <a:rPr lang="en-US" sz="1500" dirty="0">
                <a:solidFill>
                  <a:srgbClr val="F2EFE6"/>
                </a:solidFill>
                <a:latin typeface="Space Grotesk" pitchFamily="34" charset="0"/>
                <a:ea typeface="Space Grotesk" pitchFamily="34" charset="-122"/>
                <a:cs typeface="Space Grotesk" pitchFamily="34" charset="-120"/>
              </a:rPr>
              <a:t> 7 (a number)</a:t>
            </a:r>
            <a:endParaRPr lang="en-US" sz="1500" dirty="0"/>
          </a:p>
        </p:txBody>
      </p:sp>
      <p:sp>
        <p:nvSpPr>
          <p:cNvPr id="5" name="Text 3"/>
          <p:cNvSpPr/>
          <p:nvPr/>
        </p:nvSpPr>
        <p:spPr>
          <a:xfrm>
            <a:off x="6178500" y="2063651"/>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F0A15E"/>
                </a:solidFill>
                <a:latin typeface="Space Grotesk" pitchFamily="34" charset="0"/>
                <a:ea typeface="Space Grotesk" pitchFamily="34" charset="-122"/>
                <a:cs typeface="Space Grotesk" pitchFamily="34" charset="-120"/>
              </a:rPr>
              <a:t>B</a:t>
            </a:r>
            <a:r>
              <a:rPr lang="en-US" sz="1500" dirty="0">
                <a:solidFill>
                  <a:srgbClr val="F2EFE6"/>
                </a:solidFill>
                <a:latin typeface="Space Grotesk" pitchFamily="34" charset="0"/>
                <a:ea typeface="Space Grotesk" pitchFamily="34" charset="-122"/>
                <a:cs typeface="Space Grotesk" pitchFamily="34" charset="-120"/>
              </a:rPr>
              <a:t> '7' (a string)</a:t>
            </a:r>
            <a:endParaRPr lang="en-US" sz="1500" dirty="0"/>
          </a:p>
        </p:txBody>
      </p:sp>
      <p:sp>
        <p:nvSpPr>
          <p:cNvPr id="6" name="Text 4"/>
          <p:cNvSpPr/>
          <p:nvPr/>
        </p:nvSpPr>
        <p:spPr>
          <a:xfrm>
            <a:off x="819138" y="2862064"/>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F0A15E"/>
                </a:solidFill>
                <a:latin typeface="Space Grotesk" pitchFamily="34" charset="0"/>
                <a:ea typeface="Space Grotesk" pitchFamily="34" charset="-122"/>
                <a:cs typeface="Space Grotesk" pitchFamily="34" charset="-120"/>
              </a:rPr>
              <a:t>C</a:t>
            </a:r>
            <a:r>
              <a:rPr lang="en-US" sz="1500" dirty="0">
                <a:solidFill>
                  <a:srgbClr val="F2EFE6"/>
                </a:solidFill>
                <a:latin typeface="Space Grotesk" pitchFamily="34" charset="0"/>
                <a:ea typeface="Space Grotesk" pitchFamily="34" charset="-122"/>
                <a:cs typeface="Space Grotesk" pitchFamily="34" charset="-120"/>
              </a:rPr>
              <a:t> '7?sort=desc'</a:t>
            </a:r>
            <a:endParaRPr lang="en-US" sz="1500" dirty="0"/>
          </a:p>
        </p:txBody>
      </p:sp>
      <p:sp>
        <p:nvSpPr>
          <p:cNvPr id="7" name="Text 5"/>
          <p:cNvSpPr/>
          <p:nvPr/>
        </p:nvSpPr>
        <p:spPr>
          <a:xfrm>
            <a:off x="6178500" y="2862064"/>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F0A15E"/>
                </a:solidFill>
                <a:latin typeface="Space Grotesk" pitchFamily="34" charset="0"/>
                <a:ea typeface="Space Grotesk" pitchFamily="34" charset="-122"/>
                <a:cs typeface="Space Grotesk" pitchFamily="34" charset="-120"/>
              </a:rPr>
              <a:t>D</a:t>
            </a:r>
            <a:r>
              <a:rPr lang="en-US" sz="1500" dirty="0">
                <a:solidFill>
                  <a:srgbClr val="F2EFE6"/>
                </a:solidFill>
                <a:latin typeface="Space Grotesk" pitchFamily="34" charset="0"/>
                <a:ea typeface="Space Grotesk" pitchFamily="34" charset="-122"/>
                <a:cs typeface="Space Grotesk" pitchFamily="34" charset="-120"/>
              </a:rPr>
              <a:t> undefined</a:t>
            </a:r>
            <a:endParaRPr lang="en-US" sz="1500" dirty="0"/>
          </a:p>
        </p:txBody>
      </p:sp>
      <p:sp>
        <p:nvSpPr>
          <p:cNvPr id="8" name="Shape 6"/>
          <p:cNvSpPr/>
          <p:nvPr/>
        </p:nvSpPr>
        <p:spPr>
          <a:xfrm>
            <a:off x="812788" y="4927575"/>
            <a:ext cx="10566363" cy="1117575"/>
          </a:xfrm>
          <a:prstGeom prst="roundRect">
            <a:avLst>
              <a:gd name="adj" fmla="val 9091"/>
            </a:avLst>
          </a:prstGeom>
          <a:solidFill>
            <a:srgbClr val="1B2E25"/>
          </a:solidFill>
          <a:ln/>
        </p:spPr>
      </p:sp>
      <p:sp>
        <p:nvSpPr>
          <p:cNvPr id="9" name="Shape 7"/>
          <p:cNvSpPr/>
          <p:nvPr/>
        </p:nvSpPr>
        <p:spPr>
          <a:xfrm>
            <a:off x="812788" y="4927575"/>
            <a:ext cx="10566363" cy="1117575"/>
          </a:xfrm>
          <a:custGeom>
            <a:avLst/>
            <a:gdLst/>
            <a:ahLst/>
            <a:cxnLst/>
            <a:rect l="l" t="t" r="r" b="b"/>
            <a:pathLst>
              <a:path w="10566363" h="1117575">
                <a:moveTo>
                  <a:pt x="101600" y="1117575"/>
                </a:moveTo>
                <a:lnTo>
                  <a:pt x="101600" y="1117575"/>
                </a:lnTo>
                <a:arcTo hR="101600" wR="101600" stAng="5400000" swAng="5400000"/>
                <a:lnTo>
                  <a:pt x="0" y="101600"/>
                </a:lnTo>
                <a:arcTo hR="101600" wR="101600" stAng="10800000" swAng="5400000"/>
                <a:lnTo>
                  <a:pt x="101600" y="0"/>
                </a:lnTo>
                <a:arcTo hR="101600" wR="50800" stAng="16200000" swAng="-5400000"/>
                <a:lnTo>
                  <a:pt x="50800" y="1015975"/>
                </a:lnTo>
                <a:arcTo hR="101600" wR="50800" stAng="10800000" swAng="-5400000"/>
                <a:close/>
              </a:path>
            </a:pathLst>
          </a:custGeom>
          <a:solidFill>
            <a:srgbClr val="7BD88F"/>
          </a:solidFill>
          <a:ln/>
        </p:spPr>
      </p:sp>
      <p:sp>
        <p:nvSpPr>
          <p:cNvPr id="10" name="Text 8"/>
          <p:cNvSpPr/>
          <p:nvPr/>
        </p:nvSpPr>
        <p:spPr>
          <a:xfrm>
            <a:off x="1088988" y="5212085"/>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B</a:t>
            </a:r>
            <a:endParaRPr lang="en-US" sz="1500" dirty="0"/>
          </a:p>
        </p:txBody>
      </p:sp>
      <p:sp>
        <p:nvSpPr>
          <p:cNvPr id="11" name="Text 9"/>
          <p:cNvSpPr/>
          <p:nvPr/>
        </p:nvSpPr>
        <p:spPr>
          <a:xfrm>
            <a:off x="1088988" y="5529511"/>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Route params are always strings, and the query string is never part of a param.</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15E"/>
                </a:solidFill>
                <a:latin typeface="Space Grotesk" pitchFamily="34" charset="0"/>
                <a:ea typeface="Space Grotesk" pitchFamily="34" charset="-122"/>
                <a:cs typeface="Space Grotesk" pitchFamily="34" charset="-120"/>
              </a:rPr>
              <a:t>QUIZ · REQ &amp; RES · 2 OF 8 · MCQ: ONE ANSWER</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Same request, /products/7?sort=desc. What is req.query?</a:t>
            </a:r>
            <a:endParaRPr lang="en-US" sz="2400" dirty="0"/>
          </a:p>
        </p:txBody>
      </p:sp>
      <p:sp>
        <p:nvSpPr>
          <p:cNvPr id="4" name="Text 2"/>
          <p:cNvSpPr/>
          <p:nvPr/>
        </p:nvSpPr>
        <p:spPr>
          <a:xfrm>
            <a:off x="819138" y="1713161"/>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F0A15E"/>
                </a:solidFill>
                <a:latin typeface="JetBrains Mono" pitchFamily="49" charset="0"/>
                <a:ea typeface="JetBrains Mono" pitchFamily="49" charset="-122"/>
                <a:cs typeface="JetBrains Mono" pitchFamily="49" charset="-120"/>
              </a:rPr>
              <a:t>A</a:t>
            </a:r>
            <a:r>
              <a:rPr lang="en-US" sz="1500" dirty="0">
                <a:solidFill>
                  <a:srgbClr val="F2EFE6"/>
                </a:solidFill>
                <a:latin typeface="JetBrains Mono" pitchFamily="49" charset="0"/>
                <a:ea typeface="JetBrains Mono" pitchFamily="49" charset="-122"/>
                <a:cs typeface="JetBrains Mono" pitchFamily="49" charset="-120"/>
              </a:rPr>
              <a:t> { sort: 'desc' }</a:t>
            </a:r>
            <a:endParaRPr lang="en-US" sz="1500" dirty="0"/>
          </a:p>
        </p:txBody>
      </p:sp>
      <p:sp>
        <p:nvSpPr>
          <p:cNvPr id="5" name="Text 3"/>
          <p:cNvSpPr/>
          <p:nvPr/>
        </p:nvSpPr>
        <p:spPr>
          <a:xfrm>
            <a:off x="6178500" y="1713161"/>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F0A15E"/>
                </a:solidFill>
                <a:latin typeface="JetBrains Mono" pitchFamily="49" charset="0"/>
                <a:ea typeface="JetBrains Mono" pitchFamily="49" charset="-122"/>
                <a:cs typeface="JetBrains Mono" pitchFamily="49" charset="-120"/>
              </a:rPr>
              <a:t>B</a:t>
            </a:r>
            <a:r>
              <a:rPr lang="en-US" sz="1500" dirty="0">
                <a:solidFill>
                  <a:srgbClr val="F2EFE6"/>
                </a:solidFill>
                <a:latin typeface="JetBrains Mono" pitchFamily="49" charset="0"/>
                <a:ea typeface="JetBrains Mono" pitchFamily="49" charset="-122"/>
                <a:cs typeface="JetBrains Mono" pitchFamily="49" charset="-120"/>
              </a:rPr>
              <a:t> 'sort=desc'</a:t>
            </a:r>
            <a:endParaRPr lang="en-US" sz="1500" dirty="0"/>
          </a:p>
        </p:txBody>
      </p:sp>
      <p:sp>
        <p:nvSpPr>
          <p:cNvPr id="6" name="Text 4"/>
          <p:cNvSpPr/>
          <p:nvPr/>
        </p:nvSpPr>
        <p:spPr>
          <a:xfrm>
            <a:off x="819138" y="2511574"/>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F0A15E"/>
                </a:solidFill>
                <a:latin typeface="JetBrains Mono" pitchFamily="49" charset="0"/>
                <a:ea typeface="JetBrains Mono" pitchFamily="49" charset="-122"/>
                <a:cs typeface="JetBrains Mono" pitchFamily="49" charset="-120"/>
              </a:rPr>
              <a:t>C</a:t>
            </a:r>
            <a:r>
              <a:rPr lang="en-US" sz="1500" dirty="0">
                <a:solidFill>
                  <a:srgbClr val="F2EFE6"/>
                </a:solidFill>
                <a:latin typeface="JetBrains Mono" pitchFamily="49" charset="0"/>
                <a:ea typeface="JetBrains Mono" pitchFamily="49" charset="-122"/>
                <a:cs typeface="JetBrains Mono" pitchFamily="49" charset="-120"/>
              </a:rPr>
              <a:t> { id: '7', sort: 'desc' }</a:t>
            </a:r>
            <a:endParaRPr lang="en-US" sz="1500" dirty="0"/>
          </a:p>
        </p:txBody>
      </p:sp>
      <p:sp>
        <p:nvSpPr>
          <p:cNvPr id="7" name="Text 5"/>
          <p:cNvSpPr/>
          <p:nvPr/>
        </p:nvSpPr>
        <p:spPr>
          <a:xfrm>
            <a:off x="6178500" y="2511574"/>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F0A15E"/>
                </a:solidFill>
                <a:latin typeface="JetBrains Mono" pitchFamily="49" charset="0"/>
                <a:ea typeface="JetBrains Mono" pitchFamily="49" charset="-122"/>
                <a:cs typeface="JetBrains Mono" pitchFamily="49" charset="-120"/>
              </a:rPr>
              <a:t>D</a:t>
            </a:r>
            <a:r>
              <a:rPr lang="en-US" sz="1500" dirty="0">
                <a:solidFill>
                  <a:srgbClr val="F2EFE6"/>
                </a:solidFill>
                <a:latin typeface="JetBrains Mono" pitchFamily="49" charset="0"/>
                <a:ea typeface="JetBrains Mono" pitchFamily="49" charset="-122"/>
                <a:cs typeface="JetBrains Mono" pitchFamily="49" charset="-120"/>
              </a:rPr>
              <a:t> undefined</a:t>
            </a:r>
            <a:endParaRPr lang="en-US" sz="1500" dirty="0"/>
          </a:p>
        </p:txBody>
      </p:sp>
      <p:sp>
        <p:nvSpPr>
          <p:cNvPr id="8" name="Shape 6"/>
          <p:cNvSpPr/>
          <p:nvPr/>
        </p:nvSpPr>
        <p:spPr>
          <a:xfrm>
            <a:off x="812788" y="4927575"/>
            <a:ext cx="10566363" cy="1117575"/>
          </a:xfrm>
          <a:prstGeom prst="roundRect">
            <a:avLst>
              <a:gd name="adj" fmla="val 9091"/>
            </a:avLst>
          </a:prstGeom>
          <a:solidFill>
            <a:srgbClr val="1B2E25"/>
          </a:solidFill>
          <a:ln/>
        </p:spPr>
      </p:sp>
      <p:sp>
        <p:nvSpPr>
          <p:cNvPr id="9" name="Shape 7"/>
          <p:cNvSpPr/>
          <p:nvPr/>
        </p:nvSpPr>
        <p:spPr>
          <a:xfrm>
            <a:off x="812788" y="4927575"/>
            <a:ext cx="10566363" cy="1117575"/>
          </a:xfrm>
          <a:custGeom>
            <a:avLst/>
            <a:gdLst/>
            <a:ahLst/>
            <a:cxnLst/>
            <a:rect l="l" t="t" r="r" b="b"/>
            <a:pathLst>
              <a:path w="10566363" h="1117575">
                <a:moveTo>
                  <a:pt x="101600" y="1117575"/>
                </a:moveTo>
                <a:lnTo>
                  <a:pt x="101600" y="1117575"/>
                </a:lnTo>
                <a:arcTo hR="101600" wR="101600" stAng="5400000" swAng="5400000"/>
                <a:lnTo>
                  <a:pt x="0" y="101600"/>
                </a:lnTo>
                <a:arcTo hR="101600" wR="101600" stAng="10800000" swAng="5400000"/>
                <a:lnTo>
                  <a:pt x="101600" y="0"/>
                </a:lnTo>
                <a:arcTo hR="101600" wR="50800" stAng="16200000" swAng="-5400000"/>
                <a:lnTo>
                  <a:pt x="50800" y="1015975"/>
                </a:lnTo>
                <a:arcTo hR="101600" wR="50800" stAng="10800000" swAng="-5400000"/>
                <a:close/>
              </a:path>
            </a:pathLst>
          </a:custGeom>
          <a:solidFill>
            <a:srgbClr val="7BD88F"/>
          </a:solidFill>
          <a:ln/>
        </p:spPr>
      </p:sp>
      <p:sp>
        <p:nvSpPr>
          <p:cNvPr id="10" name="Text 8"/>
          <p:cNvSpPr/>
          <p:nvPr/>
        </p:nvSpPr>
        <p:spPr>
          <a:xfrm>
            <a:off x="1088988" y="5212085"/>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A</a:t>
            </a:r>
            <a:endParaRPr lang="en-US" sz="1500" dirty="0"/>
          </a:p>
        </p:txBody>
      </p:sp>
      <p:sp>
        <p:nvSpPr>
          <p:cNvPr id="11" name="Text 9"/>
          <p:cNvSpPr/>
          <p:nvPr/>
        </p:nvSpPr>
        <p:spPr>
          <a:xfrm>
            <a:off x="1088988" y="5529511"/>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Express parses the query string into an object. The id lives in req.params, not req.query.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B0FF"/>
                </a:solidFill>
                <a:latin typeface="Space Grotesk" pitchFamily="34" charset="0"/>
                <a:ea typeface="Space Grotesk" pitchFamily="34" charset="-122"/>
                <a:cs typeface="Space Grotesk" pitchFamily="34" charset="-120"/>
              </a:rPr>
              <a:t>QUIZ · REQ &amp; RES · 3 OF 8 · MSQ: CHOOSE ALL THAT APPLY</a:t>
            </a:r>
            <a:endParaRPr lang="en-US" sz="1200" dirty="0"/>
          </a:p>
        </p:txBody>
      </p:sp>
      <p:sp>
        <p:nvSpPr>
          <p:cNvPr id="3" name="Text 1"/>
          <p:cNvSpPr/>
          <p:nvPr>
            <p:ph type="title"/>
          </p:nvPr>
        </p:nvSpPr>
        <p:spPr>
          <a:xfrm>
            <a:off x="812788" y="1102320"/>
            <a:ext cx="10883418" cy="72638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Express 5. A client POSTs JSON to /products, but the app never calls express.json(). Which are true?</a:t>
            </a:r>
            <a:endParaRPr lang="en-US" sz="2400" dirty="0"/>
          </a:p>
        </p:txBody>
      </p:sp>
      <p:sp>
        <p:nvSpPr>
          <p:cNvPr id="4" name="Text 2"/>
          <p:cNvSpPr/>
          <p:nvPr/>
        </p:nvSpPr>
        <p:spPr>
          <a:xfrm>
            <a:off x="819138" y="2063651"/>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A</a:t>
            </a:r>
            <a:r>
              <a:rPr lang="en-US" sz="1400" dirty="0">
                <a:solidFill>
                  <a:srgbClr val="F2EFE6"/>
                </a:solidFill>
                <a:latin typeface="Space Grotesk" pitchFamily="34" charset="0"/>
                <a:ea typeface="Space Grotesk" pitchFamily="34" charset="-122"/>
                <a:cs typeface="Space Grotesk" pitchFamily="34" charset="-120"/>
              </a:rPr>
              <a:t> req.body is undefined</a:t>
            </a:r>
            <a:endParaRPr lang="en-US" sz="1400" dirty="0"/>
          </a:p>
        </p:txBody>
      </p:sp>
      <p:sp>
        <p:nvSpPr>
          <p:cNvPr id="5" name="Text 3"/>
          <p:cNvSpPr/>
          <p:nvPr/>
        </p:nvSpPr>
        <p:spPr>
          <a:xfrm>
            <a:off x="6165850" y="2063651"/>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B</a:t>
            </a:r>
            <a:r>
              <a:rPr lang="en-US" sz="1400" dirty="0">
                <a:solidFill>
                  <a:srgbClr val="F2EFE6"/>
                </a:solidFill>
                <a:latin typeface="Space Grotesk" pitchFamily="34" charset="0"/>
                <a:ea typeface="Space Grotesk" pitchFamily="34" charset="-122"/>
                <a:cs typeface="Space Grotesk" pitchFamily="34" charset="-120"/>
              </a:rPr>
              <a:t> req.body is an empty object {}</a:t>
            </a:r>
            <a:endParaRPr lang="en-US" sz="1400" dirty="0"/>
          </a:p>
        </p:txBody>
      </p:sp>
      <p:sp>
        <p:nvSpPr>
          <p:cNvPr id="6" name="Text 4"/>
          <p:cNvSpPr/>
          <p:nvPr/>
        </p:nvSpPr>
        <p:spPr>
          <a:xfrm>
            <a:off x="819138" y="2742605"/>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C</a:t>
            </a:r>
            <a:r>
              <a:rPr lang="en-US" sz="1400" dirty="0">
                <a:solidFill>
                  <a:srgbClr val="F2EFE6"/>
                </a:solidFill>
                <a:latin typeface="Space Grotesk" pitchFamily="34" charset="0"/>
                <a:ea typeface="Space Grotesk" pitchFamily="34" charset="-122"/>
                <a:cs typeface="Space Grotesk" pitchFamily="34" charset="-120"/>
              </a:rPr>
              <a:t> req.body.title throws a TypeError</a:t>
            </a:r>
            <a:endParaRPr lang="en-US" sz="1400" dirty="0"/>
          </a:p>
        </p:txBody>
      </p:sp>
      <p:sp>
        <p:nvSpPr>
          <p:cNvPr id="7" name="Text 5"/>
          <p:cNvSpPr/>
          <p:nvPr/>
        </p:nvSpPr>
        <p:spPr>
          <a:xfrm>
            <a:off x="6165850" y="2742605"/>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D</a:t>
            </a:r>
            <a:r>
              <a:rPr lang="en-US" sz="1400" dirty="0">
                <a:solidFill>
                  <a:srgbClr val="F2EFE6"/>
                </a:solidFill>
                <a:latin typeface="Space Grotesk" pitchFamily="34" charset="0"/>
                <a:ea typeface="Space Grotesk" pitchFamily="34" charset="-122"/>
                <a:cs typeface="Space Grotesk" pitchFamily="34" charset="-120"/>
              </a:rPr>
              <a:t> Adding express.json() above the route fixes it</a:t>
            </a:r>
            <a:endParaRPr lang="en-US" sz="1400" dirty="0"/>
          </a:p>
        </p:txBody>
      </p:sp>
      <p:sp>
        <p:nvSpPr>
          <p:cNvPr id="8" name="Text 6"/>
          <p:cNvSpPr/>
          <p:nvPr/>
        </p:nvSpPr>
        <p:spPr>
          <a:xfrm>
            <a:off x="819138" y="3421583"/>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E</a:t>
            </a:r>
            <a:r>
              <a:rPr lang="en-US" sz="1400" dirty="0">
                <a:solidFill>
                  <a:srgbClr val="F2EFE6"/>
                </a:solidFill>
                <a:latin typeface="Space Grotesk" pitchFamily="34" charset="0"/>
                <a:ea typeface="Space Grotesk" pitchFamily="34" charset="-122"/>
                <a:cs typeface="Space Grotesk" pitchFamily="34" charset="-120"/>
              </a:rPr>
              <a:t> Adding express.json() below the route fixes it</a:t>
            </a:r>
            <a:endParaRPr lang="en-US" sz="1400" dirty="0"/>
          </a:p>
        </p:txBody>
      </p:sp>
      <p:sp>
        <p:nvSpPr>
          <p:cNvPr id="9" name="Shape 7"/>
          <p:cNvSpPr/>
          <p:nvPr/>
        </p:nvSpPr>
        <p:spPr>
          <a:xfrm>
            <a:off x="812788" y="4927575"/>
            <a:ext cx="10566363" cy="1117575"/>
          </a:xfrm>
          <a:prstGeom prst="roundRect">
            <a:avLst>
              <a:gd name="adj" fmla="val 9091"/>
            </a:avLst>
          </a:prstGeom>
          <a:solidFill>
            <a:srgbClr val="1B2E25"/>
          </a:solidFill>
          <a:ln/>
        </p:spPr>
      </p:sp>
      <p:sp>
        <p:nvSpPr>
          <p:cNvPr id="10" name="Shape 8"/>
          <p:cNvSpPr/>
          <p:nvPr/>
        </p:nvSpPr>
        <p:spPr>
          <a:xfrm>
            <a:off x="812788" y="4927575"/>
            <a:ext cx="10566363" cy="1117575"/>
          </a:xfrm>
          <a:custGeom>
            <a:avLst/>
            <a:gdLst/>
            <a:ahLst/>
            <a:cxnLst/>
            <a:rect l="l" t="t" r="r" b="b"/>
            <a:pathLst>
              <a:path w="10566363" h="1117575">
                <a:moveTo>
                  <a:pt x="101600" y="1117575"/>
                </a:moveTo>
                <a:lnTo>
                  <a:pt x="101600" y="1117575"/>
                </a:lnTo>
                <a:arcTo hR="101600" wR="101600" stAng="5400000" swAng="5400000"/>
                <a:lnTo>
                  <a:pt x="0" y="101600"/>
                </a:lnTo>
                <a:arcTo hR="101600" wR="101600" stAng="10800000" swAng="5400000"/>
                <a:lnTo>
                  <a:pt x="101600" y="0"/>
                </a:lnTo>
                <a:arcTo hR="101600" wR="50800" stAng="16200000" swAng="-5400000"/>
                <a:lnTo>
                  <a:pt x="50800" y="1015975"/>
                </a:lnTo>
                <a:arcTo hR="101600" wR="50800" stAng="10800000" swAng="-5400000"/>
                <a:close/>
              </a:path>
            </a:pathLst>
          </a:custGeom>
          <a:solidFill>
            <a:srgbClr val="7BD88F"/>
          </a:solidFill>
          <a:ln/>
        </p:spPr>
      </p:sp>
      <p:sp>
        <p:nvSpPr>
          <p:cNvPr id="11" name="Text 9"/>
          <p:cNvSpPr/>
          <p:nvPr/>
        </p:nvSpPr>
        <p:spPr>
          <a:xfrm>
            <a:off x="1088988" y="5212085"/>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A, C, D</a:t>
            </a:r>
            <a:endParaRPr lang="en-US" sz="1500" dirty="0"/>
          </a:p>
        </p:txBody>
      </p:sp>
      <p:sp>
        <p:nvSpPr>
          <p:cNvPr id="12" name="Text 10"/>
          <p:cNvSpPr/>
          <p:nvPr/>
        </p:nvSpPr>
        <p:spPr>
          <a:xfrm>
            <a:off x="1088988" y="5529511"/>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In Express 5 req.body stays undefined without a parser. Middleware below the route runs too late.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15E"/>
                </a:solidFill>
                <a:latin typeface="Space Grotesk" pitchFamily="34" charset="0"/>
                <a:ea typeface="Space Grotesk" pitchFamily="34" charset="-122"/>
                <a:cs typeface="Space Grotesk" pitchFamily="34" charset="-120"/>
              </a:rPr>
              <a:t>QUIZ · REQ &amp; RES · 4 OF 8 · MCQ: ONE ANSWER</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res.send({ id: 1 }) sets which Content-Type?</a:t>
            </a:r>
            <a:endParaRPr lang="en-US" sz="2400" dirty="0"/>
          </a:p>
        </p:txBody>
      </p:sp>
      <p:sp>
        <p:nvSpPr>
          <p:cNvPr id="4" name="Text 2"/>
          <p:cNvSpPr/>
          <p:nvPr/>
        </p:nvSpPr>
        <p:spPr>
          <a:xfrm>
            <a:off x="819138" y="1713161"/>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F0A15E"/>
                </a:solidFill>
                <a:latin typeface="JetBrains Mono" pitchFamily="49" charset="0"/>
                <a:ea typeface="JetBrains Mono" pitchFamily="49" charset="-122"/>
                <a:cs typeface="JetBrains Mono" pitchFamily="49" charset="-120"/>
              </a:rPr>
              <a:t>A</a:t>
            </a:r>
            <a:r>
              <a:rPr lang="en-US" sz="1500" dirty="0">
                <a:solidFill>
                  <a:srgbClr val="F2EFE6"/>
                </a:solidFill>
                <a:latin typeface="JetBrains Mono" pitchFamily="49" charset="0"/>
                <a:ea typeface="JetBrains Mono" pitchFamily="49" charset="-122"/>
                <a:cs typeface="JetBrains Mono" pitchFamily="49" charset="-120"/>
              </a:rPr>
              <a:t> text/html</a:t>
            </a:r>
            <a:endParaRPr lang="en-US" sz="1500" dirty="0"/>
          </a:p>
        </p:txBody>
      </p:sp>
      <p:sp>
        <p:nvSpPr>
          <p:cNvPr id="5" name="Text 3"/>
          <p:cNvSpPr/>
          <p:nvPr/>
        </p:nvSpPr>
        <p:spPr>
          <a:xfrm>
            <a:off x="6178500" y="1713161"/>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F0A15E"/>
                </a:solidFill>
                <a:latin typeface="JetBrains Mono" pitchFamily="49" charset="0"/>
                <a:ea typeface="JetBrains Mono" pitchFamily="49" charset="-122"/>
                <a:cs typeface="JetBrains Mono" pitchFamily="49" charset="-120"/>
              </a:rPr>
              <a:t>B</a:t>
            </a:r>
            <a:r>
              <a:rPr lang="en-US" sz="1500" dirty="0">
                <a:solidFill>
                  <a:srgbClr val="F2EFE6"/>
                </a:solidFill>
                <a:latin typeface="JetBrains Mono" pitchFamily="49" charset="0"/>
                <a:ea typeface="JetBrains Mono" pitchFamily="49" charset="-122"/>
                <a:cs typeface="JetBrains Mono" pitchFamily="49" charset="-120"/>
              </a:rPr>
              <a:t> text/plain</a:t>
            </a:r>
            <a:endParaRPr lang="en-US" sz="1500" dirty="0"/>
          </a:p>
        </p:txBody>
      </p:sp>
      <p:sp>
        <p:nvSpPr>
          <p:cNvPr id="6" name="Text 4"/>
          <p:cNvSpPr/>
          <p:nvPr/>
        </p:nvSpPr>
        <p:spPr>
          <a:xfrm>
            <a:off x="819138" y="2511574"/>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F0A15E"/>
                </a:solidFill>
                <a:latin typeface="JetBrains Mono" pitchFamily="49" charset="0"/>
                <a:ea typeface="JetBrains Mono" pitchFamily="49" charset="-122"/>
                <a:cs typeface="JetBrains Mono" pitchFamily="49" charset="-120"/>
              </a:rPr>
              <a:t>C</a:t>
            </a:r>
            <a:r>
              <a:rPr lang="en-US" sz="1500" dirty="0">
                <a:solidFill>
                  <a:srgbClr val="F2EFE6"/>
                </a:solidFill>
                <a:latin typeface="JetBrains Mono" pitchFamily="49" charset="0"/>
                <a:ea typeface="JetBrains Mono" pitchFamily="49" charset="-122"/>
                <a:cs typeface="JetBrains Mono" pitchFamily="49" charset="-120"/>
              </a:rPr>
              <a:t> application/json</a:t>
            </a:r>
            <a:endParaRPr lang="en-US" sz="1500" dirty="0"/>
          </a:p>
        </p:txBody>
      </p:sp>
      <p:sp>
        <p:nvSpPr>
          <p:cNvPr id="7" name="Text 5"/>
          <p:cNvSpPr/>
          <p:nvPr/>
        </p:nvSpPr>
        <p:spPr>
          <a:xfrm>
            <a:off x="6178500" y="2511574"/>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F0A15E"/>
                </a:solidFill>
                <a:latin typeface="JetBrains Mono" pitchFamily="49" charset="0"/>
                <a:ea typeface="JetBrains Mono" pitchFamily="49" charset="-122"/>
                <a:cs typeface="JetBrains Mono" pitchFamily="49" charset="-120"/>
              </a:rPr>
              <a:t>D</a:t>
            </a:r>
            <a:r>
              <a:rPr lang="en-US" sz="1500" dirty="0">
                <a:solidFill>
                  <a:srgbClr val="F2EFE6"/>
                </a:solidFill>
                <a:latin typeface="JetBrains Mono" pitchFamily="49" charset="0"/>
                <a:ea typeface="JetBrains Mono" pitchFamily="49" charset="-122"/>
                <a:cs typeface="JetBrains Mono" pitchFamily="49" charset="-120"/>
              </a:rPr>
              <a:t> none, you must set it</a:t>
            </a:r>
            <a:endParaRPr lang="en-US" sz="1500" dirty="0"/>
          </a:p>
        </p:txBody>
      </p:sp>
      <p:sp>
        <p:nvSpPr>
          <p:cNvPr id="8" name="Shape 6"/>
          <p:cNvSpPr/>
          <p:nvPr/>
        </p:nvSpPr>
        <p:spPr>
          <a:xfrm>
            <a:off x="812788" y="4927575"/>
            <a:ext cx="10566363" cy="1117575"/>
          </a:xfrm>
          <a:prstGeom prst="roundRect">
            <a:avLst>
              <a:gd name="adj" fmla="val 9091"/>
            </a:avLst>
          </a:prstGeom>
          <a:solidFill>
            <a:srgbClr val="1B2E25"/>
          </a:solidFill>
          <a:ln/>
        </p:spPr>
      </p:sp>
      <p:sp>
        <p:nvSpPr>
          <p:cNvPr id="9" name="Shape 7"/>
          <p:cNvSpPr/>
          <p:nvPr/>
        </p:nvSpPr>
        <p:spPr>
          <a:xfrm>
            <a:off x="812788" y="4927575"/>
            <a:ext cx="10566363" cy="1117575"/>
          </a:xfrm>
          <a:custGeom>
            <a:avLst/>
            <a:gdLst/>
            <a:ahLst/>
            <a:cxnLst/>
            <a:rect l="l" t="t" r="r" b="b"/>
            <a:pathLst>
              <a:path w="10566363" h="1117575">
                <a:moveTo>
                  <a:pt x="101600" y="1117575"/>
                </a:moveTo>
                <a:lnTo>
                  <a:pt x="101600" y="1117575"/>
                </a:lnTo>
                <a:arcTo hR="101600" wR="101600" stAng="5400000" swAng="5400000"/>
                <a:lnTo>
                  <a:pt x="0" y="101600"/>
                </a:lnTo>
                <a:arcTo hR="101600" wR="101600" stAng="10800000" swAng="5400000"/>
                <a:lnTo>
                  <a:pt x="101600" y="0"/>
                </a:lnTo>
                <a:arcTo hR="101600" wR="50800" stAng="16200000" swAng="-5400000"/>
                <a:lnTo>
                  <a:pt x="50800" y="1015975"/>
                </a:lnTo>
                <a:arcTo hR="101600" wR="50800" stAng="10800000" swAng="-5400000"/>
                <a:close/>
              </a:path>
            </a:pathLst>
          </a:custGeom>
          <a:solidFill>
            <a:srgbClr val="7BD88F"/>
          </a:solidFill>
          <a:ln/>
        </p:spPr>
      </p:sp>
      <p:sp>
        <p:nvSpPr>
          <p:cNvPr id="10" name="Text 8"/>
          <p:cNvSpPr/>
          <p:nvPr/>
        </p:nvSpPr>
        <p:spPr>
          <a:xfrm>
            <a:off x="1088988" y="5212085"/>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C</a:t>
            </a:r>
            <a:endParaRPr lang="en-US" sz="1500" dirty="0"/>
          </a:p>
        </p:txBody>
      </p:sp>
      <p:sp>
        <p:nvSpPr>
          <p:cNvPr id="11" name="Text 9"/>
          <p:cNvSpPr/>
          <p:nvPr/>
        </p:nvSpPr>
        <p:spPr>
          <a:xfrm>
            <a:off x="1088988" y="5529511"/>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Objects and arrays are handed to res.json(). Strings get text/html.</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B0FF"/>
                </a:solidFill>
                <a:latin typeface="Space Grotesk" pitchFamily="34" charset="0"/>
                <a:ea typeface="Space Grotesk" pitchFamily="34" charset="-122"/>
                <a:cs typeface="Space Grotesk" pitchFamily="34" charset="-120"/>
              </a:rPr>
              <a:t>QUIZ · REQ &amp; RES · 5 OF 8 · MSQ: CHOOSE ALL THAT APPLY</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Which calls finish the response, so the browser stops waiting?</a:t>
            </a:r>
            <a:endParaRPr lang="en-US" sz="2400" dirty="0"/>
          </a:p>
        </p:txBody>
      </p:sp>
      <p:sp>
        <p:nvSpPr>
          <p:cNvPr id="4" name="Text 2"/>
          <p:cNvSpPr/>
          <p:nvPr/>
        </p:nvSpPr>
        <p:spPr>
          <a:xfrm>
            <a:off x="819138" y="1713161"/>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JetBrains Mono" pitchFamily="49" charset="0"/>
                <a:ea typeface="JetBrains Mono" pitchFamily="49" charset="-122"/>
                <a:cs typeface="JetBrains Mono" pitchFamily="49" charset="-120"/>
              </a:rPr>
              <a:t>A</a:t>
            </a:r>
            <a:r>
              <a:rPr lang="en-US" sz="1400" dirty="0">
                <a:solidFill>
                  <a:srgbClr val="F2EFE6"/>
                </a:solidFill>
                <a:latin typeface="JetBrains Mono" pitchFamily="49" charset="0"/>
                <a:ea typeface="JetBrains Mono" pitchFamily="49" charset="-122"/>
                <a:cs typeface="JetBrains Mono" pitchFamily="49" charset="-120"/>
              </a:rPr>
              <a:t> res.json(p)</a:t>
            </a:r>
            <a:endParaRPr lang="en-US" sz="1400" dirty="0"/>
          </a:p>
        </p:txBody>
      </p:sp>
      <p:sp>
        <p:nvSpPr>
          <p:cNvPr id="5" name="Text 3"/>
          <p:cNvSpPr/>
          <p:nvPr/>
        </p:nvSpPr>
        <p:spPr>
          <a:xfrm>
            <a:off x="6165850" y="1713161"/>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JetBrains Mono" pitchFamily="49" charset="0"/>
                <a:ea typeface="JetBrains Mono" pitchFamily="49" charset="-122"/>
                <a:cs typeface="JetBrains Mono" pitchFamily="49" charset="-120"/>
              </a:rPr>
              <a:t>B</a:t>
            </a:r>
            <a:r>
              <a:rPr lang="en-US" sz="1400" dirty="0">
                <a:solidFill>
                  <a:srgbClr val="F2EFE6"/>
                </a:solidFill>
                <a:latin typeface="JetBrains Mono" pitchFamily="49" charset="0"/>
                <a:ea typeface="JetBrains Mono" pitchFamily="49" charset="-122"/>
                <a:cs typeface="JetBrains Mono" pitchFamily="49" charset="-120"/>
              </a:rPr>
              <a:t> res.status(404)</a:t>
            </a:r>
            <a:endParaRPr lang="en-US" sz="1400" dirty="0"/>
          </a:p>
        </p:txBody>
      </p:sp>
      <p:sp>
        <p:nvSpPr>
          <p:cNvPr id="6" name="Text 4"/>
          <p:cNvSpPr/>
          <p:nvPr/>
        </p:nvSpPr>
        <p:spPr>
          <a:xfrm>
            <a:off x="819138" y="2392114"/>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JetBrains Mono" pitchFamily="49" charset="0"/>
                <a:ea typeface="JetBrains Mono" pitchFamily="49" charset="-122"/>
                <a:cs typeface="JetBrains Mono" pitchFamily="49" charset="-120"/>
              </a:rPr>
              <a:t>C</a:t>
            </a:r>
            <a:r>
              <a:rPr lang="en-US" sz="1400" dirty="0">
                <a:solidFill>
                  <a:srgbClr val="F2EFE6"/>
                </a:solidFill>
                <a:latin typeface="JetBrains Mono" pitchFamily="49" charset="0"/>
                <a:ea typeface="JetBrains Mono" pitchFamily="49" charset="-122"/>
                <a:cs typeface="JetBrains Mono" pitchFamily="49" charset="-120"/>
              </a:rPr>
              <a:t> res.sendStatus(404)</a:t>
            </a:r>
            <a:endParaRPr lang="en-US" sz="1400" dirty="0"/>
          </a:p>
        </p:txBody>
      </p:sp>
      <p:sp>
        <p:nvSpPr>
          <p:cNvPr id="7" name="Text 5"/>
          <p:cNvSpPr/>
          <p:nvPr/>
        </p:nvSpPr>
        <p:spPr>
          <a:xfrm>
            <a:off x="6165850" y="2392114"/>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JetBrains Mono" pitchFamily="49" charset="0"/>
                <a:ea typeface="JetBrains Mono" pitchFamily="49" charset="-122"/>
                <a:cs typeface="JetBrains Mono" pitchFamily="49" charset="-120"/>
              </a:rPr>
              <a:t>D</a:t>
            </a:r>
            <a:r>
              <a:rPr lang="en-US" sz="1400" dirty="0">
                <a:solidFill>
                  <a:srgbClr val="F2EFE6"/>
                </a:solidFill>
                <a:latin typeface="JetBrains Mono" pitchFamily="49" charset="0"/>
                <a:ea typeface="JetBrains Mono" pitchFamily="49" charset="-122"/>
                <a:cs typeface="JetBrains Mono" pitchFamily="49" charset="-120"/>
              </a:rPr>
              <a:t> res.set('X-A', '1')</a:t>
            </a:r>
            <a:endParaRPr lang="en-US" sz="1400" dirty="0"/>
          </a:p>
        </p:txBody>
      </p:sp>
      <p:sp>
        <p:nvSpPr>
          <p:cNvPr id="8" name="Text 6"/>
          <p:cNvSpPr/>
          <p:nvPr/>
        </p:nvSpPr>
        <p:spPr>
          <a:xfrm>
            <a:off x="819138" y="3071093"/>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JetBrains Mono" pitchFamily="49" charset="0"/>
                <a:ea typeface="JetBrains Mono" pitchFamily="49" charset="-122"/>
                <a:cs typeface="JetBrains Mono" pitchFamily="49" charset="-120"/>
              </a:rPr>
              <a:t>E</a:t>
            </a:r>
            <a:r>
              <a:rPr lang="en-US" sz="1400" dirty="0">
                <a:solidFill>
                  <a:srgbClr val="F2EFE6"/>
                </a:solidFill>
                <a:latin typeface="JetBrains Mono" pitchFamily="49" charset="0"/>
                <a:ea typeface="JetBrains Mono" pitchFamily="49" charset="-122"/>
                <a:cs typeface="JetBrains Mono" pitchFamily="49" charset="-120"/>
              </a:rPr>
              <a:t> res.redirect('/')</a:t>
            </a:r>
            <a:endParaRPr lang="en-US" sz="1400" dirty="0"/>
          </a:p>
        </p:txBody>
      </p:sp>
      <p:sp>
        <p:nvSpPr>
          <p:cNvPr id="9" name="Shape 7"/>
          <p:cNvSpPr/>
          <p:nvPr/>
        </p:nvSpPr>
        <p:spPr>
          <a:xfrm>
            <a:off x="812788" y="4927575"/>
            <a:ext cx="10566363" cy="1117575"/>
          </a:xfrm>
          <a:prstGeom prst="roundRect">
            <a:avLst>
              <a:gd name="adj" fmla="val 9091"/>
            </a:avLst>
          </a:prstGeom>
          <a:solidFill>
            <a:srgbClr val="1B2E25"/>
          </a:solidFill>
          <a:ln/>
        </p:spPr>
      </p:sp>
      <p:sp>
        <p:nvSpPr>
          <p:cNvPr id="10" name="Shape 8"/>
          <p:cNvSpPr/>
          <p:nvPr/>
        </p:nvSpPr>
        <p:spPr>
          <a:xfrm>
            <a:off x="812788" y="4927575"/>
            <a:ext cx="10566363" cy="1117575"/>
          </a:xfrm>
          <a:custGeom>
            <a:avLst/>
            <a:gdLst/>
            <a:ahLst/>
            <a:cxnLst/>
            <a:rect l="l" t="t" r="r" b="b"/>
            <a:pathLst>
              <a:path w="10566363" h="1117575">
                <a:moveTo>
                  <a:pt x="101600" y="1117575"/>
                </a:moveTo>
                <a:lnTo>
                  <a:pt x="101600" y="1117575"/>
                </a:lnTo>
                <a:arcTo hR="101600" wR="101600" stAng="5400000" swAng="5400000"/>
                <a:lnTo>
                  <a:pt x="0" y="101600"/>
                </a:lnTo>
                <a:arcTo hR="101600" wR="101600" stAng="10800000" swAng="5400000"/>
                <a:lnTo>
                  <a:pt x="101600" y="0"/>
                </a:lnTo>
                <a:arcTo hR="101600" wR="50800" stAng="16200000" swAng="-5400000"/>
                <a:lnTo>
                  <a:pt x="50800" y="1015975"/>
                </a:lnTo>
                <a:arcTo hR="101600" wR="50800" stAng="10800000" swAng="-5400000"/>
                <a:close/>
              </a:path>
            </a:pathLst>
          </a:custGeom>
          <a:solidFill>
            <a:srgbClr val="7BD88F"/>
          </a:solidFill>
          <a:ln/>
        </p:spPr>
      </p:sp>
      <p:sp>
        <p:nvSpPr>
          <p:cNvPr id="11" name="Text 9"/>
          <p:cNvSpPr/>
          <p:nvPr/>
        </p:nvSpPr>
        <p:spPr>
          <a:xfrm>
            <a:off x="1088988" y="5212085"/>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A, C, E</a:t>
            </a:r>
            <a:endParaRPr lang="en-US" sz="1500" dirty="0"/>
          </a:p>
        </p:txBody>
      </p:sp>
      <p:sp>
        <p:nvSpPr>
          <p:cNvPr id="12" name="Text 10"/>
          <p:cNvSpPr/>
          <p:nvPr/>
        </p:nvSpPr>
        <p:spPr>
          <a:xfrm>
            <a:off x="1088988" y="5529511"/>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status() and set() only prepare the response. Alone, they leave the browser spinning.</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15E"/>
                </a:solidFill>
                <a:latin typeface="Space Grotesk" pitchFamily="34" charset="0"/>
                <a:ea typeface="Space Grotesk" pitchFamily="34" charset="-122"/>
                <a:cs typeface="Space Grotesk" pitchFamily="34" charset="-120"/>
              </a:rPr>
              <a:t>QUIZ · REQ &amp; RES · 6 OF 8 · MCQ: ONE ANSWER</a:t>
            </a:r>
            <a:endParaRPr lang="en-US" sz="1200" dirty="0"/>
          </a:p>
        </p:txBody>
      </p:sp>
      <p:sp>
        <p:nvSpPr>
          <p:cNvPr id="3" name="Text 1"/>
          <p:cNvSpPr/>
          <p:nvPr>
            <p:ph type="title"/>
          </p:nvPr>
        </p:nvSpPr>
        <p:spPr>
          <a:xfrm>
            <a:off x="812788" y="1102320"/>
            <a:ext cx="10883418" cy="72638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Our class server.js, login = true. You open localhost:11000/about. What appears?</a:t>
            </a:r>
            <a:endParaRPr lang="en-US" sz="2400" dirty="0"/>
          </a:p>
        </p:txBody>
      </p:sp>
      <p:sp>
        <p:nvSpPr>
          <p:cNvPr id="4" name="Text 2"/>
          <p:cNvSpPr/>
          <p:nvPr/>
        </p:nvSpPr>
        <p:spPr>
          <a:xfrm>
            <a:off x="819138" y="2063651"/>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F0A15E"/>
                </a:solidFill>
                <a:latin typeface="Space Grotesk" pitchFamily="34" charset="0"/>
                <a:ea typeface="Space Grotesk" pitchFamily="34" charset="-122"/>
                <a:cs typeface="Space Grotesk" pitchFamily="34" charset="-120"/>
              </a:rPr>
              <a:t>A</a:t>
            </a:r>
            <a:r>
              <a:rPr lang="en-US" sz="1500" dirty="0">
                <a:solidFill>
                  <a:srgbClr val="F2EFE6"/>
                </a:solidFill>
                <a:latin typeface="Space Grotesk" pitchFamily="34" charset="0"/>
                <a:ea typeface="Space Grotesk" pitchFamily="34" charset="-122"/>
                <a:cs typeface="Space Grotesk" pitchFamily="34" charset="-120"/>
              </a:rPr>
              <a:t> 404 Cannot GET /about</a:t>
            </a:r>
            <a:endParaRPr lang="en-US" sz="1500" dirty="0"/>
          </a:p>
        </p:txBody>
      </p:sp>
      <p:sp>
        <p:nvSpPr>
          <p:cNvPr id="5" name="Text 3"/>
          <p:cNvSpPr/>
          <p:nvPr/>
        </p:nvSpPr>
        <p:spPr>
          <a:xfrm>
            <a:off x="6178500" y="2063651"/>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F0A15E"/>
                </a:solidFill>
                <a:latin typeface="Space Grotesk" pitchFamily="34" charset="0"/>
                <a:ea typeface="Space Grotesk" pitchFamily="34" charset="-122"/>
                <a:cs typeface="Space Grotesk" pitchFamily="34" charset="-120"/>
              </a:rPr>
              <a:t>B</a:t>
            </a:r>
            <a:r>
              <a:rPr lang="en-US" sz="1500" dirty="0">
                <a:solidFill>
                  <a:srgbClr val="F2EFE6"/>
                </a:solidFill>
                <a:latin typeface="Space Grotesk" pitchFamily="34" charset="0"/>
                <a:ea typeface="Space Grotesk" pitchFamily="34" charset="-122"/>
                <a:cs typeface="Space Grotesk" pitchFamily="34" charset="-120"/>
              </a:rPr>
              <a:t> Testing...for id: about</a:t>
            </a:r>
            <a:endParaRPr lang="en-US" sz="1500" dirty="0"/>
          </a:p>
        </p:txBody>
      </p:sp>
      <p:sp>
        <p:nvSpPr>
          <p:cNvPr id="6" name="Text 4"/>
          <p:cNvSpPr/>
          <p:nvPr/>
        </p:nvSpPr>
        <p:spPr>
          <a:xfrm>
            <a:off x="819138" y="2862064"/>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F0A15E"/>
                </a:solidFill>
                <a:latin typeface="Space Grotesk" pitchFamily="34" charset="0"/>
                <a:ea typeface="Space Grotesk" pitchFamily="34" charset="-122"/>
                <a:cs typeface="Space Grotesk" pitchFamily="34" charset="-120"/>
              </a:rPr>
              <a:t>C</a:t>
            </a:r>
            <a:r>
              <a:rPr lang="en-US" sz="1500" dirty="0">
                <a:solidFill>
                  <a:srgbClr val="F2EFE6"/>
                </a:solidFill>
                <a:latin typeface="Space Grotesk" pitchFamily="34" charset="0"/>
                <a:ea typeface="Space Grotesk" pitchFamily="34" charset="-122"/>
                <a:cs typeface="Space Grotesk" pitchFamily="34" charset="-120"/>
              </a:rPr>
              <a:t> Kindly Login</a:t>
            </a:r>
            <a:endParaRPr lang="en-US" sz="1500" dirty="0"/>
          </a:p>
        </p:txBody>
      </p:sp>
      <p:sp>
        <p:nvSpPr>
          <p:cNvPr id="7" name="Text 5"/>
          <p:cNvSpPr/>
          <p:nvPr/>
        </p:nvSpPr>
        <p:spPr>
          <a:xfrm>
            <a:off x="6178500" y="2862064"/>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F0A15E"/>
                </a:solidFill>
                <a:latin typeface="Space Grotesk" pitchFamily="34" charset="0"/>
                <a:ea typeface="Space Grotesk" pitchFamily="34" charset="-122"/>
                <a:cs typeface="Space Grotesk" pitchFamily="34" charset="-120"/>
              </a:rPr>
              <a:t>D</a:t>
            </a:r>
            <a:r>
              <a:rPr lang="en-US" sz="1500" dirty="0">
                <a:solidFill>
                  <a:srgbClr val="F2EFE6"/>
                </a:solidFill>
                <a:latin typeface="Space Grotesk" pitchFamily="34" charset="0"/>
                <a:ea typeface="Space Grotesk" pitchFamily="34" charset="-122"/>
                <a:cs typeface="Space Grotesk" pitchFamily="34" charset="-120"/>
              </a:rPr>
              <a:t> The index.html page</a:t>
            </a:r>
            <a:endParaRPr lang="en-US" sz="1500" dirty="0"/>
          </a:p>
        </p:txBody>
      </p:sp>
      <p:sp>
        <p:nvSpPr>
          <p:cNvPr id="8" name="Shape 6"/>
          <p:cNvSpPr/>
          <p:nvPr/>
        </p:nvSpPr>
        <p:spPr>
          <a:xfrm>
            <a:off x="812788" y="4927575"/>
            <a:ext cx="10566363" cy="1117575"/>
          </a:xfrm>
          <a:prstGeom prst="roundRect">
            <a:avLst>
              <a:gd name="adj" fmla="val 9091"/>
            </a:avLst>
          </a:prstGeom>
          <a:solidFill>
            <a:srgbClr val="1B2E25"/>
          </a:solidFill>
          <a:ln/>
        </p:spPr>
      </p:sp>
      <p:sp>
        <p:nvSpPr>
          <p:cNvPr id="9" name="Shape 7"/>
          <p:cNvSpPr/>
          <p:nvPr/>
        </p:nvSpPr>
        <p:spPr>
          <a:xfrm>
            <a:off x="812788" y="4927575"/>
            <a:ext cx="10566363" cy="1117575"/>
          </a:xfrm>
          <a:custGeom>
            <a:avLst/>
            <a:gdLst/>
            <a:ahLst/>
            <a:cxnLst/>
            <a:rect l="l" t="t" r="r" b="b"/>
            <a:pathLst>
              <a:path w="10566363" h="1117575">
                <a:moveTo>
                  <a:pt x="101600" y="1117575"/>
                </a:moveTo>
                <a:lnTo>
                  <a:pt x="101600" y="1117575"/>
                </a:lnTo>
                <a:arcTo hR="101600" wR="101600" stAng="5400000" swAng="5400000"/>
                <a:lnTo>
                  <a:pt x="0" y="101600"/>
                </a:lnTo>
                <a:arcTo hR="101600" wR="101600" stAng="10800000" swAng="5400000"/>
                <a:lnTo>
                  <a:pt x="101600" y="0"/>
                </a:lnTo>
                <a:arcTo hR="101600" wR="50800" stAng="16200000" swAng="-5400000"/>
                <a:lnTo>
                  <a:pt x="50800" y="1015975"/>
                </a:lnTo>
                <a:arcTo hR="101600" wR="50800" stAng="10800000" swAng="-5400000"/>
                <a:close/>
              </a:path>
            </a:pathLst>
          </a:custGeom>
          <a:solidFill>
            <a:srgbClr val="7BD88F"/>
          </a:solidFill>
          <a:ln/>
        </p:spPr>
      </p:sp>
      <p:sp>
        <p:nvSpPr>
          <p:cNvPr id="10" name="Text 8"/>
          <p:cNvSpPr/>
          <p:nvPr/>
        </p:nvSpPr>
        <p:spPr>
          <a:xfrm>
            <a:off x="1088988" y="5212085"/>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B</a:t>
            </a:r>
            <a:endParaRPr lang="en-US" sz="1500" dirty="0"/>
          </a:p>
        </p:txBody>
      </p:sp>
      <p:sp>
        <p:nvSpPr>
          <p:cNvPr id="11" name="Text 9"/>
          <p:cNvSpPr/>
          <p:nvPr/>
        </p:nvSpPr>
        <p:spPr>
          <a:xfrm>
            <a:off x="1088988" y="5529511"/>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“about” is one path segment, so '/:id' matches it. The middleware logged first, then called next().</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15E"/>
                </a:solidFill>
                <a:latin typeface="Space Grotesk" pitchFamily="34" charset="0"/>
                <a:ea typeface="Space Grotesk" pitchFamily="34" charset="-122"/>
                <a:cs typeface="Space Grotesk" pitchFamily="34" charset="-120"/>
              </a:rPr>
              <a:t>QUIZ · REQ &amp; RES · 7 OF 8 · MCQ: ONE ANSWER</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What happens on GET /x?</a:t>
            </a:r>
            <a:endParaRPr lang="en-US" sz="2400" dirty="0"/>
          </a:p>
        </p:txBody>
      </p:sp>
      <p:sp>
        <p:nvSpPr>
          <p:cNvPr id="4" name="Text 2"/>
          <p:cNvSpPr/>
          <p:nvPr/>
        </p:nvSpPr>
        <p:spPr>
          <a:xfrm>
            <a:off x="812788" y="1655961"/>
            <a:ext cx="10566425" cy="1320602"/>
          </a:xfrm>
          <a:prstGeom prst="roundRect">
            <a:avLst>
              <a:gd name="adj" fmla="val 7693"/>
            </a:avLst>
          </a:prstGeom>
          <a:solidFill>
            <a:srgbClr val="0E1117"/>
          </a:solidFill>
          <a:ln/>
        </p:spPr>
        <p:txBody>
          <a:bodyPr wrap="square" lIns="173442" tIns="97242" rIns="0" bIns="71842" rtlCol="0" anchor="t">
            <a:normAutofit/>
          </a:bodyPr>
          <a:lstStyle/>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server.</a:t>
            </a:r>
            <a:r>
              <a:rPr lang="en-US" sz="1400" dirty="0">
                <a:solidFill>
                  <a:srgbClr val="82AAFF"/>
                </a:solidFill>
                <a:latin typeface="JetBrains Mono" pitchFamily="49" charset="0"/>
                <a:ea typeface="JetBrains Mono" pitchFamily="49" charset="-122"/>
                <a:cs typeface="JetBrains Mono" pitchFamily="49" charset="-120"/>
              </a:rPr>
              <a:t>get</a:t>
            </a:r>
            <a:r>
              <a:rPr lang="en-US" sz="1400" dirty="0">
                <a:solidFill>
                  <a:srgbClr val="E6E1D6"/>
                </a:solidFill>
                <a:latin typeface="JetBrains Mono" pitchFamily="49" charset="0"/>
                <a:ea typeface="JetBrains Mono" pitchFamily="49" charset="-122"/>
                <a:cs typeface="JetBrains Mono" pitchFamily="49" charset="-120"/>
              </a:rPr>
              <a:t>(</a:t>
            </a:r>
            <a:r>
              <a:rPr lang="en-US" sz="1400" dirty="0">
                <a:solidFill>
                  <a:srgbClr val="C3E88D"/>
                </a:solidFill>
                <a:latin typeface="JetBrains Mono" pitchFamily="49" charset="0"/>
                <a:ea typeface="JetBrains Mono" pitchFamily="49" charset="-122"/>
                <a:cs typeface="JetBrains Mono" pitchFamily="49" charset="-120"/>
              </a:rPr>
              <a:t>'/x'</a:t>
            </a:r>
            <a:r>
              <a:rPr lang="en-US" sz="1400" dirty="0">
                <a:solidFill>
                  <a:srgbClr val="E6E1D6"/>
                </a:solidFill>
                <a:latin typeface="JetBrains Mono" pitchFamily="49" charset="0"/>
                <a:ea typeface="JetBrains Mono" pitchFamily="49" charset="-122"/>
                <a:cs typeface="JetBrains Mono" pitchFamily="49" charset="-120"/>
              </a:rPr>
              <a:t>, (req, res) =&gt; {</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  res.</a:t>
            </a:r>
            <a:r>
              <a:rPr lang="en-US" sz="1400" dirty="0">
                <a:solidFill>
                  <a:srgbClr val="82AAFF"/>
                </a:solidFill>
                <a:latin typeface="JetBrains Mono" pitchFamily="49" charset="0"/>
                <a:ea typeface="JetBrains Mono" pitchFamily="49" charset="-122"/>
                <a:cs typeface="JetBrains Mono" pitchFamily="49" charset="-120"/>
              </a:rPr>
              <a:t>send</a:t>
            </a:r>
            <a:r>
              <a:rPr lang="en-US" sz="1400" dirty="0">
                <a:solidFill>
                  <a:srgbClr val="E6E1D6"/>
                </a:solidFill>
                <a:latin typeface="JetBrains Mono" pitchFamily="49" charset="0"/>
                <a:ea typeface="JetBrains Mono" pitchFamily="49" charset="-122"/>
                <a:cs typeface="JetBrains Mono" pitchFamily="49" charset="-120"/>
              </a:rPr>
              <a:t>(</a:t>
            </a:r>
            <a:r>
              <a:rPr lang="en-US" sz="1400" dirty="0">
                <a:solidFill>
                  <a:srgbClr val="C3E88D"/>
                </a:solidFill>
                <a:latin typeface="JetBrains Mono" pitchFamily="49" charset="0"/>
                <a:ea typeface="JetBrains Mono" pitchFamily="49" charset="-122"/>
                <a:cs typeface="JetBrains Mono" pitchFamily="49" charset="-120"/>
              </a:rPr>
              <a:t>'one'</a:t>
            </a:r>
            <a:r>
              <a:rPr lang="en-US" sz="1400" dirty="0">
                <a:solidFill>
                  <a:srgbClr val="E6E1D6"/>
                </a:solidFill>
                <a:latin typeface="JetBrains Mono" pitchFamily="49" charset="0"/>
                <a:ea typeface="JetBrains Mono" pitchFamily="49" charset="-122"/>
                <a:cs typeface="JetBrains Mono" pitchFamily="49" charset="-120"/>
              </a:rPr>
              <a:t>);</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  res.</a:t>
            </a:r>
            <a:r>
              <a:rPr lang="en-US" sz="1400" dirty="0">
                <a:solidFill>
                  <a:srgbClr val="82AAFF"/>
                </a:solidFill>
                <a:latin typeface="JetBrains Mono" pitchFamily="49" charset="0"/>
                <a:ea typeface="JetBrains Mono" pitchFamily="49" charset="-122"/>
                <a:cs typeface="JetBrains Mono" pitchFamily="49" charset="-120"/>
              </a:rPr>
              <a:t>send</a:t>
            </a:r>
            <a:r>
              <a:rPr lang="en-US" sz="1400" dirty="0">
                <a:solidFill>
                  <a:srgbClr val="E6E1D6"/>
                </a:solidFill>
                <a:latin typeface="JetBrains Mono" pitchFamily="49" charset="0"/>
                <a:ea typeface="JetBrains Mono" pitchFamily="49" charset="-122"/>
                <a:cs typeface="JetBrains Mono" pitchFamily="49" charset="-120"/>
              </a:rPr>
              <a:t>(</a:t>
            </a:r>
            <a:r>
              <a:rPr lang="en-US" sz="1400" dirty="0">
                <a:solidFill>
                  <a:srgbClr val="C3E88D"/>
                </a:solidFill>
                <a:latin typeface="JetBrains Mono" pitchFamily="49" charset="0"/>
                <a:ea typeface="JetBrains Mono" pitchFamily="49" charset="-122"/>
                <a:cs typeface="JetBrains Mono" pitchFamily="49" charset="-120"/>
              </a:rPr>
              <a:t>'two'</a:t>
            </a:r>
            <a:r>
              <a:rPr lang="en-US" sz="1400" dirty="0">
                <a:solidFill>
                  <a:srgbClr val="E6E1D6"/>
                </a:solidFill>
                <a:latin typeface="JetBrains Mono" pitchFamily="49" charset="0"/>
                <a:ea typeface="JetBrains Mono" pitchFamily="49" charset="-122"/>
                <a:cs typeface="JetBrains Mono" pitchFamily="49" charset="-120"/>
              </a:rPr>
              <a:t>);</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a:t>
            </a:r>
            <a:endParaRPr lang="en-US" sz="1400" dirty="0"/>
          </a:p>
        </p:txBody>
      </p:sp>
      <p:sp>
        <p:nvSpPr>
          <p:cNvPr id="5" name="Text 3"/>
          <p:cNvSpPr/>
          <p:nvPr/>
        </p:nvSpPr>
        <p:spPr>
          <a:xfrm>
            <a:off x="819138" y="3186063"/>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F0A15E"/>
                </a:solidFill>
                <a:latin typeface="Space Grotesk" pitchFamily="34" charset="0"/>
                <a:ea typeface="Space Grotesk" pitchFamily="34" charset="-122"/>
                <a:cs typeface="Space Grotesk" pitchFamily="34" charset="-120"/>
              </a:rPr>
              <a:t>A</a:t>
            </a:r>
            <a:r>
              <a:rPr lang="en-US" sz="1400" dirty="0">
                <a:solidFill>
                  <a:srgbClr val="F2EFE6"/>
                </a:solidFill>
                <a:latin typeface="Space Grotesk" pitchFamily="34" charset="0"/>
                <a:ea typeface="Space Grotesk" pitchFamily="34" charset="-122"/>
                <a:cs typeface="Space Grotesk" pitchFamily="34" charset="-120"/>
              </a:rPr>
              <a:t> Browser shows two</a:t>
            </a:r>
            <a:endParaRPr lang="en-US" sz="1400" dirty="0"/>
          </a:p>
        </p:txBody>
      </p:sp>
      <p:sp>
        <p:nvSpPr>
          <p:cNvPr id="6" name="Text 4"/>
          <p:cNvSpPr/>
          <p:nvPr/>
        </p:nvSpPr>
        <p:spPr>
          <a:xfrm>
            <a:off x="6165850" y="3186063"/>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F0A15E"/>
                </a:solidFill>
                <a:latin typeface="Space Grotesk" pitchFamily="34" charset="0"/>
                <a:ea typeface="Space Grotesk" pitchFamily="34" charset="-122"/>
                <a:cs typeface="Space Grotesk" pitchFamily="34" charset="-120"/>
              </a:rPr>
              <a:t>B</a:t>
            </a:r>
            <a:r>
              <a:rPr lang="en-US" sz="1400" dirty="0">
                <a:solidFill>
                  <a:srgbClr val="F2EFE6"/>
                </a:solidFill>
                <a:latin typeface="Space Grotesk" pitchFamily="34" charset="0"/>
                <a:ea typeface="Space Grotesk" pitchFamily="34" charset="-122"/>
                <a:cs typeface="Space Grotesk" pitchFamily="34" charset="-120"/>
              </a:rPr>
              <a:t> Browser shows onetwo</a:t>
            </a:r>
            <a:endParaRPr lang="en-US" sz="1400" dirty="0"/>
          </a:p>
        </p:txBody>
      </p:sp>
      <p:sp>
        <p:nvSpPr>
          <p:cNvPr id="7" name="Text 5"/>
          <p:cNvSpPr/>
          <p:nvPr/>
        </p:nvSpPr>
        <p:spPr>
          <a:xfrm>
            <a:off x="819138" y="3839716"/>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F0A15E"/>
                </a:solidFill>
                <a:latin typeface="Space Grotesk" pitchFamily="34" charset="0"/>
                <a:ea typeface="Space Grotesk" pitchFamily="34" charset="-122"/>
                <a:cs typeface="Space Grotesk" pitchFamily="34" charset="-120"/>
              </a:rPr>
              <a:t>C</a:t>
            </a:r>
            <a:r>
              <a:rPr lang="en-US" sz="1400" dirty="0">
                <a:solidFill>
                  <a:srgbClr val="F2EFE6"/>
                </a:solidFill>
                <a:latin typeface="Space Grotesk" pitchFamily="34" charset="0"/>
                <a:ea typeface="Space Grotesk" pitchFamily="34" charset="-122"/>
                <a:cs typeface="Space Grotesk" pitchFamily="34" charset="-120"/>
              </a:rPr>
              <a:t> Shows one; server logs ERR_HTTP_HEADERS_SENT</a:t>
            </a:r>
            <a:endParaRPr lang="en-US" sz="1400" dirty="0"/>
          </a:p>
        </p:txBody>
      </p:sp>
      <p:sp>
        <p:nvSpPr>
          <p:cNvPr id="8" name="Text 6"/>
          <p:cNvSpPr/>
          <p:nvPr/>
        </p:nvSpPr>
        <p:spPr>
          <a:xfrm>
            <a:off x="6165850" y="3839716"/>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F0A15E"/>
                </a:solidFill>
                <a:latin typeface="Space Grotesk" pitchFamily="34" charset="0"/>
                <a:ea typeface="Space Grotesk" pitchFamily="34" charset="-122"/>
                <a:cs typeface="Space Grotesk" pitchFamily="34" charset="-120"/>
              </a:rPr>
              <a:t>D</a:t>
            </a:r>
            <a:r>
              <a:rPr lang="en-US" sz="1400" dirty="0">
                <a:solidFill>
                  <a:srgbClr val="F2EFE6"/>
                </a:solidFill>
                <a:latin typeface="Space Grotesk" pitchFamily="34" charset="0"/>
                <a:ea typeface="Space Grotesk" pitchFamily="34" charset="-122"/>
                <a:cs typeface="Space Grotesk" pitchFamily="34" charset="-120"/>
              </a:rPr>
              <a:t> Nothing is sent at all</a:t>
            </a:r>
            <a:endParaRPr lang="en-US" sz="1400" dirty="0"/>
          </a:p>
        </p:txBody>
      </p:sp>
      <p:sp>
        <p:nvSpPr>
          <p:cNvPr id="9" name="Shape 7"/>
          <p:cNvSpPr/>
          <p:nvPr/>
        </p:nvSpPr>
        <p:spPr>
          <a:xfrm>
            <a:off x="812788" y="5080000"/>
            <a:ext cx="10566363" cy="965150"/>
          </a:xfrm>
          <a:prstGeom prst="roundRect">
            <a:avLst>
              <a:gd name="adj" fmla="val 10527"/>
            </a:avLst>
          </a:prstGeom>
          <a:solidFill>
            <a:srgbClr val="1B2E25"/>
          </a:solidFill>
          <a:ln/>
        </p:spPr>
      </p:sp>
      <p:sp>
        <p:nvSpPr>
          <p:cNvPr id="10" name="Shape 8"/>
          <p:cNvSpPr/>
          <p:nvPr/>
        </p:nvSpPr>
        <p:spPr>
          <a:xfrm>
            <a:off x="812788" y="5080000"/>
            <a:ext cx="10566363" cy="965150"/>
          </a:xfrm>
          <a:custGeom>
            <a:avLst/>
            <a:gdLst/>
            <a:ahLst/>
            <a:cxnLst/>
            <a:rect l="l" t="t" r="r" b="b"/>
            <a:pathLst>
              <a:path w="10566363" h="965150">
                <a:moveTo>
                  <a:pt x="101600" y="965150"/>
                </a:moveTo>
                <a:lnTo>
                  <a:pt x="101600" y="965150"/>
                </a:lnTo>
                <a:arcTo hR="101600" wR="101600" stAng="5400000" swAng="5400000"/>
                <a:lnTo>
                  <a:pt x="0" y="101600"/>
                </a:lnTo>
                <a:arcTo hR="101600" wR="101600" stAng="10800000" swAng="5400000"/>
                <a:lnTo>
                  <a:pt x="101600" y="0"/>
                </a:lnTo>
                <a:arcTo hR="101600" wR="50800" stAng="16200000" swAng="-5400000"/>
                <a:lnTo>
                  <a:pt x="50800" y="863550"/>
                </a:lnTo>
                <a:arcTo hR="101600" wR="50800" stAng="10800000" swAng="-5400000"/>
                <a:close/>
              </a:path>
            </a:pathLst>
          </a:custGeom>
          <a:solidFill>
            <a:srgbClr val="7BD88F"/>
          </a:solidFill>
          <a:ln/>
        </p:spPr>
      </p:sp>
      <p:sp>
        <p:nvSpPr>
          <p:cNvPr id="11" name="Text 9"/>
          <p:cNvSpPr/>
          <p:nvPr/>
        </p:nvSpPr>
        <p:spPr>
          <a:xfrm>
            <a:off x="1088988" y="5294685"/>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C</a:t>
            </a:r>
            <a:endParaRPr lang="en-US" sz="1500" dirty="0"/>
          </a:p>
        </p:txBody>
      </p:sp>
      <p:sp>
        <p:nvSpPr>
          <p:cNvPr id="12" name="Text 10"/>
          <p:cNvSpPr/>
          <p:nvPr/>
        </p:nvSpPr>
        <p:spPr>
          <a:xfrm>
            <a:off x="1088988" y="5599410"/>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The first send() finished the response. The second one throws on the server.</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B0FF"/>
                </a:solidFill>
                <a:latin typeface="Space Grotesk" pitchFamily="34" charset="0"/>
                <a:ea typeface="Space Grotesk" pitchFamily="34" charset="-122"/>
                <a:cs typeface="Space Grotesk" pitchFamily="34" charset="-120"/>
              </a:rPr>
              <a:t>QUIZ · REQ &amp; RES · 8 OF 8 · MSQ: CHOOSE ALL THAT APPLY</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Routes in this order. Which statements are true?</a:t>
            </a:r>
            <a:endParaRPr lang="en-US" sz="2400" dirty="0"/>
          </a:p>
        </p:txBody>
      </p:sp>
      <p:sp>
        <p:nvSpPr>
          <p:cNvPr id="4" name="Text 2"/>
          <p:cNvSpPr/>
          <p:nvPr/>
        </p:nvSpPr>
        <p:spPr>
          <a:xfrm>
            <a:off x="812788" y="1655961"/>
            <a:ext cx="10566425" cy="1053951"/>
          </a:xfrm>
          <a:prstGeom prst="roundRect">
            <a:avLst>
              <a:gd name="adj" fmla="val 9640"/>
            </a:avLst>
          </a:prstGeom>
          <a:solidFill>
            <a:srgbClr val="0E1117"/>
          </a:solidFill>
          <a:ln/>
        </p:spPr>
        <p:txBody>
          <a:bodyPr wrap="square" lIns="173442" tIns="97242" rIns="0" bIns="71842" rtlCol="0" anchor="t">
            <a:normAutofit/>
          </a:bodyPr>
          <a:lstStyle/>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server.</a:t>
            </a:r>
            <a:r>
              <a:rPr lang="en-US" sz="1400" dirty="0">
                <a:solidFill>
                  <a:srgbClr val="82AAFF"/>
                </a:solidFill>
                <a:latin typeface="JetBrains Mono" pitchFamily="49" charset="0"/>
                <a:ea typeface="JetBrains Mono" pitchFamily="49" charset="-122"/>
                <a:cs typeface="JetBrains Mono" pitchFamily="49" charset="-120"/>
              </a:rPr>
              <a:t>get</a:t>
            </a:r>
            <a:r>
              <a:rPr lang="en-US" sz="1400" dirty="0">
                <a:solidFill>
                  <a:srgbClr val="E6E1D6"/>
                </a:solidFill>
                <a:latin typeface="JetBrains Mono" pitchFamily="49" charset="0"/>
                <a:ea typeface="JetBrains Mono" pitchFamily="49" charset="-122"/>
                <a:cs typeface="JetBrains Mono" pitchFamily="49" charset="-120"/>
              </a:rPr>
              <a:t>(</a:t>
            </a:r>
            <a:r>
              <a:rPr lang="en-US" sz="1400" dirty="0">
                <a:solidFill>
                  <a:srgbClr val="C3E88D"/>
                </a:solidFill>
                <a:latin typeface="JetBrains Mono" pitchFamily="49" charset="0"/>
                <a:ea typeface="JetBrains Mono" pitchFamily="49" charset="-122"/>
                <a:cs typeface="JetBrains Mono" pitchFamily="49" charset="-120"/>
              </a:rPr>
              <a:t>'/products/:id'</a:t>
            </a:r>
            <a:r>
              <a:rPr lang="en-US" sz="1400" dirty="0">
                <a:solidFill>
                  <a:srgbClr val="E6E1D6"/>
                </a:solidFill>
                <a:latin typeface="JetBrains Mono" pitchFamily="49" charset="0"/>
                <a:ea typeface="JetBrains Mono" pitchFamily="49" charset="-122"/>
                <a:cs typeface="JetBrains Mono" pitchFamily="49" charset="-120"/>
              </a:rPr>
              <a:t>, getOne);</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server.</a:t>
            </a:r>
            <a:r>
              <a:rPr lang="en-US" sz="1400" dirty="0">
                <a:solidFill>
                  <a:srgbClr val="82AAFF"/>
                </a:solidFill>
                <a:latin typeface="JetBrains Mono" pitchFamily="49" charset="0"/>
                <a:ea typeface="JetBrains Mono" pitchFamily="49" charset="-122"/>
                <a:cs typeface="JetBrains Mono" pitchFamily="49" charset="-120"/>
              </a:rPr>
              <a:t>get</a:t>
            </a:r>
            <a:r>
              <a:rPr lang="en-US" sz="1400" dirty="0">
                <a:solidFill>
                  <a:srgbClr val="E6E1D6"/>
                </a:solidFill>
                <a:latin typeface="JetBrains Mono" pitchFamily="49" charset="0"/>
                <a:ea typeface="JetBrains Mono" pitchFamily="49" charset="-122"/>
                <a:cs typeface="JetBrains Mono" pitchFamily="49" charset="-120"/>
              </a:rPr>
              <a:t>(</a:t>
            </a:r>
            <a:r>
              <a:rPr lang="en-US" sz="1400" dirty="0">
                <a:solidFill>
                  <a:srgbClr val="C3E88D"/>
                </a:solidFill>
                <a:latin typeface="JetBrains Mono" pitchFamily="49" charset="0"/>
                <a:ea typeface="JetBrains Mono" pitchFamily="49" charset="-122"/>
                <a:cs typeface="JetBrains Mono" pitchFamily="49" charset="-120"/>
              </a:rPr>
              <a:t>'/products/categories'</a:t>
            </a:r>
            <a:r>
              <a:rPr lang="en-US" sz="1400" dirty="0">
                <a:solidFill>
                  <a:srgbClr val="E6E1D6"/>
                </a:solidFill>
                <a:latin typeface="JetBrains Mono" pitchFamily="49" charset="0"/>
                <a:ea typeface="JetBrains Mono" pitchFamily="49" charset="-122"/>
                <a:cs typeface="JetBrains Mono" pitchFamily="49" charset="-120"/>
              </a:rPr>
              <a:t>, listCategories);</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server.</a:t>
            </a:r>
            <a:r>
              <a:rPr lang="en-US" sz="1400" dirty="0">
                <a:solidFill>
                  <a:srgbClr val="82AAFF"/>
                </a:solidFill>
                <a:latin typeface="JetBrains Mono" pitchFamily="49" charset="0"/>
                <a:ea typeface="JetBrains Mono" pitchFamily="49" charset="-122"/>
                <a:cs typeface="JetBrains Mono" pitchFamily="49" charset="-120"/>
              </a:rPr>
              <a:t>get</a:t>
            </a:r>
            <a:r>
              <a:rPr lang="en-US" sz="1400" dirty="0">
                <a:solidFill>
                  <a:srgbClr val="E6E1D6"/>
                </a:solidFill>
                <a:latin typeface="JetBrains Mono" pitchFamily="49" charset="0"/>
                <a:ea typeface="JetBrains Mono" pitchFamily="49" charset="-122"/>
                <a:cs typeface="JetBrains Mono" pitchFamily="49" charset="-120"/>
              </a:rPr>
              <a:t>(</a:t>
            </a:r>
            <a:r>
              <a:rPr lang="en-US" sz="1400" dirty="0">
                <a:solidFill>
                  <a:srgbClr val="C3E88D"/>
                </a:solidFill>
                <a:latin typeface="JetBrains Mono" pitchFamily="49" charset="0"/>
                <a:ea typeface="JetBrains Mono" pitchFamily="49" charset="-122"/>
                <a:cs typeface="JetBrains Mono" pitchFamily="49" charset="-120"/>
              </a:rPr>
              <a:t>'/products/category/:name'</a:t>
            </a:r>
            <a:r>
              <a:rPr lang="en-US" sz="1400" dirty="0">
                <a:solidFill>
                  <a:srgbClr val="E6E1D6"/>
                </a:solidFill>
                <a:latin typeface="JetBrains Mono" pitchFamily="49" charset="0"/>
                <a:ea typeface="JetBrains Mono" pitchFamily="49" charset="-122"/>
                <a:cs typeface="JetBrains Mono" pitchFamily="49" charset="-120"/>
              </a:rPr>
              <a:t>, byCategory);</a:t>
            </a:r>
            <a:endParaRPr lang="en-US" sz="1400" dirty="0"/>
          </a:p>
        </p:txBody>
      </p:sp>
      <p:sp>
        <p:nvSpPr>
          <p:cNvPr id="5" name="Text 3"/>
          <p:cNvSpPr/>
          <p:nvPr/>
        </p:nvSpPr>
        <p:spPr>
          <a:xfrm>
            <a:off x="819138" y="2919413"/>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A</a:t>
            </a:r>
            <a:r>
              <a:rPr lang="en-US" sz="1400" dirty="0">
                <a:solidFill>
                  <a:srgbClr val="F2EFE6"/>
                </a:solidFill>
                <a:latin typeface="Space Grotesk" pitchFamily="34" charset="0"/>
                <a:ea typeface="Space Grotesk" pitchFamily="34" charset="-122"/>
                <a:cs typeface="Space Grotesk" pitchFamily="34" charset="-120"/>
              </a:rPr>
              <a:t> /products/categories runs getOne</a:t>
            </a:r>
            <a:endParaRPr lang="en-US" sz="1400" dirty="0"/>
          </a:p>
        </p:txBody>
      </p:sp>
      <p:sp>
        <p:nvSpPr>
          <p:cNvPr id="6" name="Text 4"/>
          <p:cNvSpPr/>
          <p:nvPr/>
        </p:nvSpPr>
        <p:spPr>
          <a:xfrm>
            <a:off x="6165850" y="2919413"/>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B</a:t>
            </a:r>
            <a:r>
              <a:rPr lang="en-US" sz="1400" dirty="0">
                <a:solidFill>
                  <a:srgbClr val="F2EFE6"/>
                </a:solidFill>
                <a:latin typeface="Space Grotesk" pitchFamily="34" charset="0"/>
                <a:ea typeface="Space Grotesk" pitchFamily="34" charset="-122"/>
                <a:cs typeface="Space Grotesk" pitchFamily="34" charset="-120"/>
              </a:rPr>
              <a:t> /products/categories runs listCategories</a:t>
            </a:r>
            <a:endParaRPr lang="en-US" sz="1400" dirty="0"/>
          </a:p>
        </p:txBody>
      </p:sp>
      <p:sp>
        <p:nvSpPr>
          <p:cNvPr id="7" name="Text 5"/>
          <p:cNvSpPr/>
          <p:nvPr/>
        </p:nvSpPr>
        <p:spPr>
          <a:xfrm>
            <a:off x="819138" y="3573066"/>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C</a:t>
            </a:r>
            <a:r>
              <a:rPr lang="en-US" sz="1400" dirty="0">
                <a:solidFill>
                  <a:srgbClr val="F2EFE6"/>
                </a:solidFill>
                <a:latin typeface="Space Grotesk" pitchFamily="34" charset="0"/>
                <a:ea typeface="Space Grotesk" pitchFamily="34" charset="-122"/>
                <a:cs typeface="Space Grotesk" pitchFamily="34" charset="-120"/>
              </a:rPr>
              <a:t> /products/category/jewelery runs byCategory</a:t>
            </a:r>
            <a:endParaRPr lang="en-US" sz="1400" dirty="0"/>
          </a:p>
        </p:txBody>
      </p:sp>
      <p:sp>
        <p:nvSpPr>
          <p:cNvPr id="8" name="Text 6"/>
          <p:cNvSpPr/>
          <p:nvPr/>
        </p:nvSpPr>
        <p:spPr>
          <a:xfrm>
            <a:off x="6165850" y="3573066"/>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D</a:t>
            </a:r>
            <a:r>
              <a:rPr lang="en-US" sz="1400" dirty="0">
                <a:solidFill>
                  <a:srgbClr val="F2EFE6"/>
                </a:solidFill>
                <a:latin typeface="Space Grotesk" pitchFamily="34" charset="0"/>
                <a:ea typeface="Space Grotesk" pitchFamily="34" charset="-122"/>
                <a:cs typeface="Space Grotesk" pitchFamily="34" charset="-120"/>
              </a:rPr>
              <a:t> /products/category runs getOne</a:t>
            </a:r>
            <a:endParaRPr lang="en-US" sz="1400" dirty="0"/>
          </a:p>
        </p:txBody>
      </p:sp>
      <p:sp>
        <p:nvSpPr>
          <p:cNvPr id="9" name="Shape 7"/>
          <p:cNvSpPr/>
          <p:nvPr/>
        </p:nvSpPr>
        <p:spPr>
          <a:xfrm>
            <a:off x="812788" y="5080000"/>
            <a:ext cx="10566363" cy="965150"/>
          </a:xfrm>
          <a:prstGeom prst="roundRect">
            <a:avLst>
              <a:gd name="adj" fmla="val 10527"/>
            </a:avLst>
          </a:prstGeom>
          <a:solidFill>
            <a:srgbClr val="1B2E25"/>
          </a:solidFill>
          <a:ln/>
        </p:spPr>
      </p:sp>
      <p:sp>
        <p:nvSpPr>
          <p:cNvPr id="10" name="Shape 8"/>
          <p:cNvSpPr/>
          <p:nvPr/>
        </p:nvSpPr>
        <p:spPr>
          <a:xfrm>
            <a:off x="812788" y="5080000"/>
            <a:ext cx="10566363" cy="965150"/>
          </a:xfrm>
          <a:custGeom>
            <a:avLst/>
            <a:gdLst/>
            <a:ahLst/>
            <a:cxnLst/>
            <a:rect l="l" t="t" r="r" b="b"/>
            <a:pathLst>
              <a:path w="10566363" h="965150">
                <a:moveTo>
                  <a:pt x="101600" y="965150"/>
                </a:moveTo>
                <a:lnTo>
                  <a:pt x="101600" y="965150"/>
                </a:lnTo>
                <a:arcTo hR="101600" wR="101600" stAng="5400000" swAng="5400000"/>
                <a:lnTo>
                  <a:pt x="0" y="101600"/>
                </a:lnTo>
                <a:arcTo hR="101600" wR="101600" stAng="10800000" swAng="5400000"/>
                <a:lnTo>
                  <a:pt x="101600" y="0"/>
                </a:lnTo>
                <a:arcTo hR="101600" wR="50800" stAng="16200000" swAng="-5400000"/>
                <a:lnTo>
                  <a:pt x="50800" y="863550"/>
                </a:lnTo>
                <a:arcTo hR="101600" wR="50800" stAng="10800000" swAng="-5400000"/>
                <a:close/>
              </a:path>
            </a:pathLst>
          </a:custGeom>
          <a:solidFill>
            <a:srgbClr val="7BD88F"/>
          </a:solidFill>
          <a:ln/>
        </p:spPr>
      </p:sp>
      <p:sp>
        <p:nvSpPr>
          <p:cNvPr id="11" name="Text 9"/>
          <p:cNvSpPr/>
          <p:nvPr/>
        </p:nvSpPr>
        <p:spPr>
          <a:xfrm>
            <a:off x="1088988" y="5294685"/>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A, C, D</a:t>
            </a:r>
            <a:endParaRPr lang="en-US" sz="1500" dirty="0"/>
          </a:p>
        </p:txBody>
      </p:sp>
      <p:sp>
        <p:nvSpPr>
          <p:cNvPr id="12" name="Text 10"/>
          <p:cNvSpPr/>
          <p:nvPr/>
        </p:nvSpPr>
        <p:spPr>
          <a:xfrm>
            <a:off x="1088988" y="5599410"/>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:id grabs any single segment, including the words “categories” and “category”. First match wins.</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2166739"/>
            <a:ext cx="10883418" cy="274253"/>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7BD88F"/>
                </a:solidFill>
                <a:latin typeface="Space Grotesk" pitchFamily="34" charset="0"/>
                <a:ea typeface="Space Grotesk" pitchFamily="34" charset="-122"/>
                <a:cs typeface="Space Grotesk" pitchFamily="34" charset="-120"/>
              </a:rPr>
              <a:t>PART 5</a:t>
            </a:r>
            <a:endParaRPr lang="en-US" sz="1400" dirty="0"/>
          </a:p>
        </p:txBody>
      </p:sp>
      <p:sp>
        <p:nvSpPr>
          <p:cNvPr id="3" name="Text 1"/>
          <p:cNvSpPr/>
          <p:nvPr>
            <p:ph type="title"/>
          </p:nvPr>
        </p:nvSpPr>
        <p:spPr>
          <a:xfrm>
            <a:off x="812788" y="2593380"/>
            <a:ext cx="10883418" cy="1305446"/>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2EFE6"/>
                </a:solidFill>
                <a:latin typeface="Space Grotesk" pitchFamily="34" charset="0"/>
                <a:ea typeface="Space Grotesk" pitchFamily="34" charset="-122"/>
                <a:cs typeface="Space Grotesk" pitchFamily="34" charset="-120"/>
              </a:rPr>
              <a:t>Middleware: the code</a:t>
            </a:r>
            <a:endParaRPr lang="en-US" sz="4800" dirty="0"/>
          </a:p>
          <a:p>
            <a:pPr algn="l" indent="0" marL="0">
              <a:lnSpc>
                <a:spcPts val="5040"/>
              </a:lnSpc>
              <a:buNone/>
            </a:pPr>
            <a:r>
              <a:rPr lang="en-US" sz="4800" b="1" i="0" dirty="0">
                <a:solidFill>
                  <a:srgbClr val="F2EFE6"/>
                </a:solidFill>
                <a:latin typeface="Space Grotesk" pitchFamily="34" charset="0"/>
                <a:ea typeface="Space Grotesk" pitchFamily="34" charset="-122"/>
                <a:cs typeface="Space Grotesk" pitchFamily="34" charset="-120"/>
              </a:rPr>
              <a:t>between req and res</a:t>
            </a:r>
            <a:endParaRPr lang="en-US" sz="4800" dirty="0"/>
          </a:p>
        </p:txBody>
      </p:sp>
      <p:sp>
        <p:nvSpPr>
          <p:cNvPr id="4" name="Text 2"/>
          <p:cNvSpPr/>
          <p:nvPr/>
        </p:nvSpPr>
        <p:spPr>
          <a:xfrm>
            <a:off x="812788" y="4051226"/>
            <a:ext cx="784860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9C0CC"/>
                </a:solidFill>
                <a:latin typeface="Space Grotesk" pitchFamily="34" charset="0"/>
                <a:ea typeface="Space Grotesk" pitchFamily="34" charset="-122"/>
                <a:cs typeface="Space Grotesk" pitchFamily="34" charset="-120"/>
              </a:rPr>
              <a:t>You have already written two: middleware1 and the 404 catch-all. Now we see why they exist, and the five kinds Express gives you.</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THE PROBLEM · NO MIDDLEWARE</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Log every request, check login on every route</a:t>
            </a:r>
            <a:endParaRPr lang="en-US" sz="2800" dirty="0"/>
          </a:p>
        </p:txBody>
      </p:sp>
      <p:sp>
        <p:nvSpPr>
          <p:cNvPr id="4" name="Text 2"/>
          <p:cNvSpPr/>
          <p:nvPr/>
        </p:nvSpPr>
        <p:spPr>
          <a:xfrm>
            <a:off x="812788" y="1696641"/>
            <a:ext cx="8001000" cy="4013771"/>
          </a:xfrm>
          <a:prstGeom prst="roundRect">
            <a:avLst>
              <a:gd name="adj" fmla="val 2531"/>
            </a:avLst>
          </a:prstGeom>
          <a:solidFill>
            <a:srgbClr val="161B24"/>
          </a:solidFill>
          <a:ln/>
        </p:spPr>
        <p:txBody>
          <a:bodyPr wrap="none" lIns="173393" tIns="148042" rIns="0" bIns="122618"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console.log(new Date().toISOString(), req.method, req.url);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if (req.query.token !== 'abc123') return res.status(401).send('Kindly Login');</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(products);</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console.log(new Date().toISOString(), req.method, req.url);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if (req.query.token !== 'abc123') return res.status(401).send('Kindly Login');</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findProduct</a:t>
            </a:r>
            <a:r>
              <a:rPr lang="en-US" sz="1200" dirty="0">
                <a:solidFill>
                  <a:srgbClr val="E6E1D6"/>
                </a:solidFill>
                <a:latin typeface="JetBrains Mono" pitchFamily="49" charset="0"/>
                <a:ea typeface="JetBrains Mono" pitchFamily="49" charset="-122"/>
                <a:cs typeface="JetBrains Mono" pitchFamily="49" charset="-120"/>
              </a:rPr>
              <a:t>(req.params.id));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post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console.log(new Date().toISOString(), req.method, req.url);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if (req.query.token !== 'abc123') return res.status(401).send('Kindly Login');</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201</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addProduct</a:t>
            </a:r>
            <a:r>
              <a:rPr lang="en-US" sz="1200" dirty="0">
                <a:solidFill>
                  <a:srgbClr val="E6E1D6"/>
                </a:solidFill>
                <a:latin typeface="JetBrains Mono" pitchFamily="49" charset="0"/>
                <a:ea typeface="JetBrains Mono" pitchFamily="49" charset="-122"/>
                <a:cs typeface="JetBrains Mono" pitchFamily="49" charset="-120"/>
              </a:rPr>
              <a:t>(req.body));</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…and 17 more routes</a:t>
            </a:r>
            <a:endParaRPr lang="en-US" sz="1200" dirty="0"/>
          </a:p>
        </p:txBody>
      </p:sp>
      <p:sp>
        <p:nvSpPr>
          <p:cNvPr id="5" name="Shape 3"/>
          <p:cNvSpPr/>
          <p:nvPr/>
        </p:nvSpPr>
        <p:spPr>
          <a:xfrm>
            <a:off x="9023350" y="1708150"/>
            <a:ext cx="2349450" cy="1257300"/>
          </a:xfrm>
          <a:prstGeom prst="roundRect">
            <a:avLst>
              <a:gd name="adj" fmla="val 7576"/>
            </a:avLst>
          </a:prstGeom>
          <a:solidFill>
            <a:srgbClr val="FDFCF8"/>
          </a:solidFill>
          <a:ln w="12700">
            <a:solidFill>
              <a:srgbClr val="DDD8CA"/>
            </a:solidFill>
            <a:prstDash val="solid"/>
          </a:ln>
        </p:spPr>
      </p:sp>
      <p:sp>
        <p:nvSpPr>
          <p:cNvPr id="6" name="Text 4"/>
          <p:cNvSpPr/>
          <p:nvPr/>
        </p:nvSpPr>
        <p:spPr>
          <a:xfrm>
            <a:off x="9206694" y="1902396"/>
            <a:ext cx="2042246" cy="41657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D9692A"/>
                </a:solidFill>
                <a:latin typeface="Space Grotesk" pitchFamily="34" charset="0"/>
                <a:ea typeface="Space Grotesk" pitchFamily="34" charset="-122"/>
                <a:cs typeface="Space Grotesk" pitchFamily="34" charset="-120"/>
              </a:rPr>
              <a:t>40 copies</a:t>
            </a:r>
            <a:endParaRPr lang="en-US" sz="2200" dirty="0"/>
          </a:p>
        </p:txBody>
      </p:sp>
      <p:sp>
        <p:nvSpPr>
          <p:cNvPr id="7" name="Text 5"/>
          <p:cNvSpPr/>
          <p:nvPr/>
        </p:nvSpPr>
        <p:spPr>
          <a:xfrm>
            <a:off x="9206694" y="2344341"/>
            <a:ext cx="2042246"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of the same 2 lines across 20 routes</a:t>
            </a:r>
            <a:endParaRPr lang="en-US" sz="1200" dirty="0"/>
          </a:p>
        </p:txBody>
      </p:sp>
      <p:sp>
        <p:nvSpPr>
          <p:cNvPr id="8" name="Shape 6"/>
          <p:cNvSpPr/>
          <p:nvPr/>
        </p:nvSpPr>
        <p:spPr>
          <a:xfrm>
            <a:off x="9023350" y="3130500"/>
            <a:ext cx="2349450" cy="1257300"/>
          </a:xfrm>
          <a:prstGeom prst="roundRect">
            <a:avLst>
              <a:gd name="adj" fmla="val 7576"/>
            </a:avLst>
          </a:prstGeom>
          <a:solidFill>
            <a:srgbClr val="FDFCF8"/>
          </a:solidFill>
          <a:ln w="12700">
            <a:solidFill>
              <a:srgbClr val="DDD8CA"/>
            </a:solidFill>
            <a:prstDash val="solid"/>
          </a:ln>
        </p:spPr>
      </p:sp>
      <p:sp>
        <p:nvSpPr>
          <p:cNvPr id="9" name="Text 7"/>
          <p:cNvSpPr/>
          <p:nvPr/>
        </p:nvSpPr>
        <p:spPr>
          <a:xfrm>
            <a:off x="9206694" y="3324771"/>
            <a:ext cx="2042246" cy="41657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D9692A"/>
                </a:solidFill>
                <a:latin typeface="Space Grotesk" pitchFamily="34" charset="0"/>
                <a:ea typeface="Space Grotesk" pitchFamily="34" charset="-122"/>
                <a:cs typeface="Space Grotesk" pitchFamily="34" charset="-120"/>
              </a:rPr>
              <a:t>20 edits</a:t>
            </a:r>
            <a:endParaRPr lang="en-US" sz="2200" dirty="0"/>
          </a:p>
        </p:txBody>
      </p:sp>
      <p:sp>
        <p:nvSpPr>
          <p:cNvPr id="10" name="Text 8"/>
          <p:cNvSpPr/>
          <p:nvPr/>
        </p:nvSpPr>
        <p:spPr>
          <a:xfrm>
            <a:off x="9206694" y="3766716"/>
            <a:ext cx="2042246"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when the token rule changes</a:t>
            </a:r>
            <a:endParaRPr lang="en-US" sz="1200" dirty="0"/>
          </a:p>
        </p:txBody>
      </p:sp>
      <p:sp>
        <p:nvSpPr>
          <p:cNvPr id="11" name="Shape 9"/>
          <p:cNvSpPr/>
          <p:nvPr/>
        </p:nvSpPr>
        <p:spPr>
          <a:xfrm>
            <a:off x="9023350" y="4552925"/>
            <a:ext cx="2349450" cy="1485875"/>
          </a:xfrm>
          <a:prstGeom prst="roundRect">
            <a:avLst>
              <a:gd name="adj" fmla="val 6410"/>
            </a:avLst>
          </a:prstGeom>
          <a:solidFill>
            <a:srgbClr val="FDFCF8"/>
          </a:solidFill>
          <a:ln w="12700">
            <a:solidFill>
              <a:srgbClr val="DDD8CA"/>
            </a:solidFill>
            <a:prstDash val="solid"/>
          </a:ln>
        </p:spPr>
      </p:sp>
      <p:sp>
        <p:nvSpPr>
          <p:cNvPr id="12" name="Text 10"/>
          <p:cNvSpPr/>
          <p:nvPr/>
        </p:nvSpPr>
        <p:spPr>
          <a:xfrm>
            <a:off x="9206694" y="4861471"/>
            <a:ext cx="2042246" cy="41657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D9692A"/>
                </a:solidFill>
                <a:latin typeface="Space Grotesk" pitchFamily="34" charset="0"/>
                <a:ea typeface="Space Grotesk" pitchFamily="34" charset="-122"/>
                <a:cs typeface="Space Grotesk" pitchFamily="34" charset="-120"/>
              </a:rPr>
              <a:t>1 forgotten</a:t>
            </a:r>
            <a:endParaRPr lang="en-US" sz="2200" dirty="0"/>
          </a:p>
        </p:txBody>
      </p:sp>
      <p:sp>
        <p:nvSpPr>
          <p:cNvPr id="13" name="Text 11"/>
          <p:cNvSpPr/>
          <p:nvPr/>
        </p:nvSpPr>
        <p:spPr>
          <a:xfrm>
            <a:off x="9206694" y="5303441"/>
            <a:ext cx="2042246"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copy is an unprotected route nobody notices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DEFINITION</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A middleware is a function with a third argument</a:t>
            </a:r>
            <a:endParaRPr lang="en-US" sz="2800" dirty="0"/>
          </a:p>
        </p:txBody>
      </p:sp>
      <p:sp>
        <p:nvSpPr>
          <p:cNvPr id="4" name="Shape 2"/>
          <p:cNvSpPr/>
          <p:nvPr/>
        </p:nvSpPr>
        <p:spPr>
          <a:xfrm>
            <a:off x="812788" y="1772841"/>
            <a:ext cx="10566425" cy="1381621"/>
          </a:xfrm>
          <a:prstGeom prst="roundRect">
            <a:avLst>
              <a:gd name="adj" fmla="val 9192"/>
            </a:avLst>
          </a:prstGeom>
          <a:solidFill>
            <a:srgbClr val="161B24"/>
          </a:solidFill>
          <a:ln/>
        </p:spPr>
      </p:sp>
      <p:sp>
        <p:nvSpPr>
          <p:cNvPr id="5" name="Text 3"/>
          <p:cNvSpPr/>
          <p:nvPr/>
        </p:nvSpPr>
        <p:spPr>
          <a:xfrm>
            <a:off x="2895457" y="2026841"/>
            <a:ext cx="6401023" cy="523168"/>
          </a:xfrm>
          <a:prstGeom prst="rect">
            <a:avLst/>
          </a:prstGeom>
          <a:noFill/>
          <a:ln/>
        </p:spPr>
        <p:txBody>
          <a:bodyPr wrap="square" lIns="0" tIns="0" rIns="0" bIns="0" rtlCol="0" anchor="t">
            <a:normAutofit/>
          </a:bodyPr>
          <a:lstStyle/>
          <a:p>
            <a:pPr algn="ctr" indent="0" marL="0">
              <a:lnSpc>
                <a:spcPts val="3920"/>
              </a:lnSpc>
              <a:buNone/>
            </a:pPr>
            <a:r>
              <a:rPr lang="en-US" sz="2800" dirty="0">
                <a:solidFill>
                  <a:srgbClr val="E6E1D6"/>
                </a:solidFill>
                <a:latin typeface="JetBrains Mono" pitchFamily="49" charset="0"/>
                <a:ea typeface="JetBrains Mono" pitchFamily="49" charset="-122"/>
                <a:cs typeface="JetBrains Mono" pitchFamily="49" charset="-120"/>
              </a:rPr>
              <a:t>(</a:t>
            </a:r>
            <a:r>
              <a:rPr lang="en-US" sz="2800" dirty="0">
                <a:solidFill>
                  <a:srgbClr val="7FB0FF"/>
                </a:solidFill>
                <a:latin typeface="JetBrains Mono" pitchFamily="49" charset="0"/>
                <a:ea typeface="JetBrains Mono" pitchFamily="49" charset="-122"/>
                <a:cs typeface="JetBrains Mono" pitchFamily="49" charset="-120"/>
              </a:rPr>
              <a:t>req</a:t>
            </a:r>
            <a:r>
              <a:rPr lang="en-US" sz="2800" dirty="0">
                <a:solidFill>
                  <a:srgbClr val="E6E1D6"/>
                </a:solidFill>
                <a:latin typeface="JetBrains Mono" pitchFamily="49" charset="0"/>
                <a:ea typeface="JetBrains Mono" pitchFamily="49" charset="-122"/>
                <a:cs typeface="JetBrains Mono" pitchFamily="49" charset="-120"/>
              </a:rPr>
              <a:t>, </a:t>
            </a:r>
            <a:r>
              <a:rPr lang="en-US" sz="2800" dirty="0">
                <a:solidFill>
                  <a:srgbClr val="F0A15E"/>
                </a:solidFill>
                <a:latin typeface="JetBrains Mono" pitchFamily="49" charset="0"/>
                <a:ea typeface="JetBrains Mono" pitchFamily="49" charset="-122"/>
                <a:cs typeface="JetBrains Mono" pitchFamily="49" charset="-120"/>
              </a:rPr>
              <a:t>res</a:t>
            </a:r>
            <a:r>
              <a:rPr lang="en-US" sz="2800" dirty="0">
                <a:solidFill>
                  <a:srgbClr val="E6E1D6"/>
                </a:solidFill>
                <a:latin typeface="JetBrains Mono" pitchFamily="49" charset="0"/>
                <a:ea typeface="JetBrains Mono" pitchFamily="49" charset="-122"/>
                <a:cs typeface="JetBrains Mono" pitchFamily="49" charset="-120"/>
              </a:rPr>
              <a:t>, </a:t>
            </a:r>
            <a:r>
              <a:rPr lang="en-US" sz="2800" dirty="0">
                <a:solidFill>
                  <a:srgbClr val="7BD88F"/>
                </a:solidFill>
                <a:latin typeface="JetBrains Mono" pitchFamily="49" charset="0"/>
                <a:ea typeface="JetBrains Mono" pitchFamily="49" charset="-122"/>
                <a:cs typeface="JetBrains Mono" pitchFamily="49" charset="-120"/>
              </a:rPr>
              <a:t>next</a:t>
            </a:r>
            <a:r>
              <a:rPr lang="en-US" sz="2800" dirty="0">
                <a:solidFill>
                  <a:srgbClr val="E6E1D6"/>
                </a:solidFill>
                <a:latin typeface="JetBrains Mono" pitchFamily="49" charset="0"/>
                <a:ea typeface="JetBrains Mono" pitchFamily="49" charset="-122"/>
                <a:cs typeface="JetBrains Mono" pitchFamily="49" charset="-120"/>
              </a:rPr>
              <a:t>) =&gt; { … }</a:t>
            </a:r>
            <a:endParaRPr lang="en-US" sz="2800" dirty="0"/>
          </a:p>
        </p:txBody>
      </p:sp>
      <p:sp>
        <p:nvSpPr>
          <p:cNvPr id="6" name="Text 4"/>
          <p:cNvSpPr/>
          <p:nvPr/>
        </p:nvSpPr>
        <p:spPr>
          <a:xfrm>
            <a:off x="3689821" y="2651621"/>
            <a:ext cx="4812357" cy="274253"/>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the request</a:t>
            </a:r>
            <a:r>
              <a:rPr lang="en-US" sz="1400" dirty="0">
                <a:solidFill>
                  <a:srgbClr val="B9C0CC"/>
                </a:solidFill>
                <a:latin typeface="Space Grotesk" pitchFamily="34" charset="0"/>
                <a:ea typeface="Space Grotesk" pitchFamily="34" charset="-122"/>
                <a:cs typeface="Space Grotesk" pitchFamily="34" charset="-120"/>
              </a:rPr>
              <a:t> · </a:t>
            </a:r>
            <a:r>
              <a:rPr lang="en-US" sz="1400" dirty="0">
                <a:solidFill>
                  <a:srgbClr val="F0A15E"/>
                </a:solidFill>
                <a:latin typeface="Space Grotesk" pitchFamily="34" charset="0"/>
                <a:ea typeface="Space Grotesk" pitchFamily="34" charset="-122"/>
                <a:cs typeface="Space Grotesk" pitchFamily="34" charset="-120"/>
              </a:rPr>
              <a:t>the response</a:t>
            </a:r>
            <a:r>
              <a:rPr lang="en-US" sz="1400" dirty="0">
                <a:solidFill>
                  <a:srgbClr val="B9C0CC"/>
                </a:solidFill>
                <a:latin typeface="Space Grotesk" pitchFamily="34" charset="0"/>
                <a:ea typeface="Space Grotesk" pitchFamily="34" charset="-122"/>
                <a:cs typeface="Space Grotesk" pitchFamily="34" charset="-120"/>
              </a:rPr>
              <a:t> · </a:t>
            </a:r>
            <a:r>
              <a:rPr lang="en-US" sz="1400" dirty="0">
                <a:solidFill>
                  <a:srgbClr val="7BD88F"/>
                </a:solidFill>
                <a:latin typeface="Space Grotesk" pitchFamily="34" charset="0"/>
                <a:ea typeface="Space Grotesk" pitchFamily="34" charset="-122"/>
                <a:cs typeface="Space Grotesk" pitchFamily="34" charset="-120"/>
              </a:rPr>
              <a:t>“pass it on” button</a:t>
            </a:r>
            <a:endParaRPr lang="en-US" sz="1400" dirty="0"/>
          </a:p>
        </p:txBody>
      </p:sp>
      <p:sp>
        <p:nvSpPr>
          <p:cNvPr id="7" name="Shape 5"/>
          <p:cNvSpPr/>
          <p:nvPr/>
        </p:nvSpPr>
        <p:spPr>
          <a:xfrm>
            <a:off x="819138" y="3465612"/>
            <a:ext cx="2514588" cy="1428390"/>
          </a:xfrm>
          <a:prstGeom prst="roundRect">
            <a:avLst>
              <a:gd name="adj" fmla="val 6668"/>
            </a:avLst>
          </a:prstGeom>
          <a:solidFill>
            <a:srgbClr val="FDFCF8"/>
          </a:solidFill>
          <a:ln w="12700">
            <a:solidFill>
              <a:srgbClr val="DDD8CA"/>
            </a:solidFill>
            <a:prstDash val="solid"/>
          </a:ln>
        </p:spPr>
      </p:sp>
      <p:pic>
        <p:nvPicPr>
          <p:cNvPr id="8" name="Image 0" descr="Code">    </p:cNvPr>
          <p:cNvPicPr>
            <a:picLocks noChangeAspect="1"/>
          </p:cNvPicPr>
          <p:nvPr/>
        </p:nvPicPr>
        <p:blipFill>
          <a:blip r:embed="rId1"/>
          <a:srcRect l="0" r="0" t="0" b="0"/>
          <a:stretch/>
        </p:blipFill>
        <p:spPr>
          <a:xfrm>
            <a:off x="1002481" y="3648968"/>
            <a:ext cx="279363" cy="279363"/>
          </a:xfrm>
          <a:prstGeom prst="rect">
            <a:avLst/>
          </a:prstGeom>
        </p:spPr>
      </p:pic>
      <p:sp>
        <p:nvSpPr>
          <p:cNvPr id="9" name="Text 6"/>
          <p:cNvSpPr/>
          <p:nvPr/>
        </p:nvSpPr>
        <p:spPr>
          <a:xfrm>
            <a:off x="1002481" y="3991818"/>
            <a:ext cx="2212337"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F2B"/>
                </a:solidFill>
                <a:latin typeface="Space Grotesk" pitchFamily="34" charset="0"/>
                <a:ea typeface="Space Grotesk" pitchFamily="34" charset="-122"/>
                <a:cs typeface="Space Grotesk" pitchFamily="34" charset="-120"/>
              </a:rPr>
              <a:t>Run any code</a:t>
            </a:r>
            <a:endParaRPr lang="en-US" sz="1500" dirty="0"/>
          </a:p>
        </p:txBody>
      </p:sp>
      <p:sp>
        <p:nvSpPr>
          <p:cNvPr id="10" name="Text 7"/>
          <p:cNvSpPr/>
          <p:nvPr/>
        </p:nvSpPr>
        <p:spPr>
          <a:xfrm>
            <a:off x="1002481" y="4283894"/>
            <a:ext cx="2212337"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log, time, count, check</a:t>
            </a:r>
            <a:endParaRPr lang="en-US" sz="1200" dirty="0"/>
          </a:p>
        </p:txBody>
      </p:sp>
      <p:sp>
        <p:nvSpPr>
          <p:cNvPr id="11" name="Shape 8"/>
          <p:cNvSpPr/>
          <p:nvPr/>
        </p:nvSpPr>
        <p:spPr>
          <a:xfrm>
            <a:off x="3498788" y="3465612"/>
            <a:ext cx="2514650" cy="1428390"/>
          </a:xfrm>
          <a:prstGeom prst="roundRect">
            <a:avLst>
              <a:gd name="adj" fmla="val 6668"/>
            </a:avLst>
          </a:prstGeom>
          <a:solidFill>
            <a:srgbClr val="FDFCF8"/>
          </a:solidFill>
          <a:ln w="12700">
            <a:solidFill>
              <a:srgbClr val="DDD8CA"/>
            </a:solidFill>
            <a:prstDash val="solid"/>
          </a:ln>
        </p:spPr>
      </p:sp>
      <p:pic>
        <p:nvPicPr>
          <p:cNvPr id="12" name="Image 1" descr="Wrench">    </p:cNvPr>
          <p:cNvPicPr>
            <a:picLocks noChangeAspect="1"/>
          </p:cNvPicPr>
          <p:nvPr/>
        </p:nvPicPr>
        <p:blipFill>
          <a:blip r:embed="rId2"/>
          <a:srcRect l="0" r="0" t="0" b="0"/>
          <a:stretch/>
        </p:blipFill>
        <p:spPr>
          <a:xfrm>
            <a:off x="3682132" y="3648968"/>
            <a:ext cx="279363" cy="279363"/>
          </a:xfrm>
          <a:prstGeom prst="rect">
            <a:avLst/>
          </a:prstGeom>
        </p:spPr>
      </p:pic>
      <p:sp>
        <p:nvSpPr>
          <p:cNvPr id="13" name="Text 9"/>
          <p:cNvSpPr/>
          <p:nvPr/>
        </p:nvSpPr>
        <p:spPr>
          <a:xfrm>
            <a:off x="3682132" y="3991818"/>
            <a:ext cx="221240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F2B"/>
                </a:solidFill>
                <a:latin typeface="Space Grotesk" pitchFamily="34" charset="0"/>
                <a:ea typeface="Space Grotesk" pitchFamily="34" charset="-122"/>
                <a:cs typeface="Space Grotesk" pitchFamily="34" charset="-120"/>
              </a:rPr>
              <a:t>Change req, res</a:t>
            </a:r>
            <a:endParaRPr lang="en-US" sz="1500" dirty="0"/>
          </a:p>
        </p:txBody>
      </p:sp>
      <p:sp>
        <p:nvSpPr>
          <p:cNvPr id="14" name="Text 10"/>
          <p:cNvSpPr/>
          <p:nvPr/>
        </p:nvSpPr>
        <p:spPr>
          <a:xfrm>
            <a:off x="3682132" y="4283894"/>
            <a:ext cx="2212401"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add req.user, req.body, a header</a:t>
            </a:r>
            <a:endParaRPr lang="en-US" sz="1200" dirty="0"/>
          </a:p>
        </p:txBody>
      </p:sp>
      <p:sp>
        <p:nvSpPr>
          <p:cNvPr id="15" name="Shape 11"/>
          <p:cNvSpPr/>
          <p:nvPr/>
        </p:nvSpPr>
        <p:spPr>
          <a:xfrm>
            <a:off x="6178500" y="3465612"/>
            <a:ext cx="2514650" cy="1428390"/>
          </a:xfrm>
          <a:prstGeom prst="roundRect">
            <a:avLst>
              <a:gd name="adj" fmla="val 6668"/>
            </a:avLst>
          </a:prstGeom>
          <a:solidFill>
            <a:srgbClr val="FDFCF8"/>
          </a:solidFill>
          <a:ln w="12700">
            <a:solidFill>
              <a:srgbClr val="DDD8CA"/>
            </a:solidFill>
            <a:prstDash val="solid"/>
          </a:ln>
        </p:spPr>
      </p:sp>
      <p:pic>
        <p:nvPicPr>
          <p:cNvPr id="16" name="Image 2" descr="Lock">    </p:cNvPr>
          <p:cNvPicPr>
            <a:picLocks noChangeAspect="1"/>
          </p:cNvPicPr>
          <p:nvPr/>
        </p:nvPicPr>
        <p:blipFill>
          <a:blip r:embed="rId3"/>
          <a:srcRect l="0" r="0" t="0" b="0"/>
          <a:stretch/>
        </p:blipFill>
        <p:spPr>
          <a:xfrm>
            <a:off x="6361844" y="3648968"/>
            <a:ext cx="279363" cy="279363"/>
          </a:xfrm>
          <a:prstGeom prst="rect">
            <a:avLst/>
          </a:prstGeom>
        </p:spPr>
      </p:pic>
      <p:sp>
        <p:nvSpPr>
          <p:cNvPr id="17" name="Text 12"/>
          <p:cNvSpPr/>
          <p:nvPr/>
        </p:nvSpPr>
        <p:spPr>
          <a:xfrm>
            <a:off x="6361844" y="3991818"/>
            <a:ext cx="221240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F2B"/>
                </a:solidFill>
                <a:latin typeface="Space Grotesk" pitchFamily="34" charset="0"/>
                <a:ea typeface="Space Grotesk" pitchFamily="34" charset="-122"/>
                <a:cs typeface="Space Grotesk" pitchFamily="34" charset="-120"/>
              </a:rPr>
              <a:t>End the cycle</a:t>
            </a:r>
            <a:endParaRPr lang="en-US" sz="1500" dirty="0"/>
          </a:p>
        </p:txBody>
      </p:sp>
      <p:sp>
        <p:nvSpPr>
          <p:cNvPr id="18" name="Text 13"/>
          <p:cNvSpPr/>
          <p:nvPr/>
        </p:nvSpPr>
        <p:spPr>
          <a:xfrm>
            <a:off x="6361844" y="4283894"/>
            <a:ext cx="221240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answer early: 401, 404, 500</a:t>
            </a:r>
            <a:endParaRPr lang="en-US" sz="1200" dirty="0"/>
          </a:p>
        </p:txBody>
      </p:sp>
      <p:sp>
        <p:nvSpPr>
          <p:cNvPr id="19" name="Shape 14"/>
          <p:cNvSpPr/>
          <p:nvPr/>
        </p:nvSpPr>
        <p:spPr>
          <a:xfrm>
            <a:off x="8858213" y="3465612"/>
            <a:ext cx="2514650" cy="1428390"/>
          </a:xfrm>
          <a:prstGeom prst="roundRect">
            <a:avLst>
              <a:gd name="adj" fmla="val 6668"/>
            </a:avLst>
          </a:prstGeom>
          <a:solidFill>
            <a:srgbClr val="FDFCF8"/>
          </a:solidFill>
          <a:ln w="12700">
            <a:solidFill>
              <a:srgbClr val="DDD8CA"/>
            </a:solidFill>
            <a:prstDash val="solid"/>
          </a:ln>
        </p:spPr>
      </p:sp>
      <p:pic>
        <p:nvPicPr>
          <p:cNvPr id="20" name="Image 3" descr="PaperPlane">    </p:cNvPr>
          <p:cNvPicPr>
            <a:picLocks noChangeAspect="1"/>
          </p:cNvPicPr>
          <p:nvPr/>
        </p:nvPicPr>
        <p:blipFill>
          <a:blip r:embed="rId4"/>
          <a:srcRect l="0" r="0" t="0" b="0"/>
          <a:stretch/>
        </p:blipFill>
        <p:spPr>
          <a:xfrm>
            <a:off x="9041557" y="3648968"/>
            <a:ext cx="279363" cy="279363"/>
          </a:xfrm>
          <a:prstGeom prst="rect">
            <a:avLst/>
          </a:prstGeom>
        </p:spPr>
      </p:pic>
      <p:sp>
        <p:nvSpPr>
          <p:cNvPr id="21" name="Text 15"/>
          <p:cNvSpPr/>
          <p:nvPr/>
        </p:nvSpPr>
        <p:spPr>
          <a:xfrm>
            <a:off x="9041557" y="3991818"/>
            <a:ext cx="221240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A1F2B"/>
                </a:solidFill>
                <a:latin typeface="Space Grotesk" pitchFamily="34" charset="0"/>
                <a:ea typeface="Space Grotesk" pitchFamily="34" charset="-122"/>
                <a:cs typeface="Space Grotesk" pitchFamily="34" charset="-120"/>
              </a:rPr>
              <a:t>Call next()</a:t>
            </a:r>
            <a:endParaRPr lang="en-US" sz="1500" dirty="0"/>
          </a:p>
        </p:txBody>
      </p:sp>
      <p:sp>
        <p:nvSpPr>
          <p:cNvPr id="22" name="Text 16"/>
          <p:cNvSpPr/>
          <p:nvPr/>
        </p:nvSpPr>
        <p:spPr>
          <a:xfrm>
            <a:off x="9041557" y="4283894"/>
            <a:ext cx="2212401"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hand over to the next one</a:t>
            </a:r>
            <a:endParaRPr lang="en-US" sz="1200" dirty="0"/>
          </a:p>
        </p:txBody>
      </p:sp>
      <p:sp>
        <p:nvSpPr>
          <p:cNvPr id="23" name="Text 17"/>
          <p:cNvSpPr/>
          <p:nvPr/>
        </p:nvSpPr>
        <p:spPr>
          <a:xfrm>
            <a:off x="812788" y="5205140"/>
            <a:ext cx="1088341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F2B"/>
                </a:solidFill>
                <a:latin typeface="Space Grotesk" pitchFamily="34" charset="0"/>
                <a:ea typeface="Space Grotesk" pitchFamily="34" charset="-122"/>
                <a:cs typeface="Space Grotesk" pitchFamily="34" charset="-120"/>
              </a:rPr>
              <a:t>If it doesn’t end the cycle, it </a:t>
            </a:r>
            <a:r>
              <a:rPr lang="en-US" sz="1400" b="1" dirty="0">
                <a:solidFill>
                  <a:srgbClr val="1A1F2B"/>
                </a:solidFill>
                <a:latin typeface="Space Grotesk" pitchFamily="34" charset="0"/>
                <a:ea typeface="Space Grotesk" pitchFamily="34" charset="-122"/>
                <a:cs typeface="Space Grotesk" pitchFamily="34" charset="-120"/>
              </a:rPr>
              <a:t>must</a:t>
            </a:r>
            <a:r>
              <a:rPr lang="en-US" sz="1400" dirty="0">
                <a:solidFill>
                  <a:srgbClr val="1A1F2B"/>
                </a:solidFill>
                <a:latin typeface="Space Grotesk" pitchFamily="34" charset="0"/>
                <a:ea typeface="Space Grotesk" pitchFamily="34" charset="-122"/>
                <a:cs typeface="Space Grotesk" pitchFamily="34" charset="-120"/>
              </a:rPr>
              <a:t> call next(). Otherwise the request is left hanging.</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WATCH IT RUN</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Each function passes the request on, or answers</a:t>
            </a:r>
            <a:endParaRPr lang="en-US" sz="2800" dirty="0"/>
          </a:p>
        </p:txBody>
      </p:sp>
      <p:pic>
        <p:nvPicPr>
          <p:cNvPr id="4" name="Image 0" descr="web embed">    </p:cNvPr>
          <p:cNvPicPr>
            <a:picLocks noChangeAspect="1"/>
          </p:cNvPicPr>
          <p:nvPr/>
        </p:nvPicPr>
        <p:blipFill>
          <a:blip r:embed="rId1"/>
          <a:srcRect l="0" r="0" t="0" b="0"/>
          <a:stretch/>
        </p:blipFill>
        <p:spPr>
          <a:xfrm>
            <a:off x="812788" y="1701800"/>
            <a:ext cx="10566363" cy="4064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STEP 1 · A LOGGER</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Write it once, it runs for every request</a:t>
            </a:r>
            <a:endParaRPr lang="en-US" sz="2800" dirty="0"/>
          </a:p>
        </p:txBody>
      </p:sp>
      <p:sp>
        <p:nvSpPr>
          <p:cNvPr id="4" name="Shape 2"/>
          <p:cNvSpPr/>
          <p:nvPr/>
        </p:nvSpPr>
        <p:spPr>
          <a:xfrm>
            <a:off x="812788" y="1696641"/>
            <a:ext cx="5588000" cy="3617392"/>
          </a:xfrm>
          <a:prstGeom prst="roundRect">
            <a:avLst>
              <a:gd name="adj" fmla="val 2809"/>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997684"/>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the guide’s version:</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console.log('Time:', Date.now())</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next)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time = </a:t>
            </a:r>
            <a:r>
              <a:rPr lang="en-US" sz="1200" dirty="0">
                <a:solidFill>
                  <a:srgbClr val="C792EA"/>
                </a:solidFill>
                <a:latin typeface="JetBrains Mono" pitchFamily="49" charset="0"/>
                <a:ea typeface="JetBrains Mono" pitchFamily="49" charset="-122"/>
                <a:cs typeface="JetBrains Mono" pitchFamily="49" charset="-120"/>
              </a:rPr>
              <a:t>new</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Date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toISOString</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(time, req.method, req.url);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=&gt;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(products));</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getOne);</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no path → runs for every request</a:t>
            </a:r>
            <a:endParaRPr lang="en-US" sz="1200" dirty="0"/>
          </a:p>
        </p:txBody>
      </p:sp>
      <p:sp>
        <p:nvSpPr>
          <p:cNvPr id="7" name="Shape 5"/>
          <p:cNvSpPr/>
          <p:nvPr/>
        </p:nvSpPr>
        <p:spPr>
          <a:xfrm>
            <a:off x="6610350" y="1708150"/>
            <a:ext cx="4762450" cy="1866875"/>
          </a:xfrm>
          <a:prstGeom prst="roundRect">
            <a:avLst>
              <a:gd name="adj" fmla="val 5102"/>
            </a:avLst>
          </a:prstGeom>
          <a:solidFill>
            <a:srgbClr val="FDFCF8"/>
          </a:solidFill>
          <a:ln w="12700">
            <a:solidFill>
              <a:srgbClr val="D5D1C4"/>
            </a:solidFill>
            <a:prstDash val="solid"/>
          </a:ln>
        </p:spPr>
      </p:sp>
      <p:sp>
        <p:nvSpPr>
          <p:cNvPr id="8" name="Text 6"/>
          <p:cNvSpPr/>
          <p:nvPr/>
        </p:nvSpPr>
        <p:spPr>
          <a:xfrm>
            <a:off x="6793694" y="1866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YOU OPEN, IN ORDER</a:t>
            </a:r>
            <a:endParaRPr lang="en-US" sz="1200" dirty="0"/>
          </a:p>
        </p:txBody>
      </p:sp>
      <p:sp>
        <p:nvSpPr>
          <p:cNvPr id="9" name="Text 7"/>
          <p:cNvSpPr/>
          <p:nvPr/>
        </p:nvSpPr>
        <p:spPr>
          <a:xfrm>
            <a:off x="6793694" y="2155577"/>
            <a:ext cx="4527636" cy="817724"/>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A1F2B"/>
                </a:solidFill>
                <a:latin typeface="JetBrains Mono" pitchFamily="49" charset="0"/>
                <a:ea typeface="JetBrains Mono" pitchFamily="49" charset="-122"/>
                <a:cs typeface="JetBrains Mono" pitchFamily="49" charset="-120"/>
              </a:rPr>
              <a:t>/products</a:t>
            </a:r>
            <a:endParaRPr lang="en-US" sz="1300" dirty="0"/>
          </a:p>
          <a:p>
            <a:pPr algn="l" indent="0" marL="0">
              <a:lnSpc>
                <a:spcPts val="2080"/>
              </a:lnSpc>
              <a:buNone/>
            </a:pPr>
            <a:r>
              <a:rPr lang="en-US" sz="1300" dirty="0">
                <a:solidFill>
                  <a:srgbClr val="1A1F2B"/>
                </a:solidFill>
                <a:latin typeface="JetBrains Mono" pitchFamily="49" charset="0"/>
                <a:ea typeface="JetBrains Mono" pitchFamily="49" charset="-122"/>
                <a:cs typeface="JetBrains Mono" pitchFamily="49" charset="-120"/>
              </a:rPr>
              <a:t>/products/5</a:t>
            </a:r>
            <a:endParaRPr lang="en-US" sz="1300" dirty="0"/>
          </a:p>
          <a:p>
            <a:pPr algn="l" indent="0" marL="0">
              <a:lnSpc>
                <a:spcPts val="2080"/>
              </a:lnSpc>
              <a:buNone/>
            </a:pPr>
            <a:r>
              <a:rPr lang="en-US" sz="1300" dirty="0">
                <a:solidFill>
                  <a:srgbClr val="1A1F2B"/>
                </a:solidFill>
                <a:latin typeface="JetBrains Mono" pitchFamily="49" charset="0"/>
                <a:ea typeface="JetBrains Mono" pitchFamily="49" charset="-122"/>
                <a:cs typeface="JetBrains Mono" pitchFamily="49" charset="-120"/>
              </a:rPr>
              <a:t>/nope </a:t>
            </a:r>
            <a:r>
              <a:rPr lang="en-US" sz="1300" dirty="0">
                <a:solidFill>
                  <a:srgbClr val="B5462A"/>
                </a:solidFill>
                <a:latin typeface="JetBrains Mono" pitchFamily="49" charset="0"/>
                <a:ea typeface="JetBrains Mono" pitchFamily="49" charset="-122"/>
                <a:cs typeface="JetBrains Mono" pitchFamily="49" charset="-120"/>
              </a:rPr>
              <a:t>(404)</a:t>
            </a:r>
            <a:endParaRPr lang="en-US" sz="1300" dirty="0"/>
          </a:p>
        </p:txBody>
      </p:sp>
      <p:sp>
        <p:nvSpPr>
          <p:cNvPr id="10" name="Shape 8"/>
          <p:cNvSpPr/>
          <p:nvPr/>
        </p:nvSpPr>
        <p:spPr>
          <a:xfrm>
            <a:off x="6604000" y="3733800"/>
            <a:ext cx="4775150" cy="2311363"/>
          </a:xfrm>
          <a:prstGeom prst="roundRect">
            <a:avLst>
              <a:gd name="adj" fmla="val 4396"/>
            </a:avLst>
          </a:prstGeom>
          <a:solidFill>
            <a:srgbClr val="0E1117"/>
          </a:solidFill>
          <a:ln/>
        </p:spPr>
      </p:sp>
      <p:sp>
        <p:nvSpPr>
          <p:cNvPr id="11" name="Text 9"/>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2" name="Text 10"/>
          <p:cNvSpPr/>
          <p:nvPr/>
        </p:nvSpPr>
        <p:spPr>
          <a:xfrm>
            <a:off x="6781788" y="4175671"/>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2026-10-26T05:12:01.118Z GET /products</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2026-10-26T05:12:05.430Z GET /products/5</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2026-10-26T05:12:09.902Z GET /nope</a:t>
            </a:r>
            <a:endParaRPr lang="en-US" sz="1200" dirty="0"/>
          </a:p>
        </p:txBody>
      </p:sp>
      <p:sp>
        <p:nvSpPr>
          <p:cNvPr id="13" name="Text 11"/>
          <p:cNvSpPr/>
          <p:nvPr/>
        </p:nvSpPr>
        <p:spPr>
          <a:xfrm>
            <a:off x="6781788" y="4937745"/>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15E"/>
                </a:solidFill>
                <a:latin typeface="Space Grotesk" pitchFamily="34" charset="0"/>
                <a:ea typeface="Space Grotesk" pitchFamily="34" charset="-122"/>
                <a:cs typeface="Space Grotesk" pitchFamily="34" charset="-120"/>
              </a:rPr>
              <a:t>Even /nope is logged: the logger runs before Express knows no route matches.</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STEP 2 · FORGET NEXT()</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No next(), no answer: the browser waits forever</a:t>
            </a:r>
            <a:endParaRPr lang="en-US" sz="2800" dirty="0"/>
          </a:p>
        </p:txBody>
      </p:sp>
      <p:sp>
        <p:nvSpPr>
          <p:cNvPr id="4" name="Shape 2"/>
          <p:cNvSpPr/>
          <p:nvPr/>
        </p:nvSpPr>
        <p:spPr>
          <a:xfrm>
            <a:off x="812788" y="1696641"/>
            <a:ext cx="5588000" cy="3160117"/>
          </a:xfrm>
          <a:prstGeom prst="roundRect">
            <a:avLst>
              <a:gd name="adj" fmla="val 3215"/>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540409"/>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next)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(req.method, req.url);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 next(); ← forgotten</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=&gt;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(products)); </a:t>
            </a:r>
            <a:r>
              <a:rPr lang="en-US" sz="1200" dirty="0">
                <a:solidFill>
                  <a:srgbClr val="7F8796"/>
                </a:solidFill>
                <a:latin typeface="JetBrains Mono" pitchFamily="49" charset="0"/>
                <a:ea typeface="JetBrains Mono" pitchFamily="49" charset="-122"/>
                <a:cs typeface="JetBrains Mono" pitchFamily="49" charset="-120"/>
              </a:rPr>
              <a:t>// never reached</a:t>
            </a:r>
            <a:endParaRPr lang="en-US" sz="1200" dirty="0"/>
          </a:p>
          <a:p>
            <a:pPr algn="l" indent="0" marL="0">
              <a:lnSpc>
                <a:spcPts val="1800"/>
              </a:lnSpc>
              <a:buNone/>
            </a:pPr>
            <a:endParaRPr lang="en-US" sz="1200" dirty="0"/>
          </a:p>
          <a:p>
            <a:pPr algn="l" indent="0" marL="0">
              <a:lnSpc>
                <a:spcPts val="1800"/>
              </a:lnSpc>
              <a:buNone/>
            </a:pPr>
            <a:r>
              <a:rPr lang="en-US" sz="1200" dirty="0">
                <a:solidFill>
                  <a:srgbClr val="7BD88F"/>
                </a:solidFill>
                <a:latin typeface="JetBrains Mono" pitchFamily="49" charset="0"/>
                <a:ea typeface="JetBrains Mono" pitchFamily="49" charset="-122"/>
                <a:cs typeface="JetBrains Mono" pitchFamily="49" charset="-120"/>
              </a:rPr>
              <a:t>// every middleware must do ONE of:</a:t>
            </a:r>
            <a:endParaRPr lang="en-US" sz="1200" dirty="0"/>
          </a:p>
          <a:p>
            <a:pPr algn="l" indent="0" marL="0">
              <a:lnSpc>
                <a:spcPts val="1800"/>
              </a:lnSpc>
              <a:buNone/>
            </a:pPr>
            <a:r>
              <a:rPr lang="en-US" sz="1200" dirty="0">
                <a:solidFill>
                  <a:srgbClr val="7BD88F"/>
                </a:solidFill>
                <a:latin typeface="JetBrains Mono" pitchFamily="49" charset="0"/>
                <a:ea typeface="JetBrains Mono" pitchFamily="49" charset="-122"/>
                <a:cs typeface="JetBrains Mono" pitchFamily="49" charset="-120"/>
              </a:rPr>
              <a:t>// next() → pass it on</a:t>
            </a:r>
            <a:endParaRPr lang="en-US" sz="1200" dirty="0"/>
          </a:p>
          <a:p>
            <a:pPr algn="l" indent="0" marL="0">
              <a:lnSpc>
                <a:spcPts val="1800"/>
              </a:lnSpc>
              <a:buNone/>
            </a:pPr>
            <a:r>
              <a:rPr lang="en-US" sz="1200" dirty="0">
                <a:solidFill>
                  <a:srgbClr val="7BD88F"/>
                </a:solidFill>
                <a:latin typeface="JetBrains Mono" pitchFamily="49" charset="0"/>
                <a:ea typeface="JetBrains Mono" pitchFamily="49" charset="-122"/>
                <a:cs typeface="JetBrains Mono" pitchFamily="49" charset="-120"/>
              </a:rPr>
              <a:t>// res.send(...) → answer it</a:t>
            </a:r>
            <a:endParaRPr lang="en-US" sz="1200" dirty="0"/>
          </a:p>
        </p:txBody>
      </p:sp>
      <p:pic>
        <p:nvPicPr>
          <p:cNvPr id="7" name="Image 0" descr="web embed">    </p:cNvPr>
          <p:cNvPicPr>
            <a:picLocks noChangeAspect="1"/>
          </p:cNvPicPr>
          <p:nvPr/>
        </p:nvPicPr>
        <p:blipFill>
          <a:blip r:embed="rId1"/>
          <a:srcRect l="0" r="0" t="0" b="0"/>
          <a:stretch/>
        </p:blipFill>
        <p:spPr>
          <a:xfrm>
            <a:off x="6604000" y="1701800"/>
            <a:ext cx="4775150" cy="1879575"/>
          </a:xfrm>
          <a:prstGeom prst="rect">
            <a:avLst/>
          </a:prstGeom>
        </p:spPr>
      </p:pic>
      <p:sp>
        <p:nvSpPr>
          <p:cNvPr id="8" name="Shape 5"/>
          <p:cNvSpPr/>
          <p:nvPr/>
        </p:nvSpPr>
        <p:spPr>
          <a:xfrm>
            <a:off x="6604000" y="3733800"/>
            <a:ext cx="4775150" cy="2311363"/>
          </a:xfrm>
          <a:prstGeom prst="roundRect">
            <a:avLst>
              <a:gd name="adj" fmla="val 4396"/>
            </a:avLst>
          </a:prstGeom>
          <a:solidFill>
            <a:srgbClr val="0E1117"/>
          </a:solidFill>
          <a:ln/>
        </p:spPr>
      </p:sp>
      <p:sp>
        <p:nvSpPr>
          <p:cNvPr id="9" name="Text 6"/>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0" name="Text 7"/>
          <p:cNvSpPr/>
          <p:nvPr/>
        </p:nvSpPr>
        <p:spPr>
          <a:xfrm>
            <a:off x="6781788" y="4175671"/>
            <a:ext cx="4552162" cy="25403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GET /products</a:t>
            </a:r>
            <a:endParaRPr lang="en-US" sz="1200" dirty="0"/>
          </a:p>
        </p:txBody>
      </p:sp>
      <p:sp>
        <p:nvSpPr>
          <p:cNvPr id="11" name="Text 8"/>
          <p:cNvSpPr/>
          <p:nvPr/>
        </p:nvSpPr>
        <p:spPr>
          <a:xfrm>
            <a:off x="6781788" y="4480471"/>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No error, no crash. Just silence. That is what makes this bug hard to spot.</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STEP 3 · ORDER MATTERS</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Registered after the route? Too late.</a:t>
            </a:r>
            <a:endParaRPr lang="en-US" sz="2800" dirty="0"/>
          </a:p>
        </p:txBody>
      </p:sp>
      <p:sp>
        <p:nvSpPr>
          <p:cNvPr id="4" name="Shape 2"/>
          <p:cNvSpPr/>
          <p:nvPr/>
        </p:nvSpPr>
        <p:spPr>
          <a:xfrm>
            <a:off x="812788" y="1696641"/>
            <a:ext cx="5588000" cy="2474206"/>
          </a:xfrm>
          <a:prstGeom prst="roundRect">
            <a:avLst>
              <a:gd name="adj" fmla="val 4106"/>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185449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=&gt;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(products));</a:t>
            </a:r>
            <a:endParaRPr lang="en-US" sz="1200" dirty="0"/>
          </a:p>
          <a:p>
            <a:pPr algn="l" indent="0" marL="0">
              <a:lnSpc>
                <a:spcPts val="1800"/>
              </a:lnSpc>
              <a:buNone/>
            </a:pPr>
            <a:endParaRPr lang="en-US" sz="1200" dirty="0"/>
          </a:p>
          <a:p>
            <a:pPr algn="l" indent="0" marL="0">
              <a:lnSpc>
                <a:spcPts val="1800"/>
              </a:lnSpc>
              <a:buNone/>
            </a:pPr>
            <a:r>
              <a:rPr lang="en-US" sz="1200" dirty="0">
                <a:solidFill>
                  <a:srgbClr val="F0A15E"/>
                </a:solidFill>
                <a:latin typeface="JetBrains Mono" pitchFamily="49" charset="0"/>
                <a:ea typeface="JetBrains Mono" pitchFamily="49" charset="-122"/>
                <a:cs typeface="JetBrains Mono" pitchFamily="49" charset="-120"/>
              </a:rPr>
              <a:t>// logger registered AFTER the route</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next)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(req.method, req.url);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50"/>
            <a:ext cx="4762450" cy="1866875"/>
          </a:xfrm>
          <a:prstGeom prst="roundRect">
            <a:avLst>
              <a:gd name="adj" fmla="val 5102"/>
            </a:avLst>
          </a:prstGeom>
          <a:solidFill>
            <a:srgbClr val="FDFCF8"/>
          </a:solidFill>
          <a:ln w="12700">
            <a:solidFill>
              <a:srgbClr val="D5D1C4"/>
            </a:solidFill>
            <a:prstDash val="solid"/>
          </a:ln>
        </p:spPr>
      </p:sp>
      <p:sp>
        <p:nvSpPr>
          <p:cNvPr id="8" name="Text 6"/>
          <p:cNvSpPr/>
          <p:nvPr/>
        </p:nvSpPr>
        <p:spPr>
          <a:xfrm>
            <a:off x="6793694" y="1866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YOU OPEN</a:t>
            </a:r>
            <a:endParaRPr lang="en-US" sz="1200" dirty="0"/>
          </a:p>
        </p:txBody>
      </p:sp>
      <p:sp>
        <p:nvSpPr>
          <p:cNvPr id="9" name="Text 7"/>
          <p:cNvSpPr/>
          <p:nvPr/>
        </p:nvSpPr>
        <p:spPr>
          <a:xfrm>
            <a:off x="6793694" y="2155577"/>
            <a:ext cx="4527636" cy="520626"/>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A1F2B"/>
                </a:solidFill>
                <a:latin typeface="JetBrains Mono" pitchFamily="49" charset="0"/>
                <a:ea typeface="JetBrains Mono" pitchFamily="49" charset="-122"/>
                <a:cs typeface="JetBrains Mono" pitchFamily="49" charset="-120"/>
              </a:rPr>
              <a:t>/products → list shown</a:t>
            </a:r>
            <a:endParaRPr lang="en-US" sz="1300" dirty="0"/>
          </a:p>
          <a:p>
            <a:pPr algn="l" indent="0" marL="0">
              <a:lnSpc>
                <a:spcPts val="1950"/>
              </a:lnSpc>
              <a:buNone/>
            </a:pPr>
            <a:r>
              <a:rPr lang="en-US" sz="1300" dirty="0">
                <a:solidFill>
                  <a:srgbClr val="1A1F2B"/>
                </a:solidFill>
                <a:latin typeface="JetBrains Mono" pitchFamily="49" charset="0"/>
                <a:ea typeface="JetBrains Mono" pitchFamily="49" charset="-122"/>
                <a:cs typeface="JetBrains Mono" pitchFamily="49" charset="-120"/>
              </a:rPr>
              <a:t>/nope → 404</a:t>
            </a:r>
            <a:endParaRPr lang="en-US" sz="1300" dirty="0"/>
          </a:p>
        </p:txBody>
      </p:sp>
      <p:sp>
        <p:nvSpPr>
          <p:cNvPr id="10" name="Text 8"/>
          <p:cNvSpPr/>
          <p:nvPr/>
        </p:nvSpPr>
        <p:spPr>
          <a:xfrm>
            <a:off x="6793694" y="2726978"/>
            <a:ext cx="4527636"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Express walks the list top to bottom and stops at the first function that answers.</a:t>
            </a:r>
            <a:endParaRPr lang="en-US" sz="1200" dirty="0"/>
          </a:p>
        </p:txBody>
      </p:sp>
      <p:sp>
        <p:nvSpPr>
          <p:cNvPr id="11" name="Shape 9"/>
          <p:cNvSpPr/>
          <p:nvPr/>
        </p:nvSpPr>
        <p:spPr>
          <a:xfrm>
            <a:off x="6604000" y="3733800"/>
            <a:ext cx="4775150" cy="2311363"/>
          </a:xfrm>
          <a:prstGeom prst="roundRect">
            <a:avLst>
              <a:gd name="adj" fmla="val 4396"/>
            </a:avLst>
          </a:prstGeom>
          <a:solidFill>
            <a:srgbClr val="0E1117"/>
          </a:solidFill>
          <a:ln/>
        </p:spPr>
      </p:sp>
      <p:sp>
        <p:nvSpPr>
          <p:cNvPr id="12" name="Text 10"/>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3" name="Text 11"/>
          <p:cNvSpPr/>
          <p:nvPr/>
        </p:nvSpPr>
        <p:spPr>
          <a:xfrm>
            <a:off x="6781788" y="4175671"/>
            <a:ext cx="4552162" cy="25403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GET /nope</a:t>
            </a:r>
            <a:endParaRPr lang="en-US" sz="1200" dirty="0"/>
          </a:p>
        </p:txBody>
      </p:sp>
      <p:sp>
        <p:nvSpPr>
          <p:cNvPr id="14" name="Text 12"/>
          <p:cNvSpPr/>
          <p:nvPr/>
        </p:nvSpPr>
        <p:spPr>
          <a:xfrm>
            <a:off x="6781788" y="4480471"/>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15E"/>
                </a:solidFill>
                <a:latin typeface="Space Grotesk" pitchFamily="34" charset="0"/>
                <a:ea typeface="Space Grotesk" pitchFamily="34" charset="-122"/>
                <a:cs typeface="Space Grotesk" pitchFamily="34" charset="-120"/>
              </a:rPr>
              <a:t>/products is missing: the route answered first. /nope reached the logger only because no route matched it.</a:t>
            </a:r>
            <a:endParaRPr lang="en-US" sz="1200" dirty="0"/>
          </a:p>
        </p:txBody>
      </p:sp>
      <p:sp>
        <p:nvSpPr>
          <p:cNvPr id="15" name="Text 13"/>
          <p:cNvSpPr/>
          <p:nvPr/>
        </p:nvSpPr>
        <p:spPr>
          <a:xfrm>
            <a:off x="812788" y="4572000"/>
            <a:ext cx="5755640" cy="558701"/>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1F2B"/>
                </a:solidFill>
                <a:latin typeface="Space Grotesk" pitchFamily="34" charset="0"/>
                <a:ea typeface="Space Grotesk" pitchFamily="34" charset="-122"/>
                <a:cs typeface="Space Grotesk" pitchFamily="34" charset="-120"/>
              </a:rPr>
              <a:t>Rule: things that should run for everything go at the top. 404 and error handlers go at the bottom.</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STEP 4 · ADD THINGS TO REQ</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Middleware can leave notes for the route</a:t>
            </a:r>
            <a:endParaRPr lang="en-US" sz="2800" dirty="0"/>
          </a:p>
        </p:txBody>
      </p:sp>
      <p:sp>
        <p:nvSpPr>
          <p:cNvPr id="4" name="Shape 2"/>
          <p:cNvSpPr/>
          <p:nvPr/>
        </p:nvSpPr>
        <p:spPr>
          <a:xfrm>
            <a:off x="812788" y="1696641"/>
            <a:ext cx="5588000" cy="4059225"/>
          </a:xfrm>
          <a:prstGeom prst="roundRect">
            <a:avLst>
              <a:gd name="adj" fmla="val 2503"/>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3439517"/>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next)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BD88F"/>
                </a:solidFill>
                <a:latin typeface="JetBrains Mono" pitchFamily="49" charset="0"/>
                <a:ea typeface="JetBrains Mono" pitchFamily="49" charset="-122"/>
                <a:cs typeface="JetBrains Mono" pitchFamily="49" charset="-120"/>
              </a:rPr>
              <a:t>req.requestTime</a:t>
            </a:r>
            <a:r>
              <a:rPr lang="en-US" sz="1200" dirty="0">
                <a:solidFill>
                  <a:srgbClr val="E6E1D6"/>
                </a:solidFill>
                <a:latin typeface="JetBrains Mono" pitchFamily="49" charset="0"/>
                <a:ea typeface="JetBrains Mono" pitchFamily="49" charset="-122"/>
                <a:cs typeface="JetBrains Mono" pitchFamily="49" charset="-120"/>
              </a:rPr>
              <a:t> = Date.</a:t>
            </a:r>
            <a:r>
              <a:rPr lang="en-US" sz="1200" dirty="0">
                <a:solidFill>
                  <a:srgbClr val="82AAFF"/>
                </a:solidFill>
                <a:latin typeface="JetBrains Mono" pitchFamily="49" charset="0"/>
                <a:ea typeface="JetBrains Mono" pitchFamily="49" charset="-122"/>
                <a:cs typeface="JetBrains Mono" pitchFamily="49" charset="-120"/>
              </a:rPr>
              <a:t>now</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next)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BD88F"/>
                </a:solidFill>
                <a:latin typeface="JetBrains Mono" pitchFamily="49" charset="0"/>
                <a:ea typeface="JetBrains Mono" pitchFamily="49" charset="-122"/>
                <a:cs typeface="JetBrains Mono" pitchFamily="49" charset="-120"/>
              </a:rPr>
              <a:t>res.locals.store</a:t>
            </a:r>
            <a:r>
              <a:rPr lang="en-US" sz="1200" dirty="0">
                <a:solidFill>
                  <a:srgbClr val="E6E1D6"/>
                </a:solidFill>
                <a:latin typeface="JetBrains Mono" pitchFamily="49" charset="0"/>
                <a:ea typeface="JetBrains Mono" pitchFamily="49" charset="-122"/>
                <a:cs typeface="JetBrains Mono" pitchFamily="49" charset="-120"/>
              </a:rPr>
              <a:t> = </a:t>
            </a:r>
            <a:r>
              <a:rPr lang="en-US" sz="1200" dirty="0">
                <a:solidFill>
                  <a:srgbClr val="C3E88D"/>
                </a:solidFill>
                <a:latin typeface="JetBrains Mono" pitchFamily="49" charset="0"/>
                <a:ea typeface="JetBrains Mono" pitchFamily="49" charset="-122"/>
                <a:cs typeface="JetBrains Mono" pitchFamily="49" charset="-120"/>
              </a:rPr>
              <a:t>'Fake Store'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title: </a:t>
            </a:r>
            <a:r>
              <a:rPr lang="en-US" sz="1200" dirty="0">
                <a:solidFill>
                  <a:srgbClr val="82AAFF"/>
                </a:solidFill>
                <a:latin typeface="JetBrains Mono" pitchFamily="49" charset="0"/>
                <a:ea typeface="JetBrains Mono" pitchFamily="49" charset="-122"/>
                <a:cs typeface="JetBrains Mono" pitchFamily="49" charset="-120"/>
              </a:rPr>
              <a:t>findProduct</a:t>
            </a:r>
            <a:r>
              <a:rPr lang="en-US" sz="1200" dirty="0">
                <a:solidFill>
                  <a:srgbClr val="E6E1D6"/>
                </a:solidFill>
                <a:latin typeface="JetBrains Mono" pitchFamily="49" charset="0"/>
                <a:ea typeface="JetBrains Mono" pitchFamily="49" charset="-122"/>
                <a:cs typeface="JetBrains Mono" pitchFamily="49" charset="-120"/>
              </a:rPr>
              <a:t>(req.params.id).title,</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store: </a:t>
            </a:r>
            <a:r>
              <a:rPr lang="en-US" sz="1200" dirty="0">
                <a:solidFill>
                  <a:srgbClr val="7BD88F"/>
                </a:solidFill>
                <a:latin typeface="JetBrains Mono" pitchFamily="49" charset="0"/>
                <a:ea typeface="JetBrains Mono" pitchFamily="49" charset="-122"/>
                <a:cs typeface="JetBrains Mono" pitchFamily="49" charset="-120"/>
              </a:rPr>
              <a:t>res.locals.store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tookMs: Date.</a:t>
            </a:r>
            <a:r>
              <a:rPr lang="en-US" sz="1200" dirty="0">
                <a:solidFill>
                  <a:srgbClr val="82AAFF"/>
                </a:solidFill>
                <a:latin typeface="JetBrains Mono" pitchFamily="49" charset="0"/>
                <a:ea typeface="JetBrains Mono" pitchFamily="49" charset="-122"/>
                <a:cs typeface="JetBrains Mono" pitchFamily="49" charset="-120"/>
              </a:rPr>
              <a:t>now</a:t>
            </a:r>
            <a:r>
              <a:rPr lang="en-US" sz="1200" dirty="0">
                <a:solidFill>
                  <a:srgbClr val="E6E1D6"/>
                </a:solidFill>
                <a:latin typeface="JetBrains Mono" pitchFamily="49" charset="0"/>
                <a:ea typeface="JetBrains Mono" pitchFamily="49" charset="-122"/>
                <a:cs typeface="JetBrains Mono" pitchFamily="49" charset="-120"/>
              </a:rPr>
              <a:t>() - </a:t>
            </a:r>
            <a:r>
              <a:rPr lang="en-US" sz="1200" dirty="0">
                <a:solidFill>
                  <a:srgbClr val="7BD88F"/>
                </a:solidFill>
                <a:latin typeface="JetBrains Mono" pitchFamily="49" charset="0"/>
                <a:ea typeface="JetBrains Mono" pitchFamily="49" charset="-122"/>
                <a:cs typeface="JetBrains Mono" pitchFamily="49" charset="-120"/>
              </a:rPr>
              <a:t>req.requestTime</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50"/>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706"/>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localhost:11000/products/3</a:t>
            </a:r>
            <a:endParaRPr lang="en-US" sz="1200" dirty="0"/>
          </a:p>
        </p:txBody>
      </p:sp>
      <p:sp>
        <p:nvSpPr>
          <p:cNvPr id="13" name="Text 11"/>
          <p:cNvSpPr/>
          <p:nvPr/>
        </p:nvSpPr>
        <p:spPr>
          <a:xfrm>
            <a:off x="6819057" y="2307878"/>
            <a:ext cx="4475388" cy="768238"/>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A1F2B"/>
                </a:solidFill>
                <a:latin typeface="JetBrains Mono" pitchFamily="49" charset="0"/>
                <a:ea typeface="JetBrains Mono" pitchFamily="49" charset="-122"/>
                <a:cs typeface="JetBrains Mono" pitchFamily="49" charset="-120"/>
              </a:rPr>
              <a:t>{"title":"Mens Cotton Jacket",</a:t>
            </a:r>
            <a:endParaRPr lang="en-US" sz="1300" dirty="0"/>
          </a:p>
          <a:p>
            <a:pPr algn="l" indent="0" marL="0">
              <a:lnSpc>
                <a:spcPts val="1950"/>
              </a:lnSpc>
              <a:buNone/>
            </a:pPr>
            <a:r>
              <a:rPr lang="en-US" sz="1300" dirty="0">
                <a:solidFill>
                  <a:srgbClr val="1A1F2B"/>
                </a:solidFill>
                <a:latin typeface="JetBrains Mono" pitchFamily="49" charset="0"/>
                <a:ea typeface="JetBrains Mono" pitchFamily="49" charset="-122"/>
                <a:cs typeface="JetBrains Mono" pitchFamily="49" charset="-120"/>
              </a:rPr>
              <a:t> "store":"Fake Store",</a:t>
            </a:r>
            <a:endParaRPr lang="en-US" sz="1300" dirty="0"/>
          </a:p>
          <a:p>
            <a:pPr algn="l" indent="0" marL="0">
              <a:lnSpc>
                <a:spcPts val="1950"/>
              </a:lnSpc>
              <a:buNone/>
            </a:pPr>
            <a:r>
              <a:rPr lang="en-US" sz="1300" dirty="0">
                <a:solidFill>
                  <a:srgbClr val="1A1F2B"/>
                </a:solidFill>
                <a:latin typeface="JetBrains Mono" pitchFamily="49" charset="0"/>
                <a:ea typeface="JetBrains Mono" pitchFamily="49" charset="-122"/>
                <a:cs typeface="JetBrains Mono" pitchFamily="49" charset="-120"/>
              </a:rPr>
              <a:t> "tookMs":1}</a:t>
            </a:r>
            <a:endParaRPr lang="en-US" sz="1300" dirty="0"/>
          </a:p>
        </p:txBody>
      </p:sp>
      <p:sp>
        <p:nvSpPr>
          <p:cNvPr id="14" name="Shape 12"/>
          <p:cNvSpPr/>
          <p:nvPr/>
        </p:nvSpPr>
        <p:spPr>
          <a:xfrm>
            <a:off x="6604000" y="3733800"/>
            <a:ext cx="4775150" cy="2311363"/>
          </a:xfrm>
          <a:prstGeom prst="roundRect">
            <a:avLst>
              <a:gd name="adj" fmla="val 4396"/>
            </a:avLst>
          </a:prstGeom>
          <a:solidFill>
            <a:srgbClr val="12161D"/>
          </a:solidFill>
          <a:ln/>
        </p:spPr>
      </p:sp>
      <p:sp>
        <p:nvSpPr>
          <p:cNvPr id="15" name="Text 13"/>
          <p:cNvSpPr/>
          <p:nvPr/>
        </p:nvSpPr>
        <p:spPr>
          <a:xfrm>
            <a:off x="6807150" y="3911575"/>
            <a:ext cx="4499915"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BD88F"/>
                </a:solidFill>
                <a:latin typeface="Space Grotesk" pitchFamily="34" charset="0"/>
                <a:ea typeface="Space Grotesk" pitchFamily="34" charset="-122"/>
                <a:cs typeface="Space Grotesk" pitchFamily="34" charset="-120"/>
              </a:rPr>
              <a:t>YOU’VE SEEN THIS BEFORE</a:t>
            </a:r>
            <a:endParaRPr lang="en-US" sz="1200" dirty="0"/>
          </a:p>
        </p:txBody>
      </p:sp>
      <p:sp>
        <p:nvSpPr>
          <p:cNvPr id="16" name="Text 14"/>
          <p:cNvSpPr/>
          <p:nvPr/>
        </p:nvSpPr>
        <p:spPr>
          <a:xfrm>
            <a:off x="6807150" y="4213820"/>
            <a:ext cx="4499915" cy="26470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6E1D6"/>
                </a:solidFill>
                <a:latin typeface="Space Grotesk" pitchFamily="34" charset="0"/>
                <a:ea typeface="Space Grotesk" pitchFamily="34" charset="-122"/>
                <a:cs typeface="Space Grotesk" pitchFamily="34" charset="-120"/>
              </a:rPr>
              <a:t>express.json() is a middleware that fills </a:t>
            </a:r>
            <a:r>
              <a:rPr lang="en-US" sz="1300" b="1" dirty="0">
                <a:solidFill>
                  <a:srgbClr val="E6E1D6"/>
                </a:solidFill>
                <a:latin typeface="Space Grotesk" pitchFamily="34" charset="0"/>
                <a:ea typeface="Space Grotesk" pitchFamily="34" charset="-122"/>
                <a:cs typeface="Space Grotesk" pitchFamily="34" charset="-120"/>
              </a:rPr>
              <a:t>req.body</a:t>
            </a:r>
            <a:r>
              <a:rPr lang="en-US" sz="1300" dirty="0">
                <a:solidFill>
                  <a:srgbClr val="E6E1D6"/>
                </a:solidFill>
                <a:latin typeface="Space Grotesk" pitchFamily="34" charset="0"/>
                <a:ea typeface="Space Grotesk" pitchFamily="34" charset="-122"/>
                <a:cs typeface="Space Grotesk" pitchFamily="34" charset="-120"/>
              </a:rPr>
              <a:t>.</a:t>
            </a:r>
            <a:endParaRPr lang="en-US" sz="1300" dirty="0"/>
          </a:p>
        </p:txBody>
      </p:sp>
      <p:sp>
        <p:nvSpPr>
          <p:cNvPr id="17" name="Text 15"/>
          <p:cNvSpPr/>
          <p:nvPr/>
        </p:nvSpPr>
        <p:spPr>
          <a:xfrm>
            <a:off x="6807150" y="4541986"/>
            <a:ext cx="4499915" cy="50400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6E1D6"/>
                </a:solidFill>
                <a:latin typeface="Space Grotesk" pitchFamily="34" charset="0"/>
                <a:ea typeface="Space Grotesk" pitchFamily="34" charset="-122"/>
                <a:cs typeface="Space Grotesk" pitchFamily="34" charset="-120"/>
              </a:rPr>
              <a:t>cookie-parser fills </a:t>
            </a:r>
            <a:r>
              <a:rPr lang="en-US" sz="1300" b="1" dirty="0">
                <a:solidFill>
                  <a:srgbClr val="E6E1D6"/>
                </a:solidFill>
                <a:latin typeface="Space Grotesk" pitchFamily="34" charset="0"/>
                <a:ea typeface="Space Grotesk" pitchFamily="34" charset="-122"/>
                <a:cs typeface="Space Grotesk" pitchFamily="34" charset="-120"/>
              </a:rPr>
              <a:t>req.cookies</a:t>
            </a:r>
            <a:r>
              <a:rPr lang="en-US" sz="1300" dirty="0">
                <a:solidFill>
                  <a:srgbClr val="E6E1D6"/>
                </a:solidFill>
                <a:latin typeface="Space Grotesk" pitchFamily="34" charset="0"/>
                <a:ea typeface="Space Grotesk" pitchFamily="34" charset="-122"/>
                <a:cs typeface="Space Grotesk" pitchFamily="34" charset="-120"/>
              </a:rPr>
              <a:t>. An auth check can fill </a:t>
            </a:r>
            <a:r>
              <a:rPr lang="en-US" sz="1300" b="1" dirty="0">
                <a:solidFill>
                  <a:srgbClr val="E6E1D6"/>
                </a:solidFill>
                <a:latin typeface="Space Grotesk" pitchFamily="34" charset="0"/>
                <a:ea typeface="Space Grotesk" pitchFamily="34" charset="-122"/>
                <a:cs typeface="Space Grotesk" pitchFamily="34" charset="-120"/>
              </a:rPr>
              <a:t>req.user</a:t>
            </a:r>
            <a:r>
              <a:rPr lang="en-US" sz="1300" dirty="0">
                <a:solidFill>
                  <a:srgbClr val="E6E1D6"/>
                </a:solidFill>
                <a:latin typeface="Space Grotesk" pitchFamily="34" charset="0"/>
                <a:ea typeface="Space Grotesk" pitchFamily="34" charset="-122"/>
                <a:cs typeface="Space Grotesk" pitchFamily="34" charset="-120"/>
              </a:rPr>
              <a:t>.</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STEP 5 · THE FIX · MIDDLEWARE1, DONE PROPERLY</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40 copies become 2 lines</a:t>
            </a:r>
            <a:endParaRPr lang="en-US" sz="2800" dirty="0"/>
          </a:p>
        </p:txBody>
      </p:sp>
      <p:sp>
        <p:nvSpPr>
          <p:cNvPr id="4" name="Shape 2"/>
          <p:cNvSpPr/>
          <p:nvPr/>
        </p:nvSpPr>
        <p:spPr>
          <a:xfrm>
            <a:off x="812788" y="1696641"/>
            <a:ext cx="5588000" cy="3739245"/>
          </a:xfrm>
          <a:prstGeom prst="roundRect">
            <a:avLst>
              <a:gd name="adj" fmla="val 2717"/>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3119537"/>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checkLogin</a:t>
            </a:r>
            <a:r>
              <a:rPr lang="en-US" sz="1200" dirty="0">
                <a:solidFill>
                  <a:srgbClr val="E6E1D6"/>
                </a:solidFill>
                <a:latin typeface="JetBrains Mono" pitchFamily="49" charset="0"/>
                <a:ea typeface="JetBrains Mono" pitchFamily="49" charset="-122"/>
                <a:cs typeface="JetBrains Mono" pitchFamily="49" charset="-120"/>
              </a:rPr>
              <a:t> = (req, res, next) =&gt;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(req.query.token === </a:t>
            </a:r>
            <a:r>
              <a:rPr lang="en-US" sz="1200" dirty="0">
                <a:solidFill>
                  <a:srgbClr val="C3E88D"/>
                </a:solidFill>
                <a:latin typeface="JetBrains Mono" pitchFamily="49" charset="0"/>
                <a:ea typeface="JetBrains Mono" pitchFamily="49" charset="-122"/>
                <a:cs typeface="JetBrains Mono" pitchFamily="49" charset="-120"/>
              </a:rPr>
              <a:t>'abc123'</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 has loggedIN......"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return</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401</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"Kindly Login"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7BD88F"/>
                </a:solidFill>
                <a:latin typeface="JetBrains Mono" pitchFamily="49" charset="0"/>
                <a:ea typeface="JetBrains Mono" pitchFamily="49" charset="-122"/>
                <a:cs typeface="JetBrains Mono" pitchFamily="49" charset="-120"/>
              </a:rPr>
              <a:t>server.use(logger);</a:t>
            </a:r>
            <a:endParaRPr lang="en-US" sz="1200" dirty="0"/>
          </a:p>
          <a:p>
            <a:pPr algn="l" indent="0" marL="0">
              <a:lnSpc>
                <a:spcPts val="1740"/>
              </a:lnSpc>
              <a:buNone/>
            </a:pPr>
            <a:r>
              <a:rPr lang="en-US" sz="1200" dirty="0">
                <a:solidFill>
                  <a:srgbClr val="7BD88F"/>
                </a:solidFill>
                <a:latin typeface="JetBrains Mono" pitchFamily="49" charset="0"/>
                <a:ea typeface="JetBrains Mono" pitchFamily="49" charset="-122"/>
                <a:cs typeface="JetBrains Mono" pitchFamily="49" charset="-120"/>
              </a:rPr>
              <a:t>server.use(checkLogin);</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listAll);</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getOne);</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post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addOne);</a:t>
            </a:r>
            <a:endParaRPr lang="en-US" sz="1200" dirty="0"/>
          </a:p>
        </p:txBody>
      </p:sp>
      <p:sp>
        <p:nvSpPr>
          <p:cNvPr id="7" name="Shape 5"/>
          <p:cNvSpPr/>
          <p:nvPr/>
        </p:nvSpPr>
        <p:spPr>
          <a:xfrm>
            <a:off x="6610350" y="1708150"/>
            <a:ext cx="4762450" cy="1866875"/>
          </a:xfrm>
          <a:prstGeom prst="roundRect">
            <a:avLst>
              <a:gd name="adj" fmla="val 5102"/>
            </a:avLst>
          </a:prstGeom>
          <a:solidFill>
            <a:srgbClr val="FDFCF8"/>
          </a:solidFill>
          <a:ln w="12700">
            <a:solidFill>
              <a:srgbClr val="D5D1C4"/>
            </a:solidFill>
            <a:prstDash val="solid"/>
          </a:ln>
        </p:spPr>
      </p:sp>
      <p:sp>
        <p:nvSpPr>
          <p:cNvPr id="8" name="Text 6"/>
          <p:cNvSpPr/>
          <p:nvPr/>
        </p:nvSpPr>
        <p:spPr>
          <a:xfrm>
            <a:off x="6793694" y="1866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BROWSER</a:t>
            </a:r>
            <a:endParaRPr lang="en-US" sz="1200" dirty="0"/>
          </a:p>
        </p:txBody>
      </p:sp>
      <p:sp>
        <p:nvSpPr>
          <p:cNvPr id="9" name="Text 7"/>
          <p:cNvSpPr/>
          <p:nvPr/>
        </p:nvSpPr>
        <p:spPr>
          <a:xfrm>
            <a:off x="6793694" y="2168302"/>
            <a:ext cx="4527636"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/products</a:t>
            </a:r>
            <a:endParaRPr lang="en-US" sz="1200" dirty="0"/>
          </a:p>
        </p:txBody>
      </p:sp>
      <p:sp>
        <p:nvSpPr>
          <p:cNvPr id="10" name="Text 8"/>
          <p:cNvSpPr/>
          <p:nvPr/>
        </p:nvSpPr>
        <p:spPr>
          <a:xfrm>
            <a:off x="6793694" y="2470547"/>
            <a:ext cx="4527636"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462A"/>
                </a:solidFill>
                <a:latin typeface="JetBrains Mono" pitchFamily="49" charset="0"/>
                <a:ea typeface="JetBrains Mono" pitchFamily="49" charset="-122"/>
                <a:cs typeface="JetBrains Mono" pitchFamily="49" charset="-120"/>
              </a:rPr>
              <a:t>401 · Kindly Login</a:t>
            </a:r>
            <a:endParaRPr lang="en-US" sz="1400" dirty="0"/>
          </a:p>
        </p:txBody>
      </p:sp>
      <p:sp>
        <p:nvSpPr>
          <p:cNvPr id="11" name="Text 9"/>
          <p:cNvSpPr/>
          <p:nvPr/>
        </p:nvSpPr>
        <p:spPr>
          <a:xfrm>
            <a:off x="6793694" y="2808263"/>
            <a:ext cx="4527636"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/products?token=abc123</a:t>
            </a:r>
            <a:endParaRPr lang="en-US" sz="1200" dirty="0"/>
          </a:p>
        </p:txBody>
      </p:sp>
      <p:sp>
        <p:nvSpPr>
          <p:cNvPr id="12" name="Text 10"/>
          <p:cNvSpPr/>
          <p:nvPr/>
        </p:nvSpPr>
        <p:spPr>
          <a:xfrm>
            <a:off x="6793694" y="3110508"/>
            <a:ext cx="4527636"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E7D4F"/>
                </a:solidFill>
                <a:latin typeface="JetBrains Mono" pitchFamily="49" charset="0"/>
                <a:ea typeface="JetBrains Mono" pitchFamily="49" charset="-122"/>
                <a:cs typeface="JetBrains Mono" pitchFamily="49" charset="-120"/>
              </a:rPr>
              <a:t>[{"id":1,"title":"Fjallraven…</a:t>
            </a:r>
            <a:endParaRPr lang="en-US" sz="1400" dirty="0"/>
          </a:p>
        </p:txBody>
      </p:sp>
      <p:sp>
        <p:nvSpPr>
          <p:cNvPr id="13" name="Shape 11"/>
          <p:cNvSpPr/>
          <p:nvPr/>
        </p:nvSpPr>
        <p:spPr>
          <a:xfrm>
            <a:off x="6604000" y="3733800"/>
            <a:ext cx="4775150" cy="2311363"/>
          </a:xfrm>
          <a:prstGeom prst="roundRect">
            <a:avLst>
              <a:gd name="adj" fmla="val 4396"/>
            </a:avLst>
          </a:prstGeom>
          <a:solidFill>
            <a:srgbClr val="0E1117"/>
          </a:solidFill>
          <a:ln/>
        </p:spPr>
      </p:sp>
      <p:sp>
        <p:nvSpPr>
          <p:cNvPr id="14" name="Text 12"/>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5" name="Text 13"/>
          <p:cNvSpPr/>
          <p:nvPr/>
        </p:nvSpPr>
        <p:spPr>
          <a:xfrm>
            <a:off x="6781788" y="4175671"/>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 GET /products</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 GET /products?token=abc123</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User has loggedIN......</a:t>
            </a:r>
            <a:endParaRPr lang="en-US" sz="1200" dirty="0"/>
          </a:p>
        </p:txBody>
      </p:sp>
      <p:sp>
        <p:nvSpPr>
          <p:cNvPr id="16" name="Text 14"/>
          <p:cNvSpPr/>
          <p:nvPr/>
        </p:nvSpPr>
        <p:spPr>
          <a:xfrm>
            <a:off x="6781788" y="4937745"/>
            <a:ext cx="4552162"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Change the token rule once; every route follows.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TYPE 1 · APPLICATION-LEVEL · WITH A MOUNT PATH</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app.use(path, fn) runs only under that path</a:t>
            </a:r>
            <a:endParaRPr lang="en-US" sz="2800" dirty="0"/>
          </a:p>
        </p:txBody>
      </p:sp>
      <p:sp>
        <p:nvSpPr>
          <p:cNvPr id="4" name="Shape 2"/>
          <p:cNvSpPr/>
          <p:nvPr/>
        </p:nvSpPr>
        <p:spPr>
          <a:xfrm>
            <a:off x="812788" y="1696641"/>
            <a:ext cx="5588000" cy="3160117"/>
          </a:xfrm>
          <a:prstGeom prst="roundRect">
            <a:avLst>
              <a:gd name="adj" fmla="val 3215"/>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 · from the Express guide</a:t>
            </a:r>
            <a:endParaRPr lang="en-US" sz="1200" dirty="0"/>
          </a:p>
        </p:txBody>
      </p:sp>
      <p:sp>
        <p:nvSpPr>
          <p:cNvPr id="6" name="Text 4"/>
          <p:cNvSpPr/>
          <p:nvPr/>
        </p:nvSpPr>
        <p:spPr>
          <a:xfrm>
            <a:off x="1015938" y="2163961"/>
            <a:ext cx="5337150" cy="2540409"/>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no path: every request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next)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'Time:'</a:t>
            </a:r>
            <a:r>
              <a:rPr lang="en-US" sz="1200" dirty="0">
                <a:solidFill>
                  <a:srgbClr val="E6E1D6"/>
                </a:solidFill>
                <a:latin typeface="JetBrains Mono" pitchFamily="49" charset="0"/>
                <a:ea typeface="JetBrains Mono" pitchFamily="49" charset="-122"/>
                <a:cs typeface="JetBrains Mono" pitchFamily="49" charset="-120"/>
              </a:rPr>
              <a:t>, Date.</a:t>
            </a:r>
            <a:r>
              <a:rPr lang="en-US" sz="1200" dirty="0">
                <a:solidFill>
                  <a:srgbClr val="82AAFF"/>
                </a:solidFill>
                <a:latin typeface="JetBrains Mono" pitchFamily="49" charset="0"/>
                <a:ea typeface="JetBrains Mono" pitchFamily="49" charset="-122"/>
                <a:cs typeface="JetBrains Mono" pitchFamily="49" charset="-120"/>
              </a:rPr>
              <a:t>now</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with a path: any METHOD on /products/:id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(req, res, next)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'Request Type:'</a:t>
            </a:r>
            <a:r>
              <a:rPr lang="en-US" sz="1200" dirty="0">
                <a:solidFill>
                  <a:srgbClr val="E6E1D6"/>
                </a:solidFill>
                <a:latin typeface="JetBrains Mono" pitchFamily="49" charset="0"/>
                <a:ea typeface="JetBrains Mono" pitchFamily="49" charset="-122"/>
                <a:cs typeface="JetBrains Mono" pitchFamily="49" charset="-120"/>
              </a:rPr>
              <a:t>, req.method);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50"/>
            <a:ext cx="4762450" cy="2527300"/>
          </a:xfrm>
          <a:prstGeom prst="roundRect">
            <a:avLst>
              <a:gd name="adj" fmla="val 3769"/>
            </a:avLst>
          </a:prstGeom>
          <a:solidFill>
            <a:srgbClr val="FDFCF8"/>
          </a:solidFill>
          <a:ln w="12700">
            <a:solidFill>
              <a:srgbClr val="D5D1C4"/>
            </a:solidFill>
            <a:prstDash val="solid"/>
          </a:ln>
        </p:spPr>
      </p:sp>
      <p:sp>
        <p:nvSpPr>
          <p:cNvPr id="8" name="Text 6"/>
          <p:cNvSpPr/>
          <p:nvPr/>
        </p:nvSpPr>
        <p:spPr>
          <a:xfrm>
            <a:off x="6793694" y="1866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DOES THE SECOND ONE RUN?</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05600" y="2167483"/>
          <a:ext cx="4383856" cy="1659744"/>
        </p:xfrm>
        <a:graphic>
          <a:graphicData uri="http://schemas.openxmlformats.org/drawingml/2006/table">
            <a:tbl>
              <a:tblPr/>
              <a:tblGrid>
                <a:gridCol w="2981022"/>
                <a:gridCol w="1402834"/>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Request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Runs?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GET /products/5</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yes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DELETE /products/5</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yes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GET /products/5/reviews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yes (prefix)</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GET /products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no</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10" name="Shape 7"/>
          <p:cNvSpPr/>
          <p:nvPr/>
        </p:nvSpPr>
        <p:spPr>
          <a:xfrm>
            <a:off x="6604000" y="4394150"/>
            <a:ext cx="4775150" cy="1651000"/>
          </a:xfrm>
          <a:prstGeom prst="roundRect">
            <a:avLst>
              <a:gd name="adj" fmla="val 6154"/>
            </a:avLst>
          </a:prstGeom>
          <a:solidFill>
            <a:srgbClr val="0E1117"/>
          </a:solidFill>
          <a:ln/>
        </p:spPr>
      </p:sp>
      <p:sp>
        <p:nvSpPr>
          <p:cNvPr id="11" name="Text 8"/>
          <p:cNvSpPr/>
          <p:nvPr/>
        </p:nvSpPr>
        <p:spPr>
          <a:xfrm>
            <a:off x="6781788" y="4546501"/>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CONSOLE · DELETE /products/5</a:t>
            </a:r>
            <a:endParaRPr lang="en-US" sz="1200" dirty="0"/>
          </a:p>
        </p:txBody>
      </p:sp>
      <p:sp>
        <p:nvSpPr>
          <p:cNvPr id="12" name="Text 9"/>
          <p:cNvSpPr/>
          <p:nvPr/>
        </p:nvSpPr>
        <p:spPr>
          <a:xfrm>
            <a:off x="6781788" y="4836046"/>
            <a:ext cx="4552162"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Time: 1793006021118</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Request Type: DELETE</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TYPE 1 · APP.USE VS APP.METHOD</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Same path, very different reach</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694" y="1708547"/>
          <a:ext cx="10554519" cy="2508994"/>
        </p:xfrm>
        <a:graphic>
          <a:graphicData uri="http://schemas.openxmlformats.org/drawingml/2006/table">
            <a:tbl>
              <a:tblPr/>
              <a:tblGrid>
                <a:gridCol w="3799627"/>
                <a:gridCol w="3377446"/>
                <a:gridCol w="3377446"/>
              </a:tblGrid>
              <a:tr h="358428">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Request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app.use('/products', fn)</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app.get('/products', fn)</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GET /products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runs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runs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POST /products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runs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no (GET only)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GET /products/5</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runs (prefix)</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no (exact path)</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GET /productsXYZ</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no</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no</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usual job</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prepare, then next()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BB9B0"/>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answer the request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BB9B0"/>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next('route')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not available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BB9B0"/>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available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BB9B0"/>
                      </a:solidFill>
                      <a:prstDash val="solid"/>
                      <a:round/>
                      <a:headEnd type="none" w="med" len="med"/>
                      <a:tailEnd type="none" w="med" len="med"/>
                    </a:lnL>
                    <a:lnR w="12700" cap="flat" cmpd="sng" algn="ctr">
                      <a:solidFill>
                        <a:srgbClr val="BBB9B0"/>
                      </a:solidFill>
                      <a:prstDash val="solid"/>
                      <a:round/>
                      <a:headEnd type="none" w="med" len="med"/>
                      <a:tailEnd type="none" w="med" len="med"/>
                    </a:lnR>
                    <a:lnT w="12700" cap="flat" cmpd="sng" algn="ctr">
                      <a:solidFill>
                        <a:srgbClr val="BBB9B0"/>
                      </a:solidFill>
                      <a:prstDash val="solid"/>
                      <a:round/>
                      <a:headEnd type="none" w="med" len="med"/>
                      <a:tailEnd type="none" w="med" len="med"/>
                    </a:lnT>
                    <a:lnB w="12700" cap="flat" cmpd="sng" algn="ctr">
                      <a:solidFill>
                        <a:srgbClr val="BBB9B0"/>
                      </a:solidFill>
                      <a:prstDash val="solid"/>
                      <a:round/>
                      <a:headEnd type="none" w="med" len="med"/>
                      <a:tailEnd type="none" w="med" len="med"/>
                    </a:lnB>
                    <a:solidFill>
                      <a:srgbClr val="EAE7DC"/>
                    </a:solidFill>
                  </a:tcPr>
                </a:tc>
              </a:tr>
            </a:tbl>
          </a:graphicData>
        </a:graphic>
      </p:graphicFrame>
      <p:sp>
        <p:nvSpPr>
          <p:cNvPr id="5" name="Shape 2"/>
          <p:cNvSpPr/>
          <p:nvPr/>
        </p:nvSpPr>
        <p:spPr>
          <a:xfrm>
            <a:off x="812788" y="4699000"/>
            <a:ext cx="10566363" cy="1346150"/>
          </a:xfrm>
          <a:prstGeom prst="roundRect">
            <a:avLst>
              <a:gd name="adj" fmla="val 7547"/>
            </a:avLst>
          </a:prstGeom>
          <a:solidFill>
            <a:srgbClr val="161B24"/>
          </a:solidFill>
          <a:ln/>
        </p:spPr>
      </p:sp>
      <p:sp>
        <p:nvSpPr>
          <p:cNvPr id="6" name="Text 3"/>
          <p:cNvSpPr/>
          <p:nvPr/>
        </p:nvSpPr>
        <p:spPr>
          <a:xfrm>
            <a:off x="1041363" y="5109815"/>
            <a:ext cx="10412489"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BD88F"/>
                </a:solidFill>
                <a:latin typeface="Space Grotesk" pitchFamily="34" charset="0"/>
                <a:ea typeface="Space Grotesk" pitchFamily="34" charset="-122"/>
                <a:cs typeface="Space Grotesk" pitchFamily="34" charset="-120"/>
              </a:rPr>
              <a:t>INSIDE app.use('/products', …) FOR GET /products/5</a:t>
            </a:r>
            <a:endParaRPr lang="en-US" sz="1200" dirty="0"/>
          </a:p>
        </p:txBody>
      </p:sp>
      <p:sp>
        <p:nvSpPr>
          <p:cNvPr id="7" name="Text 4"/>
          <p:cNvSpPr/>
          <p:nvPr/>
        </p:nvSpPr>
        <p:spPr>
          <a:xfrm>
            <a:off x="1041363" y="5386710"/>
            <a:ext cx="10412489" cy="273013"/>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6E1D6"/>
                </a:solidFill>
                <a:latin typeface="JetBrains Mono" pitchFamily="49" charset="0"/>
                <a:ea typeface="JetBrains Mono" pitchFamily="49" charset="-122"/>
                <a:cs typeface="JetBrains Mono" pitchFamily="49" charset="-120"/>
              </a:rPr>
              <a:t>req.originalUrl '/products/5' req.baseUrl '/products' req.url '/5'</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TYPE 1 · MIDDLEWARE SUB-STACK</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Several functions in one call, run left to right</a:t>
            </a:r>
            <a:endParaRPr lang="en-US" sz="2800" dirty="0"/>
          </a:p>
        </p:txBody>
      </p:sp>
      <p:sp>
        <p:nvSpPr>
          <p:cNvPr id="4" name="Shape 2"/>
          <p:cNvSpPr/>
          <p:nvPr/>
        </p:nvSpPr>
        <p:spPr>
          <a:xfrm>
            <a:off x="812788" y="1696641"/>
            <a:ext cx="5588000" cy="3388754"/>
          </a:xfrm>
          <a:prstGeom prst="roundRect">
            <a:avLst>
              <a:gd name="adj" fmla="val 2998"/>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 · from the Express guide</a:t>
            </a:r>
            <a:endParaRPr lang="en-US" sz="1200" dirty="0"/>
          </a:p>
        </p:txBody>
      </p:sp>
      <p:sp>
        <p:nvSpPr>
          <p:cNvPr id="6" name="Text 4"/>
          <p:cNvSpPr/>
          <p:nvPr/>
        </p:nvSpPr>
        <p:spPr>
          <a:xfrm>
            <a:off x="1015938" y="2163961"/>
            <a:ext cx="5337150" cy="2769046"/>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 res, next) =&gt; { </a:t>
            </a:r>
            <a:r>
              <a:rPr lang="en-US" sz="1200" dirty="0">
                <a:solidFill>
                  <a:srgbClr val="F0A15E"/>
                </a:solidFill>
                <a:latin typeface="JetBrains Mono" pitchFamily="49" charset="0"/>
                <a:ea typeface="JetBrains Mono" pitchFamily="49" charset="-122"/>
                <a:cs typeface="JetBrains Mono" pitchFamily="49" charset="-120"/>
              </a:rPr>
              <a:t>// 1st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'Request URL:'</a:t>
            </a:r>
            <a:r>
              <a:rPr lang="en-US" sz="1200" dirty="0">
                <a:solidFill>
                  <a:srgbClr val="E6E1D6"/>
                </a:solidFill>
                <a:latin typeface="JetBrains Mono" pitchFamily="49" charset="0"/>
                <a:ea typeface="JetBrains Mono" pitchFamily="49" charset="-122"/>
                <a:cs typeface="JetBrains Mono" pitchFamily="49" charset="-120"/>
              </a:rPr>
              <a:t>, req.originalUrl);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 res, next) =&gt; { </a:t>
            </a:r>
            <a:r>
              <a:rPr lang="en-US" sz="1200" dirty="0">
                <a:solidFill>
                  <a:srgbClr val="F0A15E"/>
                </a:solidFill>
                <a:latin typeface="JetBrains Mono" pitchFamily="49" charset="0"/>
                <a:ea typeface="JetBrains Mono" pitchFamily="49" charset="-122"/>
                <a:cs typeface="JetBrains Mono" pitchFamily="49" charset="-120"/>
              </a:rPr>
              <a:t>// 2nd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'Request Type:'</a:t>
            </a:r>
            <a:r>
              <a:rPr lang="en-US" sz="1200" dirty="0">
                <a:solidFill>
                  <a:srgbClr val="E6E1D6"/>
                </a:solidFill>
                <a:latin typeface="JetBrains Mono" pitchFamily="49" charset="0"/>
                <a:ea typeface="JetBrains Mono" pitchFamily="49" charset="-122"/>
                <a:cs typeface="JetBrains Mono" pitchFamily="49" charset="-120"/>
              </a:rPr>
              <a:t>, req.method);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getOne); </a:t>
            </a:r>
            <a:r>
              <a:rPr lang="en-US" sz="1200" dirty="0">
                <a:solidFill>
                  <a:srgbClr val="F0A15E"/>
                </a:solidFill>
                <a:latin typeface="JetBrains Mono" pitchFamily="49" charset="0"/>
                <a:ea typeface="JetBrains Mono" pitchFamily="49" charset="-122"/>
                <a:cs typeface="JetBrains Mono" pitchFamily="49" charset="-120"/>
              </a:rPr>
              <a:t>// 3rd</a:t>
            </a:r>
            <a:endParaRPr lang="en-US" sz="1200" dirty="0"/>
          </a:p>
        </p:txBody>
      </p:sp>
      <p:sp>
        <p:nvSpPr>
          <p:cNvPr id="7" name="Shape 5"/>
          <p:cNvSpPr/>
          <p:nvPr/>
        </p:nvSpPr>
        <p:spPr>
          <a:xfrm>
            <a:off x="6610350" y="1708150"/>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706"/>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localhost:11000/products/2?ref=ad</a:t>
            </a:r>
            <a:endParaRPr lang="en-US" sz="1200" dirty="0"/>
          </a:p>
        </p:txBody>
      </p:sp>
      <p:sp>
        <p:nvSpPr>
          <p:cNvPr id="13" name="Text 11"/>
          <p:cNvSpPr/>
          <p:nvPr/>
        </p:nvSpPr>
        <p:spPr>
          <a:xfrm>
            <a:off x="6819057" y="2307878"/>
            <a:ext cx="4475388"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A1F2B"/>
                </a:solidFill>
                <a:latin typeface="JetBrains Mono" pitchFamily="49" charset="0"/>
                <a:ea typeface="JetBrains Mono" pitchFamily="49" charset="-122"/>
                <a:cs typeface="JetBrains Mono" pitchFamily="49" charset="-120"/>
              </a:rPr>
              <a:t>{"id":2,"title":"Mens Casual Premium Slim Fit T-Shirts ",…}</a:t>
            </a:r>
            <a:endParaRPr lang="en-US" sz="1200" dirty="0"/>
          </a:p>
        </p:txBody>
      </p:sp>
      <p:sp>
        <p:nvSpPr>
          <p:cNvPr id="14" name="Shape 12"/>
          <p:cNvSpPr/>
          <p:nvPr/>
        </p:nvSpPr>
        <p:spPr>
          <a:xfrm>
            <a:off x="6604000" y="3733800"/>
            <a:ext cx="4775150" cy="2311363"/>
          </a:xfrm>
          <a:prstGeom prst="roundRect">
            <a:avLst>
              <a:gd name="adj" fmla="val 4396"/>
            </a:avLst>
          </a:prstGeom>
          <a:solidFill>
            <a:srgbClr val="0E1117"/>
          </a:solidFill>
          <a:ln/>
        </p:spPr>
      </p:sp>
      <p:sp>
        <p:nvSpPr>
          <p:cNvPr id="15" name="Text 13"/>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6" name="Text 14"/>
          <p:cNvSpPr/>
          <p:nvPr/>
        </p:nvSpPr>
        <p:spPr>
          <a:xfrm>
            <a:off x="6781788" y="4175671"/>
            <a:ext cx="4552162"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Request URL: /products/2?ref=ad</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Request Type: GET</a:t>
            </a:r>
            <a:endParaRPr lang="en-US" sz="1200" dirty="0"/>
          </a:p>
        </p:txBody>
      </p:sp>
      <p:sp>
        <p:nvSpPr>
          <p:cNvPr id="17" name="Text 15"/>
          <p:cNvSpPr/>
          <p:nvPr/>
        </p:nvSpPr>
        <p:spPr>
          <a:xfrm>
            <a:off x="6781788" y="4709120"/>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Each next() hands over to the function to its right, then to the next registered one.</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TYPE 1 · MULTIPLE ROUTE HANDLERS</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Two routes for one path: the second never runs</a:t>
            </a:r>
            <a:endParaRPr lang="en-US" sz="2800" dirty="0"/>
          </a:p>
        </p:txBody>
      </p:sp>
      <p:sp>
        <p:nvSpPr>
          <p:cNvPr id="4" name="Shape 2"/>
          <p:cNvSpPr/>
          <p:nvPr/>
        </p:nvSpPr>
        <p:spPr>
          <a:xfrm>
            <a:off x="812788" y="1696641"/>
            <a:ext cx="5588000" cy="4074666"/>
          </a:xfrm>
          <a:prstGeom prst="roundRect">
            <a:avLst>
              <a:gd name="adj" fmla="val 2493"/>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 · from the Express guide</a:t>
            </a:r>
            <a:endParaRPr lang="en-US" sz="1200" dirty="0"/>
          </a:p>
        </p:txBody>
      </p:sp>
      <p:sp>
        <p:nvSpPr>
          <p:cNvPr id="6" name="Text 4"/>
          <p:cNvSpPr/>
          <p:nvPr/>
        </p:nvSpPr>
        <p:spPr>
          <a:xfrm>
            <a:off x="1015938" y="2163961"/>
            <a:ext cx="5337150" cy="3454958"/>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 res, next)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'ID:'</a:t>
            </a:r>
            <a:r>
              <a:rPr lang="en-US" sz="1200" dirty="0">
                <a:solidFill>
                  <a:srgbClr val="E6E1D6"/>
                </a:solidFill>
                <a:latin typeface="JetBrains Mono" pitchFamily="49" charset="0"/>
                <a:ea typeface="JetBrains Mono" pitchFamily="49" charset="-122"/>
                <a:cs typeface="JetBrains Mono" pitchFamily="49" charset="-120"/>
              </a:rPr>
              <a:t>, req.params.id);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 Info'</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 ends it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same path, registered later</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(req.params.id); </a:t>
            </a:r>
            <a:r>
              <a:rPr lang="en-US" sz="1200" dirty="0">
                <a:solidFill>
                  <a:srgbClr val="7F8796"/>
                </a:solidFill>
                <a:latin typeface="JetBrains Mono" pitchFamily="49" charset="0"/>
                <a:ea typeface="JetBrains Mono" pitchFamily="49" charset="-122"/>
                <a:cs typeface="JetBrains Mono" pitchFamily="49" charset="-120"/>
              </a:rPr>
              <a:t>// never called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50"/>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706"/>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92"/>
            <a:ext cx="101575" cy="101575"/>
          </a:xfrm>
          <a:prstGeom prst="roundRect">
            <a:avLst>
              <a:gd name="adj" fmla="val 50000"/>
            </a:avLst>
          </a:prstGeom>
          <a:solidFill>
            <a:srgbClr val="E0675A"/>
          </a:solidFill>
          <a:ln/>
        </p:spPr>
      </p:sp>
      <p:sp>
        <p:nvSpPr>
          <p:cNvPr id="10" name="Shape 8"/>
          <p:cNvSpPr/>
          <p:nvPr/>
        </p:nvSpPr>
        <p:spPr>
          <a:xfrm>
            <a:off x="6907981" y="1883792"/>
            <a:ext cx="101575" cy="101575"/>
          </a:xfrm>
          <a:prstGeom prst="roundRect">
            <a:avLst>
              <a:gd name="adj" fmla="val 50000"/>
            </a:avLst>
          </a:prstGeom>
          <a:solidFill>
            <a:srgbClr val="E7B54A"/>
          </a:solidFill>
          <a:ln/>
        </p:spPr>
      </p:sp>
      <p:sp>
        <p:nvSpPr>
          <p:cNvPr id="11" name="Shape 9"/>
          <p:cNvSpPr/>
          <p:nvPr/>
        </p:nvSpPr>
        <p:spPr>
          <a:xfrm>
            <a:off x="7073057" y="1883792"/>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localhost:11000/products/5</a:t>
            </a:r>
            <a:endParaRPr lang="en-US" sz="1200" dirty="0"/>
          </a:p>
        </p:txBody>
      </p:sp>
      <p:sp>
        <p:nvSpPr>
          <p:cNvPr id="13" name="Text 11"/>
          <p:cNvSpPr/>
          <p:nvPr/>
        </p:nvSpPr>
        <p:spPr>
          <a:xfrm>
            <a:off x="6819057" y="2307878"/>
            <a:ext cx="4475388" cy="30984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A1F2B"/>
                </a:solidFill>
                <a:latin typeface="Space Grotesk" pitchFamily="34" charset="0"/>
                <a:ea typeface="Space Grotesk" pitchFamily="34" charset="-122"/>
                <a:cs typeface="Space Grotesk" pitchFamily="34" charset="-120"/>
              </a:rPr>
              <a:t>Product Info</a:t>
            </a:r>
            <a:endParaRPr lang="en-US" sz="1600" dirty="0"/>
          </a:p>
        </p:txBody>
      </p:sp>
      <p:sp>
        <p:nvSpPr>
          <p:cNvPr id="14" name="Text 12"/>
          <p:cNvSpPr/>
          <p:nvPr/>
        </p:nvSpPr>
        <p:spPr>
          <a:xfrm>
            <a:off x="6819057" y="2655838"/>
            <a:ext cx="4475388"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Not “5”: the first route already answered.</a:t>
            </a:r>
            <a:endParaRPr lang="en-US" sz="1200" dirty="0"/>
          </a:p>
        </p:txBody>
      </p:sp>
      <p:sp>
        <p:nvSpPr>
          <p:cNvPr id="15" name="Shape 13"/>
          <p:cNvSpPr/>
          <p:nvPr/>
        </p:nvSpPr>
        <p:spPr>
          <a:xfrm>
            <a:off x="6604000" y="3733800"/>
            <a:ext cx="4775150" cy="2311363"/>
          </a:xfrm>
          <a:prstGeom prst="roundRect">
            <a:avLst>
              <a:gd name="adj" fmla="val 4396"/>
            </a:avLst>
          </a:prstGeom>
          <a:solidFill>
            <a:srgbClr val="0E1117"/>
          </a:solidFill>
          <a:ln/>
        </p:spPr>
      </p:sp>
      <p:sp>
        <p:nvSpPr>
          <p:cNvPr id="16" name="Text 14"/>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7" name="Text 15"/>
          <p:cNvSpPr/>
          <p:nvPr/>
        </p:nvSpPr>
        <p:spPr>
          <a:xfrm>
            <a:off x="6781788" y="4175671"/>
            <a:ext cx="4552162" cy="25403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ID: 5</a:t>
            </a:r>
            <a:endParaRPr lang="en-US" sz="1200" dirty="0"/>
          </a:p>
        </p:txBody>
      </p:sp>
      <p:sp>
        <p:nvSpPr>
          <p:cNvPr id="18" name="Text 16"/>
          <p:cNvSpPr/>
          <p:nvPr/>
        </p:nvSpPr>
        <p:spPr>
          <a:xfrm>
            <a:off x="6781788" y="4480471"/>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No error either. A duplicate route is silently dead code, so keep one route per path and method.</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TYPE 1 · NEXT('ROUTE')</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Skip the rest of this route, try the next one</a:t>
            </a:r>
            <a:endParaRPr lang="en-US" sz="2800" dirty="0"/>
          </a:p>
        </p:txBody>
      </p:sp>
      <p:sp>
        <p:nvSpPr>
          <p:cNvPr id="4" name="Shape 2"/>
          <p:cNvSpPr/>
          <p:nvPr/>
        </p:nvSpPr>
        <p:spPr>
          <a:xfrm>
            <a:off x="812788" y="1696641"/>
            <a:ext cx="5588000" cy="3846029"/>
          </a:xfrm>
          <a:prstGeom prst="roundRect">
            <a:avLst>
              <a:gd name="adj" fmla="val 2642"/>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 · from the Express guide</a:t>
            </a:r>
            <a:endParaRPr lang="en-US" sz="1200" dirty="0"/>
          </a:p>
        </p:txBody>
      </p:sp>
      <p:sp>
        <p:nvSpPr>
          <p:cNvPr id="6" name="Text 4"/>
          <p:cNvSpPr/>
          <p:nvPr/>
        </p:nvSpPr>
        <p:spPr>
          <a:xfrm>
            <a:off x="1015938" y="2163961"/>
            <a:ext cx="5337150" cy="3226321"/>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 res, next)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(req.params.id === </a:t>
            </a:r>
            <a:r>
              <a:rPr lang="en-US" sz="1200" dirty="0">
                <a:solidFill>
                  <a:srgbClr val="C3E88D"/>
                </a:solidFill>
                <a:latin typeface="JetBrains Mono" pitchFamily="49" charset="0"/>
                <a:ea typeface="JetBrains Mono" pitchFamily="49" charset="-122"/>
                <a:cs typeface="JetBrains Mono" pitchFamily="49" charset="-120"/>
              </a:rPr>
              <a:t>'0'</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BD88F"/>
                </a:solidFill>
                <a:latin typeface="JetBrains Mono" pitchFamily="49" charset="0"/>
                <a:ea typeface="JetBrains Mono" pitchFamily="49" charset="-122"/>
                <a:cs typeface="JetBrains Mono" pitchFamily="49" charset="-120"/>
              </a:rPr>
              <a:t>next('route')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else</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'regular'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'special'</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50"/>
            <a:ext cx="4762450" cy="2527300"/>
          </a:xfrm>
          <a:prstGeom prst="roundRect">
            <a:avLst>
              <a:gd name="adj" fmla="val 3769"/>
            </a:avLst>
          </a:prstGeom>
          <a:solidFill>
            <a:srgbClr val="FDFCF8"/>
          </a:solidFill>
          <a:ln w="12700">
            <a:solidFill>
              <a:srgbClr val="D5D1C4"/>
            </a:solidFill>
            <a:prstDash val="solid"/>
          </a:ln>
        </p:spPr>
      </p:sp>
      <p:sp>
        <p:nvSpPr>
          <p:cNvPr id="8" name="Text 6"/>
          <p:cNvSpPr/>
          <p:nvPr/>
        </p:nvSpPr>
        <p:spPr>
          <a:xfrm>
            <a:off x="6793694" y="1866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BROWSER</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05600" y="2167483"/>
          <a:ext cx="4383856" cy="1075283"/>
        </p:xfrm>
        <a:graphic>
          <a:graphicData uri="http://schemas.openxmlformats.org/drawingml/2006/table">
            <a:tbl>
              <a:tblPr/>
              <a:tblGrid>
                <a:gridCol w="2411121"/>
                <a:gridCol w="1972735"/>
              </a:tblGrid>
              <a:tr h="358428">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You open</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indent="0" marL="0">
                        <a:lnSpc>
                          <a:spcPts val="1820"/>
                        </a:lnSpc>
                        <a:buNone/>
                      </a:pPr>
                      <a:r>
                        <a:rPr lang="en-US" sz="1300" b="1" dirty="0">
                          <a:solidFill>
                            <a:srgbClr val="1A1F2B"/>
                          </a:solidFill>
                          <a:latin typeface="JetBrains Mono" pitchFamily="49" charset="0"/>
                          <a:ea typeface="JetBrains Mono" pitchFamily="49" charset="-122"/>
                          <a:cs typeface="JetBrains Mono" pitchFamily="49" charset="-120"/>
                        </a:rPr>
                        <a:t>You see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/products/5</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regular</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58428">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/products/0</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special</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10" name="Text 7"/>
          <p:cNvSpPr/>
          <p:nvPr/>
        </p:nvSpPr>
        <p:spPr>
          <a:xfrm>
            <a:off x="6793694" y="3318917"/>
            <a:ext cx="4527636"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next() → the next function in this route. next('route') → jump to the next matching route.</a:t>
            </a:r>
            <a:endParaRPr lang="en-US" sz="1200" dirty="0"/>
          </a:p>
        </p:txBody>
      </p:sp>
      <p:sp>
        <p:nvSpPr>
          <p:cNvPr id="11" name="Shape 8"/>
          <p:cNvSpPr/>
          <p:nvPr/>
        </p:nvSpPr>
        <p:spPr>
          <a:xfrm>
            <a:off x="6604000" y="4394150"/>
            <a:ext cx="4775150" cy="1651000"/>
          </a:xfrm>
          <a:prstGeom prst="roundRect">
            <a:avLst>
              <a:gd name="adj" fmla="val 6154"/>
            </a:avLst>
          </a:prstGeom>
          <a:solidFill>
            <a:srgbClr val="FBE3D1"/>
          </a:solidFill>
          <a:ln/>
        </p:spPr>
      </p:sp>
      <p:sp>
        <p:nvSpPr>
          <p:cNvPr id="12" name="Text 9"/>
          <p:cNvSpPr/>
          <p:nvPr/>
        </p:nvSpPr>
        <p:spPr>
          <a:xfrm>
            <a:off x="6781788" y="485011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3A12"/>
                </a:solidFill>
                <a:latin typeface="Space Grotesk" pitchFamily="34" charset="0"/>
                <a:ea typeface="Space Grotesk" pitchFamily="34" charset="-122"/>
                <a:cs typeface="Space Grotesk" pitchFamily="34" charset="-120"/>
              </a:rPr>
              <a:t>ONLY WORKS IN</a:t>
            </a:r>
            <a:endParaRPr lang="en-US" sz="1200" dirty="0"/>
          </a:p>
        </p:txBody>
      </p:sp>
      <p:sp>
        <p:nvSpPr>
          <p:cNvPr id="13" name="Text 10"/>
          <p:cNvSpPr/>
          <p:nvPr/>
        </p:nvSpPr>
        <p:spPr>
          <a:xfrm>
            <a:off x="6781788" y="5127030"/>
            <a:ext cx="4552162" cy="48751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Space Grotesk" pitchFamily="34" charset="0"/>
                <a:ea typeface="Space Grotesk" pitchFamily="34" charset="-122"/>
                <a:cs typeface="Space Grotesk" pitchFamily="34" charset="-120"/>
              </a:rPr>
              <a:t>app.get / post / put / delete and router.get / post / …, never in app.use().</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TYPE 1 · REUSABLE MIDDLEWARE ARRAYS</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Name your middleware, group it, reuse it</a:t>
            </a:r>
            <a:endParaRPr lang="en-US" sz="2800" dirty="0"/>
          </a:p>
        </p:txBody>
      </p:sp>
      <p:sp>
        <p:nvSpPr>
          <p:cNvPr id="4" name="Shape 2"/>
          <p:cNvSpPr/>
          <p:nvPr/>
        </p:nvSpPr>
        <p:spPr>
          <a:xfrm>
            <a:off x="812788" y="1696641"/>
            <a:ext cx="6604000" cy="3388754"/>
          </a:xfrm>
          <a:prstGeom prst="roundRect">
            <a:avLst>
              <a:gd name="adj" fmla="val 2998"/>
            </a:avLst>
          </a:prstGeom>
          <a:solidFill>
            <a:srgbClr val="161B24"/>
          </a:solidFill>
          <a:ln/>
        </p:spPr>
      </p:sp>
      <p:sp>
        <p:nvSpPr>
          <p:cNvPr id="5" name="Text 3"/>
          <p:cNvSpPr/>
          <p:nvPr/>
        </p:nvSpPr>
        <p:spPr>
          <a:xfrm>
            <a:off x="1015938" y="1874441"/>
            <a:ext cx="638363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 · from the Express guide</a:t>
            </a:r>
            <a:endParaRPr lang="en-US" sz="1200" dirty="0"/>
          </a:p>
        </p:txBody>
      </p:sp>
      <p:sp>
        <p:nvSpPr>
          <p:cNvPr id="6" name="Text 4"/>
          <p:cNvSpPr/>
          <p:nvPr/>
        </p:nvSpPr>
        <p:spPr>
          <a:xfrm>
            <a:off x="1015938" y="2163961"/>
            <a:ext cx="6383630" cy="2769046"/>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function</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logOriginalUrl</a:t>
            </a:r>
            <a:r>
              <a:rPr lang="en-US" sz="1200" dirty="0">
                <a:solidFill>
                  <a:srgbClr val="E6E1D6"/>
                </a:solidFill>
                <a:latin typeface="JetBrains Mono" pitchFamily="49" charset="0"/>
                <a:ea typeface="JetBrains Mono" pitchFamily="49" charset="-122"/>
                <a:cs typeface="JetBrains Mono" pitchFamily="49" charset="-120"/>
              </a:rPr>
              <a:t>(req, res, next)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'Request URL:'</a:t>
            </a:r>
            <a:r>
              <a:rPr lang="en-US" sz="1200" dirty="0">
                <a:solidFill>
                  <a:srgbClr val="E6E1D6"/>
                </a:solidFill>
                <a:latin typeface="JetBrains Mono" pitchFamily="49" charset="0"/>
                <a:ea typeface="JetBrains Mono" pitchFamily="49" charset="-122"/>
                <a:cs typeface="JetBrains Mono" pitchFamily="49" charset="-120"/>
              </a:rPr>
              <a:t>, req.originalUrl);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function</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logMethod</a:t>
            </a:r>
            <a:r>
              <a:rPr lang="en-US" sz="1200" dirty="0">
                <a:solidFill>
                  <a:srgbClr val="E6E1D6"/>
                </a:solidFill>
                <a:latin typeface="JetBrains Mono" pitchFamily="49" charset="0"/>
                <a:ea typeface="JetBrains Mono" pitchFamily="49" charset="-122"/>
                <a:cs typeface="JetBrains Mono" pitchFamily="49" charset="-120"/>
              </a:rPr>
              <a:t>(req, res, next)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'Request Type:'</a:t>
            </a:r>
            <a:r>
              <a:rPr lang="en-US" sz="1200" dirty="0">
                <a:solidFill>
                  <a:srgbClr val="E6E1D6"/>
                </a:solidFill>
                <a:latin typeface="JetBrains Mono" pitchFamily="49" charset="0"/>
                <a:ea typeface="JetBrains Mono" pitchFamily="49" charset="-122"/>
                <a:cs typeface="JetBrains Mono" pitchFamily="49" charset="-120"/>
              </a:rPr>
              <a:t>, req.method);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BD88F"/>
                </a:solidFill>
                <a:latin typeface="JetBrains Mono" pitchFamily="49" charset="0"/>
                <a:ea typeface="JetBrains Mono" pitchFamily="49" charset="-122"/>
                <a:cs typeface="JetBrains Mono" pitchFamily="49" charset="-120"/>
              </a:rPr>
              <a:t>logStuff</a:t>
            </a:r>
            <a:r>
              <a:rPr lang="en-US" sz="1200" dirty="0">
                <a:solidFill>
                  <a:srgbClr val="E6E1D6"/>
                </a:solidFill>
                <a:latin typeface="JetBrains Mono" pitchFamily="49" charset="0"/>
                <a:ea typeface="JetBrains Mono" pitchFamily="49" charset="-122"/>
                <a:cs typeface="JetBrains Mono" pitchFamily="49" charset="-120"/>
              </a:rPr>
              <a:t> = [logOriginalUrl, logMethod];</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BD88F"/>
                </a:solidFill>
                <a:latin typeface="JetBrains Mono" pitchFamily="49" charset="0"/>
                <a:ea typeface="JetBrains Mono" pitchFamily="49" charset="-122"/>
                <a:cs typeface="JetBrains Mono" pitchFamily="49" charset="-120"/>
              </a:rPr>
              <a:t>logStuff</a:t>
            </a:r>
            <a:r>
              <a:rPr lang="en-US" sz="1200" dirty="0">
                <a:solidFill>
                  <a:srgbClr val="E6E1D6"/>
                </a:solidFill>
                <a:latin typeface="JetBrains Mono" pitchFamily="49" charset="0"/>
                <a:ea typeface="JetBrains Mono" pitchFamily="49" charset="-122"/>
                <a:cs typeface="JetBrains Mono" pitchFamily="49" charset="-120"/>
              </a:rPr>
              <a:t>, getOne);</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delete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BD88F"/>
                </a:solidFill>
                <a:latin typeface="JetBrains Mono" pitchFamily="49" charset="0"/>
                <a:ea typeface="JetBrains Mono" pitchFamily="49" charset="-122"/>
                <a:cs typeface="JetBrains Mono" pitchFamily="49" charset="-120"/>
              </a:rPr>
              <a:t>logStuff</a:t>
            </a:r>
            <a:r>
              <a:rPr lang="en-US" sz="1200" dirty="0">
                <a:solidFill>
                  <a:srgbClr val="E6E1D6"/>
                </a:solidFill>
                <a:latin typeface="JetBrains Mono" pitchFamily="49" charset="0"/>
                <a:ea typeface="JetBrains Mono" pitchFamily="49" charset="-122"/>
                <a:cs typeface="JetBrains Mono" pitchFamily="49" charset="-120"/>
              </a:rPr>
              <a:t>, checkLogin, removeOne);</a:t>
            </a:r>
            <a:endParaRPr lang="en-US" sz="1200" dirty="0"/>
          </a:p>
        </p:txBody>
      </p:sp>
      <p:sp>
        <p:nvSpPr>
          <p:cNvPr id="7" name="Shape 5"/>
          <p:cNvSpPr/>
          <p:nvPr/>
        </p:nvSpPr>
        <p:spPr>
          <a:xfrm>
            <a:off x="7620000" y="1701800"/>
            <a:ext cx="3759150" cy="2095500"/>
          </a:xfrm>
          <a:prstGeom prst="roundRect">
            <a:avLst>
              <a:gd name="adj" fmla="val 4848"/>
            </a:avLst>
          </a:prstGeom>
          <a:solidFill>
            <a:srgbClr val="0E1117"/>
          </a:solidFill>
          <a:ln/>
        </p:spPr>
      </p:sp>
      <p:sp>
        <p:nvSpPr>
          <p:cNvPr id="8" name="Text 6"/>
          <p:cNvSpPr/>
          <p:nvPr/>
        </p:nvSpPr>
        <p:spPr>
          <a:xfrm>
            <a:off x="7797788" y="1854150"/>
            <a:ext cx="3505682" cy="452165"/>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CONSOLE · DELETE /products/5?token=abc123</a:t>
            </a:r>
            <a:endParaRPr lang="en-US" sz="1200" dirty="0"/>
          </a:p>
        </p:txBody>
      </p:sp>
      <p:sp>
        <p:nvSpPr>
          <p:cNvPr id="9" name="Text 7"/>
          <p:cNvSpPr/>
          <p:nvPr/>
        </p:nvSpPr>
        <p:spPr>
          <a:xfrm>
            <a:off x="7797788" y="2357041"/>
            <a:ext cx="350568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Request URL: /products/5?token=abc123</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Request Type: DELETE</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User has loggedIN......</a:t>
            </a:r>
            <a:endParaRPr lang="en-US" sz="1200" dirty="0"/>
          </a:p>
        </p:txBody>
      </p:sp>
      <p:sp>
        <p:nvSpPr>
          <p:cNvPr id="10" name="Shape 8"/>
          <p:cNvSpPr/>
          <p:nvPr/>
        </p:nvSpPr>
        <p:spPr>
          <a:xfrm>
            <a:off x="7626350" y="3956000"/>
            <a:ext cx="3746450" cy="2082800"/>
          </a:xfrm>
          <a:prstGeom prst="roundRect">
            <a:avLst>
              <a:gd name="adj" fmla="val 4573"/>
            </a:avLst>
          </a:prstGeom>
          <a:solidFill>
            <a:srgbClr val="FDFCF8"/>
          </a:solidFill>
          <a:ln w="12700">
            <a:solidFill>
              <a:srgbClr val="DDD8CA"/>
            </a:solidFill>
            <a:prstDash val="solid"/>
          </a:ln>
        </p:spPr>
      </p:sp>
      <p:sp>
        <p:nvSpPr>
          <p:cNvPr id="11" name="Text 9"/>
          <p:cNvSpPr/>
          <p:nvPr/>
        </p:nvSpPr>
        <p:spPr>
          <a:xfrm>
            <a:off x="7809694" y="4506020"/>
            <a:ext cx="348115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E7D4F"/>
                </a:solidFill>
                <a:latin typeface="Space Grotesk" pitchFamily="34" charset="0"/>
                <a:ea typeface="Space Grotesk" pitchFamily="34" charset="-122"/>
                <a:cs typeface="Space Grotesk" pitchFamily="34" charset="-120"/>
              </a:rPr>
              <a:t>WHY IT HELPS</a:t>
            </a:r>
            <a:endParaRPr lang="en-US" sz="1200" dirty="0"/>
          </a:p>
        </p:txBody>
      </p:sp>
      <p:sp>
        <p:nvSpPr>
          <p:cNvPr id="12" name="Text 10"/>
          <p:cNvSpPr/>
          <p:nvPr/>
        </p:nvSpPr>
        <p:spPr>
          <a:xfrm>
            <a:off x="7809694" y="4795540"/>
            <a:ext cx="3481156" cy="7185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Space Grotesk" pitchFamily="34" charset="0"/>
                <a:ea typeface="Space Grotesk" pitchFamily="34" charset="-122"/>
                <a:cs typeface="Space Grotesk" pitchFamily="34" charset="-120"/>
              </a:rPr>
              <a:t>Arrays and single functions can be mixed freely. Express flattens them into one chain, in the order written.</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TYPE 2 · ROUTER-LEVEL · FIRST, WITHOUT ROUTER</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The store grows: public products, private admin</a:t>
            </a:r>
            <a:endParaRPr lang="en-US" sz="2800" dirty="0"/>
          </a:p>
        </p:txBody>
      </p:sp>
      <p:sp>
        <p:nvSpPr>
          <p:cNvPr id="4" name="Shape 2"/>
          <p:cNvSpPr/>
          <p:nvPr/>
        </p:nvSpPr>
        <p:spPr>
          <a:xfrm>
            <a:off x="812788" y="1696641"/>
            <a:ext cx="6350000" cy="3243337"/>
          </a:xfrm>
          <a:prstGeom prst="roundRect">
            <a:avLst>
              <a:gd name="adj" fmla="val 3133"/>
            </a:avLst>
          </a:prstGeom>
          <a:solidFill>
            <a:srgbClr val="161B24"/>
          </a:solidFill>
          <a:ln/>
        </p:spPr>
      </p:sp>
      <p:sp>
        <p:nvSpPr>
          <p:cNvPr id="5" name="Text 3"/>
          <p:cNvSpPr/>
          <p:nvPr/>
        </p:nvSpPr>
        <p:spPr>
          <a:xfrm>
            <a:off x="1015938" y="1874441"/>
            <a:ext cx="612201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app.js · everything in one file</a:t>
            </a:r>
            <a:endParaRPr lang="en-US" sz="1200" dirty="0"/>
          </a:p>
        </p:txBody>
      </p:sp>
      <p:sp>
        <p:nvSpPr>
          <p:cNvPr id="6" name="Text 4"/>
          <p:cNvSpPr/>
          <p:nvPr/>
        </p:nvSpPr>
        <p:spPr>
          <a:xfrm>
            <a:off x="1015938" y="2163961"/>
            <a:ext cx="6122010" cy="2623629"/>
          </a:xfrm>
          <a:prstGeom prst="rect">
            <a:avLst/>
          </a:prstGeom>
          <a:noFill/>
          <a:ln/>
        </p:spPr>
        <p:txBody>
          <a:bodyPr wrap="none" lIns="0" tIns="0" rIns="0" bIns="0" rtlCol="0" anchor="t">
            <a:normAutofit/>
          </a:bodyPr>
          <a:lstStyle/>
          <a:p>
            <a:pPr algn="l" indent="0" marL="0">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0A15E"/>
                </a:solidFill>
                <a:latin typeface="JetBrains Mono" pitchFamily="49" charset="0"/>
                <a:ea typeface="JetBrains Mono" pitchFamily="49" charset="-122"/>
                <a:cs typeface="JetBrains Mono" pitchFamily="49" charset="-120"/>
              </a:rPr>
              <a:t>'/api/products'</a:t>
            </a:r>
            <a:r>
              <a:rPr lang="en-US" sz="1200" dirty="0">
                <a:solidFill>
                  <a:srgbClr val="E6E1D6"/>
                </a:solidFill>
                <a:latin typeface="JetBrains Mono" pitchFamily="49" charset="0"/>
                <a:ea typeface="JetBrains Mono" pitchFamily="49" charset="-122"/>
                <a:cs typeface="JetBrains Mono" pitchFamily="49" charset="-120"/>
              </a:rPr>
              <a:t>, listAll);</a:t>
            </a:r>
            <a:endParaRPr lang="en-US" sz="1200" dirty="0"/>
          </a:p>
          <a:p>
            <a:pPr algn="l" indent="0" marL="0">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0A15E"/>
                </a:solidFill>
                <a:latin typeface="JetBrains Mono" pitchFamily="49" charset="0"/>
                <a:ea typeface="JetBrains Mono" pitchFamily="49" charset="-122"/>
                <a:cs typeface="JetBrains Mono" pitchFamily="49" charset="-120"/>
              </a:rPr>
              <a:t>'/api/products</a:t>
            </a:r>
            <a:r>
              <a:rPr lang="en-US" sz="1200" dirty="0">
                <a:solidFill>
                  <a:srgbClr val="C3E88D"/>
                </a:solidFill>
                <a:latin typeface="JetBrains Mono" pitchFamily="49" charset="0"/>
                <a:ea typeface="JetBrains Mono" pitchFamily="49" charset="-122"/>
                <a:cs typeface="JetBrains Mono" pitchFamily="49" charset="-120"/>
              </a:rPr>
              <a:t>/categories'</a:t>
            </a:r>
            <a:r>
              <a:rPr lang="en-US" sz="1200" dirty="0">
                <a:solidFill>
                  <a:srgbClr val="E6E1D6"/>
                </a:solidFill>
                <a:latin typeface="JetBrains Mono" pitchFamily="49" charset="0"/>
                <a:ea typeface="JetBrains Mono" pitchFamily="49" charset="-122"/>
                <a:cs typeface="JetBrains Mono" pitchFamily="49" charset="-120"/>
              </a:rPr>
              <a:t>, listCategories);</a:t>
            </a:r>
            <a:endParaRPr lang="en-US" sz="1200" dirty="0"/>
          </a:p>
          <a:p>
            <a:pPr algn="l" indent="0" marL="0">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0A15E"/>
                </a:solidFill>
                <a:latin typeface="JetBrains Mono" pitchFamily="49" charset="0"/>
                <a:ea typeface="JetBrains Mono" pitchFamily="49" charset="-122"/>
                <a:cs typeface="JetBrains Mono" pitchFamily="49" charset="-120"/>
              </a:rPr>
              <a:t>'/api/products</a:t>
            </a:r>
            <a:r>
              <a:rPr lang="en-US" sz="1200" dirty="0">
                <a:solidFill>
                  <a:srgbClr val="C3E88D"/>
                </a:solidFill>
                <a:latin typeface="JetBrains Mono" pitchFamily="49" charset="0"/>
                <a:ea typeface="JetBrains Mono" pitchFamily="49" charset="-122"/>
                <a:cs typeface="JetBrains Mono" pitchFamily="49" charset="-120"/>
              </a:rPr>
              <a:t>/:id'</a:t>
            </a:r>
            <a:r>
              <a:rPr lang="en-US" sz="1200" dirty="0">
                <a:solidFill>
                  <a:srgbClr val="E6E1D6"/>
                </a:solidFill>
                <a:latin typeface="JetBrains Mono" pitchFamily="49" charset="0"/>
                <a:ea typeface="JetBrains Mono" pitchFamily="49" charset="-122"/>
                <a:cs typeface="JetBrains Mono" pitchFamily="49" charset="-120"/>
              </a:rPr>
              <a:t>, getOne);</a:t>
            </a:r>
            <a:endParaRPr lang="en-US" sz="1200" dirty="0"/>
          </a:p>
          <a:p>
            <a:pPr algn="l" indent="0" marL="0">
              <a:lnSpc>
                <a:spcPts val="1860"/>
              </a:lnSpc>
              <a:buNone/>
            </a:pPr>
            <a:endParaRPr lang="en-US" sz="1200" dirty="0"/>
          </a:p>
          <a:p>
            <a:pPr algn="l" indent="0" marL="0">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0A15E"/>
                </a:solidFill>
                <a:latin typeface="JetBrains Mono" pitchFamily="49" charset="0"/>
                <a:ea typeface="JetBrains Mono" pitchFamily="49" charset="-122"/>
                <a:cs typeface="JetBrains Mono" pitchFamily="49" charset="-120"/>
              </a:rPr>
              <a:t>'/api/admin</a:t>
            </a:r>
            <a:r>
              <a:rPr lang="en-US" sz="1200" dirty="0">
                <a:solidFill>
                  <a:srgbClr val="C3E88D"/>
                </a:solidFill>
                <a:latin typeface="JetBrains Mono" pitchFamily="49" charset="0"/>
                <a:ea typeface="JetBrains Mono" pitchFamily="49" charset="-122"/>
                <a:cs typeface="JetBrains Mono" pitchFamily="49" charset="-120"/>
              </a:rPr>
              <a:t>/stats'</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8A80"/>
                </a:solidFill>
                <a:latin typeface="JetBrains Mono" pitchFamily="49" charset="0"/>
                <a:ea typeface="JetBrains Mono" pitchFamily="49" charset="-122"/>
                <a:cs typeface="JetBrains Mono" pitchFamily="49" charset="-120"/>
              </a:rPr>
              <a:t>checkAdmin</a:t>
            </a:r>
            <a:r>
              <a:rPr lang="en-US" sz="1200" dirty="0">
                <a:solidFill>
                  <a:srgbClr val="E6E1D6"/>
                </a:solidFill>
                <a:latin typeface="JetBrains Mono" pitchFamily="49" charset="0"/>
                <a:ea typeface="JetBrains Mono" pitchFamily="49" charset="-122"/>
                <a:cs typeface="JetBrains Mono" pitchFamily="49" charset="-120"/>
              </a:rPr>
              <a:t>, stats);</a:t>
            </a:r>
            <a:endParaRPr lang="en-US" sz="1200" dirty="0"/>
          </a:p>
          <a:p>
            <a:pPr algn="l" indent="0" marL="0">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post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0A15E"/>
                </a:solidFill>
                <a:latin typeface="JetBrains Mono" pitchFamily="49" charset="0"/>
                <a:ea typeface="JetBrains Mono" pitchFamily="49" charset="-122"/>
                <a:cs typeface="JetBrains Mono" pitchFamily="49" charset="-120"/>
              </a:rPr>
              <a:t>'/api/admin</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8A80"/>
                </a:solidFill>
                <a:latin typeface="JetBrains Mono" pitchFamily="49" charset="0"/>
                <a:ea typeface="JetBrains Mono" pitchFamily="49" charset="-122"/>
                <a:cs typeface="JetBrains Mono" pitchFamily="49" charset="-120"/>
              </a:rPr>
              <a:t>checkAdmin</a:t>
            </a:r>
            <a:r>
              <a:rPr lang="en-US" sz="1200" dirty="0">
                <a:solidFill>
                  <a:srgbClr val="E6E1D6"/>
                </a:solidFill>
                <a:latin typeface="JetBrains Mono" pitchFamily="49" charset="0"/>
                <a:ea typeface="JetBrains Mono" pitchFamily="49" charset="-122"/>
                <a:cs typeface="JetBrains Mono" pitchFamily="49" charset="-120"/>
              </a:rPr>
              <a:t>, addOne);</a:t>
            </a:r>
            <a:endParaRPr lang="en-US" sz="1200" dirty="0"/>
          </a:p>
          <a:p>
            <a:pPr algn="l" indent="0" marL="0">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put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0A15E"/>
                </a:solidFill>
                <a:latin typeface="JetBrains Mono" pitchFamily="49" charset="0"/>
                <a:ea typeface="JetBrains Mono" pitchFamily="49" charset="-122"/>
                <a:cs typeface="JetBrains Mono" pitchFamily="49" charset="-120"/>
              </a:rPr>
              <a:t>'/api/admin</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8A80"/>
                </a:solidFill>
                <a:latin typeface="JetBrains Mono" pitchFamily="49" charset="0"/>
                <a:ea typeface="JetBrains Mono" pitchFamily="49" charset="-122"/>
                <a:cs typeface="JetBrains Mono" pitchFamily="49" charset="-120"/>
              </a:rPr>
              <a:t>checkAdmin</a:t>
            </a:r>
            <a:r>
              <a:rPr lang="en-US" sz="1200" dirty="0">
                <a:solidFill>
                  <a:srgbClr val="E6E1D6"/>
                </a:solidFill>
                <a:latin typeface="JetBrains Mono" pitchFamily="49" charset="0"/>
                <a:ea typeface="JetBrains Mono" pitchFamily="49" charset="-122"/>
                <a:cs typeface="JetBrains Mono" pitchFamily="49" charset="-120"/>
              </a:rPr>
              <a:t>, updateOne);</a:t>
            </a:r>
            <a:endParaRPr lang="en-US" sz="1200" dirty="0"/>
          </a:p>
          <a:p>
            <a:pPr algn="l" indent="0" marL="0">
              <a:lnSpc>
                <a:spcPts val="186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delete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0A15E"/>
                </a:solidFill>
                <a:latin typeface="JetBrains Mono" pitchFamily="49" charset="0"/>
                <a:ea typeface="JetBrains Mono" pitchFamily="49" charset="-122"/>
                <a:cs typeface="JetBrains Mono" pitchFamily="49" charset="-120"/>
              </a:rPr>
              <a:t>'/api/admin</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8A80"/>
                </a:solidFill>
                <a:latin typeface="JetBrains Mono" pitchFamily="49" charset="0"/>
                <a:ea typeface="JetBrains Mono" pitchFamily="49" charset="-122"/>
                <a:cs typeface="JetBrains Mono" pitchFamily="49" charset="-120"/>
              </a:rPr>
              <a:t>checkAdmin</a:t>
            </a:r>
            <a:r>
              <a:rPr lang="en-US" sz="1200" dirty="0">
                <a:solidFill>
                  <a:srgbClr val="E6E1D6"/>
                </a:solidFill>
                <a:latin typeface="JetBrains Mono" pitchFamily="49" charset="0"/>
                <a:ea typeface="JetBrains Mono" pitchFamily="49" charset="-122"/>
                <a:cs typeface="JetBrains Mono" pitchFamily="49" charset="-120"/>
              </a:rPr>
              <a:t>, removeOne);</a:t>
            </a:r>
            <a:endParaRPr lang="en-US" sz="1200" dirty="0"/>
          </a:p>
          <a:p>
            <a:pPr algn="l" indent="0" marL="0">
              <a:lnSpc>
                <a:spcPts val="1860"/>
              </a:lnSpc>
              <a:buNone/>
            </a:pPr>
            <a:endParaRPr lang="en-US" sz="1200" dirty="0"/>
          </a:p>
          <a:p>
            <a:pPr algn="l" indent="0" marL="0">
              <a:lnSpc>
                <a:spcPts val="1860"/>
              </a:lnSpc>
              <a:buNone/>
            </a:pPr>
            <a:r>
              <a:rPr lang="en-US" sz="1200" dirty="0">
                <a:solidFill>
                  <a:srgbClr val="7F8796"/>
                </a:solidFill>
                <a:latin typeface="JetBrains Mono" pitchFamily="49" charset="0"/>
                <a:ea typeface="JetBrains Mono" pitchFamily="49" charset="-122"/>
                <a:cs typeface="JetBrains Mono" pitchFamily="49" charset="-120"/>
              </a:rPr>
              <a:t>// + orders, users, carts, reviews…</a:t>
            </a:r>
            <a:endParaRPr lang="en-US" sz="1200" dirty="0"/>
          </a:p>
          <a:p>
            <a:pPr algn="l" indent="0" marL="0">
              <a:lnSpc>
                <a:spcPts val="1860"/>
              </a:lnSpc>
              <a:buNone/>
            </a:pPr>
            <a:r>
              <a:rPr lang="en-US" sz="1200" dirty="0">
                <a:solidFill>
                  <a:srgbClr val="7F8796"/>
                </a:solidFill>
                <a:latin typeface="JetBrains Mono" pitchFamily="49" charset="0"/>
                <a:ea typeface="JetBrains Mono" pitchFamily="49" charset="-122"/>
                <a:cs typeface="JetBrains Mono" pitchFamily="49" charset="-120"/>
              </a:rPr>
              <a:t>// app.js becomes a 300-line list</a:t>
            </a:r>
            <a:endParaRPr lang="en-US" sz="1200" dirty="0"/>
          </a:p>
        </p:txBody>
      </p:sp>
      <p:sp>
        <p:nvSpPr>
          <p:cNvPr id="7" name="Shape 5"/>
          <p:cNvSpPr/>
          <p:nvPr/>
        </p:nvSpPr>
        <p:spPr>
          <a:xfrm>
            <a:off x="7372350" y="1708150"/>
            <a:ext cx="4000450" cy="1257300"/>
          </a:xfrm>
          <a:prstGeom prst="roundRect">
            <a:avLst>
              <a:gd name="adj" fmla="val 7576"/>
            </a:avLst>
          </a:prstGeom>
          <a:solidFill>
            <a:srgbClr val="FDFCF8"/>
          </a:solidFill>
          <a:ln w="12700">
            <a:solidFill>
              <a:srgbClr val="DDD8CA"/>
            </a:solidFill>
            <a:prstDash val="solid"/>
          </a:ln>
        </p:spPr>
      </p:sp>
      <p:sp>
        <p:nvSpPr>
          <p:cNvPr id="8" name="Text 6"/>
          <p:cNvSpPr/>
          <p:nvPr/>
        </p:nvSpPr>
        <p:spPr>
          <a:xfrm>
            <a:off x="7555694" y="2071390"/>
            <a:ext cx="3742776"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D9692A"/>
                </a:solidFill>
                <a:latin typeface="Space Grotesk" pitchFamily="34" charset="0"/>
                <a:ea typeface="Space Grotesk" pitchFamily="34" charset="-122"/>
                <a:cs typeface="Space Grotesk" pitchFamily="34" charset="-120"/>
              </a:rPr>
              <a:t>Prefix typed 7 times</a:t>
            </a:r>
            <a:endParaRPr lang="en-US" sz="1500" dirty="0"/>
          </a:p>
        </p:txBody>
      </p:sp>
      <p:sp>
        <p:nvSpPr>
          <p:cNvPr id="9" name="Text 7"/>
          <p:cNvSpPr/>
          <p:nvPr/>
        </p:nvSpPr>
        <p:spPr>
          <a:xfrm>
            <a:off x="7555694" y="2388791"/>
            <a:ext cx="3742776"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Rename /api to /api/v2? Edit every line.</a:t>
            </a:r>
            <a:endParaRPr lang="en-US" sz="1200" dirty="0"/>
          </a:p>
        </p:txBody>
      </p:sp>
      <p:sp>
        <p:nvSpPr>
          <p:cNvPr id="10" name="Shape 8"/>
          <p:cNvSpPr/>
          <p:nvPr/>
        </p:nvSpPr>
        <p:spPr>
          <a:xfrm>
            <a:off x="7372350" y="3130500"/>
            <a:ext cx="4000450" cy="1257300"/>
          </a:xfrm>
          <a:prstGeom prst="roundRect">
            <a:avLst>
              <a:gd name="adj" fmla="val 7576"/>
            </a:avLst>
          </a:prstGeom>
          <a:solidFill>
            <a:srgbClr val="FDFCF8"/>
          </a:solidFill>
          <a:ln w="12700">
            <a:solidFill>
              <a:srgbClr val="DDD8CA"/>
            </a:solidFill>
            <a:prstDash val="solid"/>
          </a:ln>
        </p:spPr>
      </p:sp>
      <p:sp>
        <p:nvSpPr>
          <p:cNvPr id="11" name="Text 9"/>
          <p:cNvSpPr/>
          <p:nvPr/>
        </p:nvSpPr>
        <p:spPr>
          <a:xfrm>
            <a:off x="7555694" y="3387030"/>
            <a:ext cx="3742776"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5462A"/>
                </a:solidFill>
                <a:latin typeface="Space Grotesk" pitchFamily="34" charset="0"/>
                <a:ea typeface="Space Grotesk" pitchFamily="34" charset="-122"/>
                <a:cs typeface="Space Grotesk" pitchFamily="34" charset="-120"/>
              </a:rPr>
              <a:t>checkAdmin on each line</a:t>
            </a:r>
            <a:endParaRPr lang="en-US" sz="1500" dirty="0"/>
          </a:p>
        </p:txBody>
      </p:sp>
      <p:sp>
        <p:nvSpPr>
          <p:cNvPr id="12" name="Text 10"/>
          <p:cNvSpPr/>
          <p:nvPr/>
        </p:nvSpPr>
        <p:spPr>
          <a:xfrm>
            <a:off x="7555694" y="3704431"/>
            <a:ext cx="3742776"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The next admin route someone adds may forget it.</a:t>
            </a:r>
            <a:endParaRPr lang="en-US" sz="1200" dirty="0"/>
          </a:p>
        </p:txBody>
      </p:sp>
      <p:sp>
        <p:nvSpPr>
          <p:cNvPr id="13" name="Shape 11"/>
          <p:cNvSpPr/>
          <p:nvPr/>
        </p:nvSpPr>
        <p:spPr>
          <a:xfrm>
            <a:off x="7372350" y="4552950"/>
            <a:ext cx="4000450" cy="1485875"/>
          </a:xfrm>
          <a:prstGeom prst="roundRect">
            <a:avLst>
              <a:gd name="adj" fmla="val 6410"/>
            </a:avLst>
          </a:prstGeom>
          <a:solidFill>
            <a:srgbClr val="FDFCF8"/>
          </a:solidFill>
          <a:ln w="12700">
            <a:solidFill>
              <a:srgbClr val="DDD8CA"/>
            </a:solidFill>
            <a:prstDash val="solid"/>
          </a:ln>
        </p:spPr>
      </p:sp>
      <p:sp>
        <p:nvSpPr>
          <p:cNvPr id="14" name="Text 12"/>
          <p:cNvSpPr/>
          <p:nvPr/>
        </p:nvSpPr>
        <p:spPr>
          <a:xfrm>
            <a:off x="7555694" y="4923730"/>
            <a:ext cx="3742776"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A1F2B"/>
                </a:solidFill>
                <a:latin typeface="Space Grotesk" pitchFamily="34" charset="0"/>
                <a:ea typeface="Space Grotesk" pitchFamily="34" charset="-122"/>
                <a:cs typeface="Space Grotesk" pitchFamily="34" charset="-120"/>
              </a:rPr>
              <a:t>No “admin” unit</a:t>
            </a:r>
            <a:endParaRPr lang="en-US" sz="1500" dirty="0"/>
          </a:p>
        </p:txBody>
      </p:sp>
      <p:sp>
        <p:nvSpPr>
          <p:cNvPr id="15" name="Text 13"/>
          <p:cNvSpPr/>
          <p:nvPr/>
        </p:nvSpPr>
        <p:spPr>
          <a:xfrm>
            <a:off x="7555694" y="5241181"/>
            <a:ext cx="3742776"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You can move the handler functions to other files, but the paths and checks stay in app.js.</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TYPE 2 · WHY THE GUIDE’S ROUTER EXAMPLE CONFUSES</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Same code, app. swapped for router.</a:t>
            </a:r>
            <a:endParaRPr lang="en-US" sz="2800" dirty="0"/>
          </a:p>
        </p:txBody>
      </p:sp>
      <p:sp>
        <p:nvSpPr>
          <p:cNvPr id="4" name="Shape 2"/>
          <p:cNvSpPr/>
          <p:nvPr/>
        </p:nvSpPr>
        <p:spPr>
          <a:xfrm>
            <a:off x="812788" y="1696641"/>
            <a:ext cx="5194288" cy="2565549"/>
          </a:xfrm>
          <a:prstGeom prst="roundRect">
            <a:avLst>
              <a:gd name="adj" fmla="val 3960"/>
            </a:avLst>
          </a:prstGeom>
          <a:solidFill>
            <a:srgbClr val="161B24"/>
          </a:solidFill>
          <a:ln/>
        </p:spPr>
      </p:sp>
      <p:sp>
        <p:nvSpPr>
          <p:cNvPr id="5" name="Text 3"/>
          <p:cNvSpPr/>
          <p:nvPr/>
        </p:nvSpPr>
        <p:spPr>
          <a:xfrm>
            <a:off x="1015938" y="1874441"/>
            <a:ext cx="4931626"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C0CC"/>
                </a:solidFill>
                <a:latin typeface="Space Grotesk" pitchFamily="34" charset="0"/>
                <a:ea typeface="Space Grotesk" pitchFamily="34" charset="-122"/>
                <a:cs typeface="Space Grotesk" pitchFamily="34" charset="-120"/>
              </a:rPr>
              <a:t>Application-level (no Router)</a:t>
            </a:r>
            <a:endParaRPr lang="en-US" sz="1200" dirty="0"/>
          </a:p>
        </p:txBody>
      </p:sp>
      <p:sp>
        <p:nvSpPr>
          <p:cNvPr id="6" name="Text 4"/>
          <p:cNvSpPr/>
          <p:nvPr/>
        </p:nvSpPr>
        <p:spPr>
          <a:xfrm>
            <a:off x="1015938" y="2163961"/>
            <a:ext cx="4931626" cy="1945841"/>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app = </a:t>
            </a:r>
            <a:r>
              <a:rPr lang="en-US" sz="1200" dirty="0">
                <a:solidFill>
                  <a:srgbClr val="82AAFF"/>
                </a:solidFill>
                <a:latin typeface="JetBrains Mono" pitchFamily="49" charset="0"/>
                <a:ea typeface="JetBrains Mono" pitchFamily="49" charset="-122"/>
                <a:cs typeface="JetBrains Mono" pitchFamily="49" charset="-120"/>
              </a:rPr>
              <a:t>express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82AAFF"/>
                </a:solidFill>
                <a:latin typeface="JetBrains Mono" pitchFamily="49" charset="0"/>
                <a:ea typeface="JetBrains Mono" pitchFamily="49" charset="-122"/>
                <a:cs typeface="JetBrains Mono" pitchFamily="49" charset="-120"/>
              </a:rPr>
              <a:t>app</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next)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'Time:'</a:t>
            </a:r>
            <a:r>
              <a:rPr lang="en-US" sz="1200" dirty="0">
                <a:solidFill>
                  <a:srgbClr val="E6E1D6"/>
                </a:solidFill>
                <a:latin typeface="JetBrains Mono" pitchFamily="49" charset="0"/>
                <a:ea typeface="JetBrains Mono" pitchFamily="49" charset="-122"/>
                <a:cs typeface="JetBrains Mono" pitchFamily="49" charset="-120"/>
              </a:rPr>
              <a:t>, Date.</a:t>
            </a:r>
            <a:r>
              <a:rPr lang="en-US" sz="1200" dirty="0">
                <a:solidFill>
                  <a:srgbClr val="82AAFF"/>
                </a:solidFill>
                <a:latin typeface="JetBrains Mono" pitchFamily="49" charset="0"/>
                <a:ea typeface="JetBrains Mono" pitchFamily="49" charset="-122"/>
                <a:cs typeface="JetBrains Mono" pitchFamily="49" charset="-120"/>
              </a:rPr>
              <a:t>now</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82AAFF"/>
                </a:solidFill>
                <a:latin typeface="JetBrains Mono" pitchFamily="49" charset="0"/>
                <a:ea typeface="JetBrains Mono" pitchFamily="49" charset="-122"/>
                <a:cs typeface="JetBrains Mono" pitchFamily="49" charset="-120"/>
              </a:rPr>
              <a:t>app</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'/user/:id'</a:t>
            </a:r>
            <a:r>
              <a:rPr lang="en-US" sz="1200" dirty="0">
                <a:solidFill>
                  <a:srgbClr val="E6E1D6"/>
                </a:solidFill>
                <a:latin typeface="JetBrains Mono" pitchFamily="49" charset="0"/>
                <a:ea typeface="JetBrains Mono" pitchFamily="49" charset="-122"/>
                <a:cs typeface="JetBrains Mono" pitchFamily="49" charset="-120"/>
              </a:rPr>
              <a:t>, logUrl, logType);</a:t>
            </a:r>
            <a:endParaRPr lang="en-US" sz="1200" dirty="0"/>
          </a:p>
          <a:p>
            <a:pPr algn="l" indent="0" marL="0">
              <a:lnSpc>
                <a:spcPts val="1680"/>
              </a:lnSpc>
              <a:buNone/>
            </a:pPr>
            <a:r>
              <a:rPr lang="en-US" sz="1200" dirty="0">
                <a:solidFill>
                  <a:srgbClr val="82AAFF"/>
                </a:solidFill>
                <a:latin typeface="JetBrains Mono" pitchFamily="49" charset="0"/>
                <a:ea typeface="JetBrains Mono" pitchFamily="49" charset="-122"/>
                <a:cs typeface="JetBrains Mono" pitchFamily="49" charset="-120"/>
              </a:rPr>
              <a:t>app</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'/user/:id'</a:t>
            </a:r>
            <a:r>
              <a:rPr lang="en-US" sz="1200" dirty="0">
                <a:solidFill>
                  <a:srgbClr val="E6E1D6"/>
                </a:solidFill>
                <a:latin typeface="JetBrains Mono" pitchFamily="49" charset="0"/>
                <a:ea typeface="JetBrains Mono" pitchFamily="49" charset="-122"/>
                <a:cs typeface="JetBrains Mono" pitchFamily="49" charset="-120"/>
              </a:rPr>
              <a:t>, checkZero, regular);</a:t>
            </a:r>
            <a:endParaRPr lang="en-US" sz="1200" dirty="0"/>
          </a:p>
          <a:p>
            <a:pPr algn="l" indent="0" marL="0">
              <a:lnSpc>
                <a:spcPts val="1680"/>
              </a:lnSpc>
              <a:buNone/>
            </a:pPr>
            <a:r>
              <a:rPr lang="en-US" sz="1200" dirty="0">
                <a:solidFill>
                  <a:srgbClr val="82AAFF"/>
                </a:solidFill>
                <a:latin typeface="JetBrains Mono" pitchFamily="49" charset="0"/>
                <a:ea typeface="JetBrains Mono" pitchFamily="49" charset="-122"/>
                <a:cs typeface="JetBrains Mono" pitchFamily="49" charset="-120"/>
              </a:rPr>
              <a:t>app</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'/user/:id'</a:t>
            </a:r>
            <a:r>
              <a:rPr lang="en-US" sz="1200" dirty="0">
                <a:solidFill>
                  <a:srgbClr val="E6E1D6"/>
                </a:solidFill>
                <a:latin typeface="JetBrains Mono" pitchFamily="49" charset="0"/>
                <a:ea typeface="JetBrains Mono" pitchFamily="49" charset="-122"/>
                <a:cs typeface="JetBrains Mono" pitchFamily="49" charset="-120"/>
              </a:rPr>
              <a:t>, special);</a:t>
            </a:r>
            <a:endParaRPr lang="en-US" sz="1200" dirty="0"/>
          </a:p>
        </p:txBody>
      </p:sp>
      <p:sp>
        <p:nvSpPr>
          <p:cNvPr id="7" name="Shape 5"/>
          <p:cNvSpPr/>
          <p:nvPr/>
        </p:nvSpPr>
        <p:spPr>
          <a:xfrm>
            <a:off x="6184863" y="1696641"/>
            <a:ext cx="5194350" cy="2778931"/>
          </a:xfrm>
          <a:prstGeom prst="roundRect">
            <a:avLst>
              <a:gd name="adj" fmla="val 3656"/>
            </a:avLst>
          </a:prstGeom>
          <a:solidFill>
            <a:srgbClr val="161B24"/>
          </a:solidFill>
          <a:ln/>
        </p:spPr>
      </p:sp>
      <p:sp>
        <p:nvSpPr>
          <p:cNvPr id="8" name="Text 6"/>
          <p:cNvSpPr/>
          <p:nvPr/>
        </p:nvSpPr>
        <p:spPr>
          <a:xfrm>
            <a:off x="6388013" y="1874441"/>
            <a:ext cx="4931690"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BD88F"/>
                </a:solidFill>
                <a:latin typeface="Space Grotesk" pitchFamily="34" charset="0"/>
                <a:ea typeface="Space Grotesk" pitchFamily="34" charset="-122"/>
                <a:cs typeface="Space Grotesk" pitchFamily="34" charset="-120"/>
              </a:rPr>
              <a:t>Router-level (the guide’s version)</a:t>
            </a:r>
            <a:endParaRPr lang="en-US" sz="1200" dirty="0"/>
          </a:p>
        </p:txBody>
      </p:sp>
      <p:sp>
        <p:nvSpPr>
          <p:cNvPr id="9" name="Text 7"/>
          <p:cNvSpPr/>
          <p:nvPr/>
        </p:nvSpPr>
        <p:spPr>
          <a:xfrm>
            <a:off x="6388013" y="2163961"/>
            <a:ext cx="4931690" cy="2159223"/>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app = </a:t>
            </a:r>
            <a:r>
              <a:rPr lang="en-US" sz="1200" dirty="0">
                <a:solidFill>
                  <a:srgbClr val="82AAFF"/>
                </a:solidFill>
                <a:latin typeface="JetBrains Mono" pitchFamily="49" charset="0"/>
                <a:ea typeface="JetBrains Mono" pitchFamily="49" charset="-122"/>
                <a:cs typeface="JetBrains Mono" pitchFamily="49" charset="-120"/>
              </a:rPr>
              <a:t>express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7BD88F"/>
                </a:solidFill>
                <a:latin typeface="JetBrains Mono" pitchFamily="49" charset="0"/>
                <a:ea typeface="JetBrains Mono" pitchFamily="49" charset="-122"/>
                <a:cs typeface="JetBrains Mono" pitchFamily="49" charset="-120"/>
              </a:rPr>
              <a:t>const router = express.Router();</a:t>
            </a:r>
            <a:endParaRPr lang="en-US" sz="1200" dirty="0"/>
          </a:p>
          <a:p>
            <a:pPr algn="l" indent="0" marL="0">
              <a:lnSpc>
                <a:spcPts val="1680"/>
              </a:lnSpc>
              <a:buNone/>
            </a:pPr>
            <a:r>
              <a:rPr lang="en-US" sz="1200" dirty="0">
                <a:solidFill>
                  <a:srgbClr val="7BD88F"/>
                </a:solidFill>
                <a:latin typeface="JetBrains Mono" pitchFamily="49" charset="0"/>
                <a:ea typeface="JetBrains Mono" pitchFamily="49" charset="-122"/>
                <a:cs typeface="JetBrains Mono" pitchFamily="49" charset="-120"/>
              </a:rPr>
              <a:t>router</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next)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'Time:'</a:t>
            </a:r>
            <a:r>
              <a:rPr lang="en-US" sz="1200" dirty="0">
                <a:solidFill>
                  <a:srgbClr val="E6E1D6"/>
                </a:solidFill>
                <a:latin typeface="JetBrains Mono" pitchFamily="49" charset="0"/>
                <a:ea typeface="JetBrains Mono" pitchFamily="49" charset="-122"/>
                <a:cs typeface="JetBrains Mono" pitchFamily="49" charset="-120"/>
              </a:rPr>
              <a:t>, Date.</a:t>
            </a:r>
            <a:r>
              <a:rPr lang="en-US" sz="1200" dirty="0">
                <a:solidFill>
                  <a:srgbClr val="82AAFF"/>
                </a:solidFill>
                <a:latin typeface="JetBrains Mono" pitchFamily="49" charset="0"/>
                <a:ea typeface="JetBrains Mono" pitchFamily="49" charset="-122"/>
                <a:cs typeface="JetBrains Mono" pitchFamily="49" charset="-120"/>
              </a:rPr>
              <a:t>now</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7BD88F"/>
                </a:solidFill>
                <a:latin typeface="JetBrains Mono" pitchFamily="49" charset="0"/>
                <a:ea typeface="JetBrains Mono" pitchFamily="49" charset="-122"/>
                <a:cs typeface="JetBrains Mono" pitchFamily="49" charset="-120"/>
              </a:rPr>
              <a:t>router</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'/user/:id'</a:t>
            </a:r>
            <a:r>
              <a:rPr lang="en-US" sz="1200" dirty="0">
                <a:solidFill>
                  <a:srgbClr val="E6E1D6"/>
                </a:solidFill>
                <a:latin typeface="JetBrains Mono" pitchFamily="49" charset="0"/>
                <a:ea typeface="JetBrains Mono" pitchFamily="49" charset="-122"/>
                <a:cs typeface="JetBrains Mono" pitchFamily="49" charset="-120"/>
              </a:rPr>
              <a:t>, logUrl, logType);</a:t>
            </a:r>
            <a:endParaRPr lang="en-US" sz="1200" dirty="0"/>
          </a:p>
          <a:p>
            <a:pPr algn="l" indent="0" marL="0">
              <a:lnSpc>
                <a:spcPts val="1680"/>
              </a:lnSpc>
              <a:buNone/>
            </a:pPr>
            <a:r>
              <a:rPr lang="en-US" sz="1200" dirty="0">
                <a:solidFill>
                  <a:srgbClr val="7BD88F"/>
                </a:solidFill>
                <a:latin typeface="JetBrains Mono" pitchFamily="49" charset="0"/>
                <a:ea typeface="JetBrains Mono" pitchFamily="49" charset="-122"/>
                <a:cs typeface="JetBrains Mono" pitchFamily="49" charset="-120"/>
              </a:rPr>
              <a:t>router</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'/user/:id'</a:t>
            </a:r>
            <a:r>
              <a:rPr lang="en-US" sz="1200" dirty="0">
                <a:solidFill>
                  <a:srgbClr val="E6E1D6"/>
                </a:solidFill>
                <a:latin typeface="JetBrains Mono" pitchFamily="49" charset="0"/>
                <a:ea typeface="JetBrains Mono" pitchFamily="49" charset="-122"/>
                <a:cs typeface="JetBrains Mono" pitchFamily="49" charset="-120"/>
              </a:rPr>
              <a:t>, checkZero, regular);</a:t>
            </a:r>
            <a:endParaRPr lang="en-US" sz="1200" dirty="0"/>
          </a:p>
          <a:p>
            <a:pPr algn="l" indent="0" marL="0">
              <a:lnSpc>
                <a:spcPts val="1680"/>
              </a:lnSpc>
              <a:buNone/>
            </a:pPr>
            <a:r>
              <a:rPr lang="en-US" sz="1200" dirty="0">
                <a:solidFill>
                  <a:srgbClr val="7BD88F"/>
                </a:solidFill>
                <a:latin typeface="JetBrains Mono" pitchFamily="49" charset="0"/>
                <a:ea typeface="JetBrains Mono" pitchFamily="49" charset="-122"/>
                <a:cs typeface="JetBrains Mono" pitchFamily="49" charset="-120"/>
              </a:rPr>
              <a:t>router</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'/user/:id'</a:t>
            </a:r>
            <a:r>
              <a:rPr lang="en-US" sz="1200" dirty="0">
                <a:solidFill>
                  <a:srgbClr val="E6E1D6"/>
                </a:solidFill>
                <a:latin typeface="JetBrains Mono" pitchFamily="49" charset="0"/>
                <a:ea typeface="JetBrains Mono" pitchFamily="49" charset="-122"/>
                <a:cs typeface="JetBrains Mono" pitchFamily="49" charset="-120"/>
              </a:rPr>
              <a:t>, special);</a:t>
            </a:r>
            <a:endParaRPr lang="en-US" sz="1200" dirty="0"/>
          </a:p>
          <a:p>
            <a:pPr algn="l" indent="0" marL="0">
              <a:lnSpc>
                <a:spcPts val="1680"/>
              </a:lnSpc>
              <a:buNone/>
            </a:pPr>
            <a:r>
              <a:rPr lang="en-US" sz="1200" dirty="0">
                <a:solidFill>
                  <a:srgbClr val="7BD88F"/>
                </a:solidFill>
                <a:latin typeface="JetBrains Mono" pitchFamily="49" charset="0"/>
                <a:ea typeface="JetBrains Mono" pitchFamily="49" charset="-122"/>
                <a:cs typeface="JetBrains Mono" pitchFamily="49" charset="-120"/>
              </a:rPr>
              <a:t>app.use('/', router);</a:t>
            </a:r>
            <a:endParaRPr lang="en-US" sz="1200" dirty="0"/>
          </a:p>
        </p:txBody>
      </p:sp>
      <p:sp>
        <p:nvSpPr>
          <p:cNvPr id="10" name="Shape 8"/>
          <p:cNvSpPr/>
          <p:nvPr/>
        </p:nvSpPr>
        <p:spPr>
          <a:xfrm>
            <a:off x="812788" y="4851350"/>
            <a:ext cx="10566363" cy="1193788"/>
          </a:xfrm>
          <a:prstGeom prst="roundRect">
            <a:avLst>
              <a:gd name="adj" fmla="val 8511"/>
            </a:avLst>
          </a:prstGeom>
          <a:solidFill>
            <a:srgbClr val="12161D"/>
          </a:solidFill>
          <a:ln/>
        </p:spPr>
      </p:sp>
      <p:sp>
        <p:nvSpPr>
          <p:cNvPr id="11" name="Text 9"/>
          <p:cNvSpPr/>
          <p:nvPr/>
        </p:nvSpPr>
        <p:spPr>
          <a:xfrm>
            <a:off x="1041363" y="5167610"/>
            <a:ext cx="10412489"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2EFE6"/>
                </a:solidFill>
                <a:latin typeface="Space Grotesk" pitchFamily="34" charset="0"/>
                <a:ea typeface="Space Grotesk" pitchFamily="34" charset="-122"/>
                <a:cs typeface="Space Grotesk" pitchFamily="34" charset="-120"/>
              </a:rPr>
              <a:t>Identical output. Mounted at '/' in one file, Router adds nothing yet.</a:t>
            </a:r>
            <a:endParaRPr lang="en-US" sz="1500" dirty="0"/>
          </a:p>
        </p:txBody>
      </p:sp>
      <p:sp>
        <p:nvSpPr>
          <p:cNvPr id="12" name="Text 10"/>
          <p:cNvSpPr/>
          <p:nvPr/>
        </p:nvSpPr>
        <p:spPr>
          <a:xfrm>
            <a:off x="1041363" y="5497761"/>
            <a:ext cx="10412489"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0CC"/>
                </a:solidFill>
                <a:latin typeface="Space Grotesk" pitchFamily="34" charset="0"/>
                <a:ea typeface="Space Grotesk" pitchFamily="34" charset="-122"/>
                <a:cs typeface="Space Grotesk" pitchFamily="34" charset="-120"/>
              </a:rPr>
              <a:t>Its value shows up when you </a:t>
            </a:r>
            <a:r>
              <a:rPr lang="en-US" sz="1300" dirty="0">
                <a:solidFill>
                  <a:srgbClr val="7BD88F"/>
                </a:solidFill>
                <a:latin typeface="Space Grotesk" pitchFamily="34" charset="0"/>
                <a:ea typeface="Space Grotesk" pitchFamily="34" charset="-122"/>
                <a:cs typeface="Space Grotesk" pitchFamily="34" charset="-120"/>
              </a:rPr>
              <a:t>mount it at a prefix</a:t>
            </a:r>
            <a:r>
              <a:rPr lang="en-US" sz="1300" dirty="0">
                <a:solidFill>
                  <a:srgbClr val="B9C0CC"/>
                </a:solidFill>
                <a:latin typeface="Space Grotesk" pitchFamily="34" charset="0"/>
                <a:ea typeface="Space Grotesk" pitchFamily="34" charset="-122"/>
                <a:cs typeface="Space Grotesk" pitchFamily="34" charset="-120"/>
              </a:rPr>
              <a:t>, </a:t>
            </a:r>
            <a:r>
              <a:rPr lang="en-US" sz="1300" dirty="0">
                <a:solidFill>
                  <a:srgbClr val="7BD88F"/>
                </a:solidFill>
                <a:latin typeface="Space Grotesk" pitchFamily="34" charset="0"/>
                <a:ea typeface="Space Grotesk" pitchFamily="34" charset="-122"/>
                <a:cs typeface="Space Grotesk" pitchFamily="34" charset="-120"/>
              </a:rPr>
              <a:t>move it to its own file</a:t>
            </a:r>
            <a:r>
              <a:rPr lang="en-US" sz="1300" dirty="0">
                <a:solidFill>
                  <a:srgbClr val="B9C0CC"/>
                </a:solidFill>
                <a:latin typeface="Space Grotesk" pitchFamily="34" charset="0"/>
                <a:ea typeface="Space Grotesk" pitchFamily="34" charset="-122"/>
                <a:cs typeface="Space Grotesk" pitchFamily="34" charset="-120"/>
              </a:rPr>
              <a:t>, and </a:t>
            </a:r>
            <a:r>
              <a:rPr lang="en-US" sz="1300" dirty="0">
                <a:solidFill>
                  <a:srgbClr val="7BD88F"/>
                </a:solidFill>
                <a:latin typeface="Space Grotesk" pitchFamily="34" charset="0"/>
                <a:ea typeface="Space Grotesk" pitchFamily="34" charset="-122"/>
                <a:cs typeface="Space Grotesk" pitchFamily="34" charset="-120"/>
              </a:rPr>
              <a:t>give it its own middleware</a:t>
            </a:r>
            <a:r>
              <a:rPr lang="en-US" sz="1300" dirty="0">
                <a:solidFill>
                  <a:srgbClr val="B9C0CC"/>
                </a:solidFill>
                <a:latin typeface="Space Grotesk" pitchFamily="34" charset="0"/>
                <a:ea typeface="Space Grotesk" pitchFamily="34" charset="-122"/>
                <a:cs typeface="Space Grotesk" pitchFamily="34" charset="-120"/>
              </a:rPr>
              <a:t>.</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TYPE 2 · ROUTER-LEVEL · NOW WITH ROUTER</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Each group becomes a mini-app in its own file</a:t>
            </a:r>
            <a:endParaRPr lang="en-US" sz="2800" dirty="0"/>
          </a:p>
        </p:txBody>
      </p:sp>
      <p:sp>
        <p:nvSpPr>
          <p:cNvPr id="4" name="Shape 2"/>
          <p:cNvSpPr/>
          <p:nvPr/>
        </p:nvSpPr>
        <p:spPr>
          <a:xfrm>
            <a:off x="812788" y="1696641"/>
            <a:ext cx="5194288" cy="2288667"/>
          </a:xfrm>
          <a:prstGeom prst="roundRect">
            <a:avLst>
              <a:gd name="adj" fmla="val 4439"/>
            </a:avLst>
          </a:prstGeom>
          <a:solidFill>
            <a:srgbClr val="161B24"/>
          </a:solidFill>
          <a:ln/>
        </p:spPr>
      </p:sp>
      <p:sp>
        <p:nvSpPr>
          <p:cNvPr id="5" name="Text 3"/>
          <p:cNvSpPr/>
          <p:nvPr/>
        </p:nvSpPr>
        <p:spPr>
          <a:xfrm>
            <a:off x="1015938" y="1848991"/>
            <a:ext cx="4931626"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B0FF"/>
                </a:solidFill>
                <a:latin typeface="JetBrains Mono" pitchFamily="49" charset="0"/>
                <a:ea typeface="JetBrains Mono" pitchFamily="49" charset="-122"/>
                <a:cs typeface="JetBrains Mono" pitchFamily="49" charset="-120"/>
              </a:rPr>
              <a:t>routes/products.js</a:t>
            </a:r>
            <a:endParaRPr lang="en-US" sz="1200" dirty="0"/>
          </a:p>
        </p:txBody>
      </p:sp>
      <p:sp>
        <p:nvSpPr>
          <p:cNvPr id="6" name="Text 4"/>
          <p:cNvSpPr/>
          <p:nvPr/>
        </p:nvSpPr>
        <p:spPr>
          <a:xfrm>
            <a:off x="1015938" y="2125861"/>
            <a:ext cx="4931626" cy="1732459"/>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express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'express'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router = express.</a:t>
            </a:r>
            <a:r>
              <a:rPr lang="en-US" sz="1200" dirty="0">
                <a:solidFill>
                  <a:srgbClr val="82AAFF"/>
                </a:solidFill>
                <a:latin typeface="JetBrains Mono" pitchFamily="49" charset="0"/>
                <a:ea typeface="JetBrains Mono" pitchFamily="49" charset="-122"/>
                <a:cs typeface="JetBrains Mono" pitchFamily="49" charset="-120"/>
              </a:rPr>
              <a:t>Router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router.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t>
            </a:r>
            <a:r>
              <a:rPr lang="en-US" sz="1200" dirty="0">
                <a:solidFill>
                  <a:srgbClr val="E6E1D6"/>
                </a:solidFill>
                <a:latin typeface="JetBrains Mono" pitchFamily="49" charset="0"/>
                <a:ea typeface="JetBrains Mono" pitchFamily="49" charset="-122"/>
                <a:cs typeface="JetBrains Mono" pitchFamily="49" charset="-120"/>
              </a:rPr>
              <a:t>, listAll);</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router.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'/categories'</a:t>
            </a:r>
            <a:r>
              <a:rPr lang="en-US" sz="1200" dirty="0">
                <a:solidFill>
                  <a:srgbClr val="E6E1D6"/>
                </a:solidFill>
                <a:latin typeface="JetBrains Mono" pitchFamily="49" charset="0"/>
                <a:ea typeface="JetBrains Mono" pitchFamily="49" charset="-122"/>
                <a:cs typeface="JetBrains Mono" pitchFamily="49" charset="-120"/>
              </a:rPr>
              <a:t>, listCategories);</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router.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'/:id'</a:t>
            </a:r>
            <a:r>
              <a:rPr lang="en-US" sz="1200" dirty="0">
                <a:solidFill>
                  <a:srgbClr val="E6E1D6"/>
                </a:solidFill>
                <a:latin typeface="JetBrains Mono" pitchFamily="49" charset="0"/>
                <a:ea typeface="JetBrains Mono" pitchFamily="49" charset="-122"/>
                <a:cs typeface="JetBrains Mono" pitchFamily="49" charset="-120"/>
              </a:rPr>
              <a:t>, getOne);</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module.exports = router;</a:t>
            </a:r>
            <a:endParaRPr lang="en-US" sz="1200" dirty="0"/>
          </a:p>
        </p:txBody>
      </p:sp>
      <p:sp>
        <p:nvSpPr>
          <p:cNvPr id="7" name="Shape 5"/>
          <p:cNvSpPr/>
          <p:nvPr/>
        </p:nvSpPr>
        <p:spPr>
          <a:xfrm>
            <a:off x="6184863" y="1696641"/>
            <a:ext cx="5194350" cy="2288667"/>
          </a:xfrm>
          <a:prstGeom prst="roundRect">
            <a:avLst>
              <a:gd name="adj" fmla="val 4439"/>
            </a:avLst>
          </a:prstGeom>
          <a:solidFill>
            <a:srgbClr val="161B24"/>
          </a:solidFill>
          <a:ln/>
        </p:spPr>
      </p:sp>
      <p:sp>
        <p:nvSpPr>
          <p:cNvPr id="8" name="Text 6"/>
          <p:cNvSpPr/>
          <p:nvPr/>
        </p:nvSpPr>
        <p:spPr>
          <a:xfrm>
            <a:off x="6388013" y="1848991"/>
            <a:ext cx="4931690"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15E"/>
                </a:solidFill>
                <a:latin typeface="JetBrains Mono" pitchFamily="49" charset="0"/>
                <a:ea typeface="JetBrains Mono" pitchFamily="49" charset="-122"/>
                <a:cs typeface="JetBrains Mono" pitchFamily="49" charset="-120"/>
              </a:rPr>
              <a:t>routes/admin.js</a:t>
            </a:r>
            <a:endParaRPr lang="en-US" sz="1200" dirty="0"/>
          </a:p>
        </p:txBody>
      </p:sp>
      <p:sp>
        <p:nvSpPr>
          <p:cNvPr id="9" name="Text 7"/>
          <p:cNvSpPr/>
          <p:nvPr/>
        </p:nvSpPr>
        <p:spPr>
          <a:xfrm>
            <a:off x="6388013" y="2125861"/>
            <a:ext cx="4931690" cy="1732459"/>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router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'express'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Router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router.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F8A80"/>
                </a:solidFill>
                <a:latin typeface="JetBrains Mono" pitchFamily="49" charset="0"/>
                <a:ea typeface="JetBrains Mono" pitchFamily="49" charset="-122"/>
                <a:cs typeface="JetBrains Mono" pitchFamily="49" charset="-120"/>
              </a:rPr>
              <a:t>checkAdmin</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once, for all</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router.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'/stats'</a:t>
            </a:r>
            <a:r>
              <a:rPr lang="en-US" sz="1200" dirty="0">
                <a:solidFill>
                  <a:srgbClr val="E6E1D6"/>
                </a:solidFill>
                <a:latin typeface="JetBrains Mono" pitchFamily="49" charset="0"/>
                <a:ea typeface="JetBrains Mono" pitchFamily="49" charset="-122"/>
                <a:cs typeface="JetBrains Mono" pitchFamily="49" charset="-120"/>
              </a:rPr>
              <a:t>, stats);</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router.</a:t>
            </a:r>
            <a:r>
              <a:rPr lang="en-US" sz="1200" dirty="0">
                <a:solidFill>
                  <a:srgbClr val="82AAFF"/>
                </a:solidFill>
                <a:latin typeface="JetBrains Mono" pitchFamily="49" charset="0"/>
                <a:ea typeface="JetBrains Mono" pitchFamily="49" charset="-122"/>
                <a:cs typeface="JetBrains Mono" pitchFamily="49" charset="-120"/>
              </a:rPr>
              <a:t>post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addOne);</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router.</a:t>
            </a:r>
            <a:r>
              <a:rPr lang="en-US" sz="1200" dirty="0">
                <a:solidFill>
                  <a:srgbClr val="82AAFF"/>
                </a:solidFill>
                <a:latin typeface="JetBrains Mono" pitchFamily="49" charset="0"/>
                <a:ea typeface="JetBrains Mono" pitchFamily="49" charset="-122"/>
                <a:cs typeface="JetBrains Mono" pitchFamily="49" charset="-120"/>
              </a:rPr>
              <a:t>put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updateOne);</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router.</a:t>
            </a:r>
            <a:r>
              <a:rPr lang="en-US" sz="1200" dirty="0">
                <a:solidFill>
                  <a:srgbClr val="82AAFF"/>
                </a:solidFill>
                <a:latin typeface="JetBrains Mono" pitchFamily="49" charset="0"/>
                <a:ea typeface="JetBrains Mono" pitchFamily="49" charset="-122"/>
                <a:cs typeface="JetBrains Mono" pitchFamily="49" charset="-120"/>
              </a:rPr>
              <a:t>delete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removeOne);</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module.exports = router;</a:t>
            </a:r>
            <a:endParaRPr lang="en-US" sz="1200" dirty="0"/>
          </a:p>
        </p:txBody>
      </p:sp>
      <p:sp>
        <p:nvSpPr>
          <p:cNvPr id="10" name="Shape 8"/>
          <p:cNvSpPr/>
          <p:nvPr/>
        </p:nvSpPr>
        <p:spPr>
          <a:xfrm>
            <a:off x="819138" y="4121150"/>
            <a:ext cx="5181588" cy="1917663"/>
          </a:xfrm>
          <a:prstGeom prst="roundRect">
            <a:avLst>
              <a:gd name="adj" fmla="val 4967"/>
            </a:avLst>
          </a:prstGeom>
          <a:solidFill>
            <a:srgbClr val="0F2A1E"/>
          </a:solidFill>
          <a:ln w="12700">
            <a:solidFill>
              <a:srgbClr val="2E7D4F"/>
            </a:solidFill>
            <a:prstDash val="solid"/>
          </a:ln>
        </p:spPr>
      </p:sp>
      <p:sp>
        <p:nvSpPr>
          <p:cNvPr id="11" name="Text 9"/>
          <p:cNvSpPr/>
          <p:nvPr/>
        </p:nvSpPr>
        <p:spPr>
          <a:xfrm>
            <a:off x="1027844" y="4279057"/>
            <a:ext cx="4907100"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BD88F"/>
                </a:solidFill>
                <a:latin typeface="JetBrains Mono" pitchFamily="49" charset="0"/>
                <a:ea typeface="JetBrains Mono" pitchFamily="49" charset="-122"/>
                <a:cs typeface="JetBrains Mono" pitchFamily="49" charset="-120"/>
              </a:rPr>
              <a:t>app.js · the whole routing table</a:t>
            </a:r>
            <a:endParaRPr lang="en-US" sz="1200" dirty="0"/>
          </a:p>
        </p:txBody>
      </p:sp>
      <p:sp>
        <p:nvSpPr>
          <p:cNvPr id="12" name="Text 10"/>
          <p:cNvSpPr/>
          <p:nvPr/>
        </p:nvSpPr>
        <p:spPr>
          <a:xfrm>
            <a:off x="1027844" y="4555927"/>
            <a:ext cx="4907100" cy="939949"/>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products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'./routes/products'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admin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'./routes/admin'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7BD88F"/>
                </a:solidFill>
                <a:latin typeface="JetBrains Mono" pitchFamily="49" charset="0"/>
                <a:ea typeface="JetBrains Mono" pitchFamily="49" charset="-122"/>
                <a:cs typeface="JetBrains Mono" pitchFamily="49" charset="-120"/>
              </a:rPr>
              <a:t>'/api/products'</a:t>
            </a:r>
            <a:r>
              <a:rPr lang="en-US" sz="1200" dirty="0">
                <a:solidFill>
                  <a:srgbClr val="E6E1D6"/>
                </a:solidFill>
                <a:latin typeface="JetBrains Mono" pitchFamily="49" charset="0"/>
                <a:ea typeface="JetBrains Mono" pitchFamily="49" charset="-122"/>
                <a:cs typeface="JetBrains Mono" pitchFamily="49" charset="-120"/>
              </a:rPr>
              <a:t>, products);</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7BD88F"/>
                </a:solidFill>
                <a:latin typeface="JetBrains Mono" pitchFamily="49" charset="0"/>
                <a:ea typeface="JetBrains Mono" pitchFamily="49" charset="-122"/>
                <a:cs typeface="JetBrains Mono" pitchFamily="49" charset="-120"/>
              </a:rPr>
              <a:t>'/api/admin'</a:t>
            </a:r>
            <a:r>
              <a:rPr lang="en-US" sz="1200" dirty="0">
                <a:solidFill>
                  <a:srgbClr val="E6E1D6"/>
                </a:solidFill>
                <a:latin typeface="JetBrains Mono" pitchFamily="49" charset="0"/>
                <a:ea typeface="JetBrains Mono" pitchFamily="49" charset="-122"/>
                <a:cs typeface="JetBrains Mono" pitchFamily="49" charset="-120"/>
              </a:rPr>
              <a:t>, admin);</a:t>
            </a:r>
            <a:endParaRPr lang="en-US" sz="1200" dirty="0"/>
          </a:p>
        </p:txBody>
      </p:sp>
      <p:sp>
        <p:nvSpPr>
          <p:cNvPr id="13" name="Shape 11"/>
          <p:cNvSpPr/>
          <p:nvPr/>
        </p:nvSpPr>
        <p:spPr>
          <a:xfrm>
            <a:off x="6191213" y="4121150"/>
            <a:ext cx="5181588" cy="1917663"/>
          </a:xfrm>
          <a:prstGeom prst="roundRect">
            <a:avLst>
              <a:gd name="adj" fmla="val 4967"/>
            </a:avLst>
          </a:prstGeom>
          <a:solidFill>
            <a:srgbClr val="FDFCF8"/>
          </a:solidFill>
          <a:ln w="12700">
            <a:solidFill>
              <a:srgbClr val="DDD8CA"/>
            </a:solidFill>
            <a:prstDash val="solid"/>
          </a:ln>
        </p:spPr>
      </p:sp>
      <p:sp>
        <p:nvSpPr>
          <p:cNvPr id="14" name="Text 12"/>
          <p:cNvSpPr/>
          <p:nvPr/>
        </p:nvSpPr>
        <p:spPr>
          <a:xfrm>
            <a:off x="6399919" y="4541689"/>
            <a:ext cx="4907100" cy="2564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F2B"/>
                </a:solidFill>
                <a:latin typeface="Space Grotesk" pitchFamily="34" charset="0"/>
                <a:ea typeface="Space Grotesk" pitchFamily="34" charset="-122"/>
                <a:cs typeface="Space Grotesk" pitchFamily="34" charset="-120"/>
              </a:rPr>
              <a:t>Prefix in one place.</a:t>
            </a:r>
            <a:r>
              <a:rPr lang="en-US" sz="1300" dirty="0">
                <a:solidFill>
                  <a:srgbClr val="1A1F2B"/>
                </a:solidFill>
                <a:latin typeface="Space Grotesk" pitchFamily="34" charset="0"/>
                <a:ea typeface="Space Grotesk" pitchFamily="34" charset="-122"/>
                <a:cs typeface="Space Grotesk" pitchFamily="34" charset="-120"/>
              </a:rPr>
              <a:t> Paths inside are relative.</a:t>
            </a:r>
            <a:endParaRPr lang="en-US" sz="1300" dirty="0"/>
          </a:p>
        </p:txBody>
      </p:sp>
      <p:sp>
        <p:nvSpPr>
          <p:cNvPr id="15" name="Text 13"/>
          <p:cNvSpPr/>
          <p:nvPr/>
        </p:nvSpPr>
        <p:spPr>
          <a:xfrm>
            <a:off x="6399919" y="4848870"/>
            <a:ext cx="4907100" cy="48751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F2B"/>
                </a:solidFill>
                <a:latin typeface="Space Grotesk" pitchFamily="34" charset="0"/>
                <a:ea typeface="Space Grotesk" pitchFamily="34" charset="-122"/>
                <a:cs typeface="Space Grotesk" pitchFamily="34" charset="-120"/>
              </a:rPr>
              <a:t>Check in one place.</a:t>
            </a:r>
            <a:r>
              <a:rPr lang="en-US" sz="1300" dirty="0">
                <a:solidFill>
                  <a:srgbClr val="1A1F2B"/>
                </a:solidFill>
                <a:latin typeface="Space Grotesk" pitchFamily="34" charset="0"/>
                <a:ea typeface="Space Grotesk" pitchFamily="34" charset="-122"/>
                <a:cs typeface="Space Grotesk" pitchFamily="34" charset="-120"/>
              </a:rPr>
              <a:t> New admin routes are protected automatically.</a:t>
            </a:r>
            <a:endParaRPr lang="en-US" sz="1300" dirty="0"/>
          </a:p>
        </p:txBody>
      </p:sp>
      <p:sp>
        <p:nvSpPr>
          <p:cNvPr id="16" name="Text 14"/>
          <p:cNvSpPr/>
          <p:nvPr/>
        </p:nvSpPr>
        <p:spPr>
          <a:xfrm>
            <a:off x="6399919" y="5387132"/>
            <a:ext cx="4907100" cy="2564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F2B"/>
                </a:solidFill>
                <a:latin typeface="Space Grotesk" pitchFamily="34" charset="0"/>
                <a:ea typeface="Space Grotesk" pitchFamily="34" charset="-122"/>
                <a:cs typeface="Space Grotesk" pitchFamily="34" charset="-120"/>
              </a:rPr>
              <a:t>No app passed around.</a:t>
            </a:r>
            <a:r>
              <a:rPr lang="en-US" sz="1300" dirty="0">
                <a:solidFill>
                  <a:srgbClr val="1A1F2B"/>
                </a:solidFill>
                <a:latin typeface="Space Grotesk" pitchFamily="34" charset="0"/>
                <a:ea typeface="Space Grotesk" pitchFamily="34" charset="-122"/>
                <a:cs typeface="Space Grotesk" pitchFamily="34" charset="-120"/>
              </a:rPr>
              <a:t> Each file exports a unit.</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WATCH IT ROUTE</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app.js picks the router; the router picks the route</a:t>
            </a:r>
            <a:endParaRPr lang="en-US" sz="2800" dirty="0"/>
          </a:p>
        </p:txBody>
      </p:sp>
      <p:pic>
        <p:nvPicPr>
          <p:cNvPr id="4" name="Image 0" descr="web embed">    </p:cNvPr>
          <p:cNvPicPr>
            <a:picLocks noChangeAspect="1"/>
          </p:cNvPicPr>
          <p:nvPr/>
        </p:nvPicPr>
        <p:blipFill>
          <a:blip r:embed="rId1"/>
          <a:srcRect l="0" r="0" t="0" b="0"/>
          <a:stretch/>
        </p:blipFill>
        <p:spPr>
          <a:xfrm>
            <a:off x="812788" y="1701800"/>
            <a:ext cx="10566363" cy="4064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TYPE 2 · ROUTER.USE() IS SCOPED</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checkAdmin guards admin, and only admin</a:t>
            </a:r>
            <a:endParaRPr lang="en-US" sz="2800" dirty="0"/>
          </a:p>
        </p:txBody>
      </p:sp>
      <p:sp>
        <p:nvSpPr>
          <p:cNvPr id="4" name="Shape 2"/>
          <p:cNvSpPr/>
          <p:nvPr/>
        </p:nvSpPr>
        <p:spPr>
          <a:xfrm>
            <a:off x="812788" y="1696641"/>
            <a:ext cx="5588000" cy="2931480"/>
          </a:xfrm>
          <a:prstGeom prst="roundRect">
            <a:avLst>
              <a:gd name="adj" fmla="val 3466"/>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middleware/checkAdmin.js</a:t>
            </a:r>
            <a:endParaRPr lang="en-US" sz="1200" dirty="0"/>
          </a:p>
        </p:txBody>
      </p:sp>
      <p:sp>
        <p:nvSpPr>
          <p:cNvPr id="6" name="Text 4"/>
          <p:cNvSpPr/>
          <p:nvPr/>
        </p:nvSpPr>
        <p:spPr>
          <a:xfrm>
            <a:off x="1015938" y="2163961"/>
            <a:ext cx="5337150" cy="2311772"/>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function</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checkAdmin</a:t>
            </a:r>
            <a:r>
              <a:rPr lang="en-US" sz="1200" dirty="0">
                <a:solidFill>
                  <a:srgbClr val="E6E1D6"/>
                </a:solidFill>
                <a:latin typeface="JetBrains Mono" pitchFamily="49" charset="0"/>
                <a:ea typeface="JetBrains Mono" pitchFamily="49" charset="-122"/>
                <a:cs typeface="JetBrains Mono" pitchFamily="49" charset="-120"/>
              </a:rPr>
              <a:t>(req, res, next)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(req.query.token !== </a:t>
            </a:r>
            <a:r>
              <a:rPr lang="en-US" sz="1200" dirty="0">
                <a:solidFill>
                  <a:srgbClr val="C3E88D"/>
                </a:solidFill>
                <a:latin typeface="JetBrains Mono" pitchFamily="49" charset="0"/>
                <a:ea typeface="JetBrains Mono" pitchFamily="49" charset="-122"/>
                <a:cs typeface="JetBrains Mono" pitchFamily="49" charset="-120"/>
              </a:rPr>
              <a:t>'admin'</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return</a:t>
            </a: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401</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'baseUrl'</a:t>
            </a:r>
            <a:r>
              <a:rPr lang="en-US" sz="1200" dirty="0">
                <a:solidFill>
                  <a:srgbClr val="E6E1D6"/>
                </a:solidFill>
                <a:latin typeface="JetBrains Mono" pitchFamily="49" charset="0"/>
                <a:ea typeface="JetBrains Mono" pitchFamily="49" charset="-122"/>
                <a:cs typeface="JetBrains Mono" pitchFamily="49" charset="-120"/>
              </a:rPr>
              <a:t>, req.baseUrl);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'url '</a:t>
            </a:r>
            <a:r>
              <a:rPr lang="en-US" sz="1200" dirty="0">
                <a:solidFill>
                  <a:srgbClr val="E6E1D6"/>
                </a:solidFill>
                <a:latin typeface="JetBrains Mono" pitchFamily="49" charset="0"/>
                <a:ea typeface="JetBrains Mono" pitchFamily="49" charset="-122"/>
                <a:cs typeface="JetBrains Mono" pitchFamily="49" charset="-120"/>
              </a:rPr>
              <a:t>, req.url);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'orig '</a:t>
            </a:r>
            <a:r>
              <a:rPr lang="en-US" sz="1200" dirty="0">
                <a:solidFill>
                  <a:srgbClr val="E6E1D6"/>
                </a:solidFill>
                <a:latin typeface="JetBrains Mono" pitchFamily="49" charset="0"/>
                <a:ea typeface="JetBrains Mono" pitchFamily="49" charset="-122"/>
                <a:cs typeface="JetBrains Mono" pitchFamily="49" charset="-120"/>
              </a:rPr>
              <a:t>, req.originalUrl);</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module.exports = checkAdmin;</a:t>
            </a:r>
            <a:endParaRPr lang="en-US" sz="1200" dirty="0"/>
          </a:p>
        </p:txBody>
      </p:sp>
      <p:sp>
        <p:nvSpPr>
          <p:cNvPr id="7" name="Shape 5"/>
          <p:cNvSpPr/>
          <p:nvPr/>
        </p:nvSpPr>
        <p:spPr>
          <a:xfrm>
            <a:off x="6610350" y="1708150"/>
            <a:ext cx="4762450" cy="2247875"/>
          </a:xfrm>
          <a:prstGeom prst="roundRect">
            <a:avLst>
              <a:gd name="adj" fmla="val 4237"/>
            </a:avLst>
          </a:prstGeom>
          <a:solidFill>
            <a:srgbClr val="FDFCF8"/>
          </a:solidFill>
          <a:ln w="12700">
            <a:solidFill>
              <a:srgbClr val="D5D1C4"/>
            </a:solidFill>
            <a:prstDash val="solid"/>
          </a:ln>
        </p:spPr>
      </p:sp>
      <p:sp>
        <p:nvSpPr>
          <p:cNvPr id="8" name="Text 6"/>
          <p:cNvSpPr/>
          <p:nvPr/>
        </p:nvSpPr>
        <p:spPr>
          <a:xfrm>
            <a:off x="6793694" y="1866057"/>
            <a:ext cx="4527636" cy="235434"/>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4C5566"/>
                </a:solidFill>
                <a:latin typeface="Space Grotesk" pitchFamily="34" charset="0"/>
                <a:ea typeface="Space Grotesk" pitchFamily="34" charset="-122"/>
                <a:cs typeface="Space Grotesk" pitchFamily="34" charset="-120"/>
              </a:rPr>
              <a:t>BROWSER</a:t>
            </a:r>
            <a:endParaRPr lang="en-US" sz="1196"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05600" y="2164159"/>
          <a:ext cx="4383856" cy="1634009"/>
        </p:xfrm>
        <a:graphic>
          <a:graphicData uri="http://schemas.openxmlformats.org/drawingml/2006/table">
            <a:tbl>
              <a:tblPr/>
              <a:tblGrid>
                <a:gridCol w="2805668"/>
                <a:gridCol w="1578188"/>
              </a:tblGrid>
              <a:tr h="326802">
                <a:tc>
                  <a:txBody>
                    <a:bodyPr/>
                    <a:lstStyle/>
                    <a:p>
                      <a:pPr indent="0" marL="0">
                        <a:lnSpc>
                          <a:spcPts val="1654"/>
                        </a:lnSpc>
                        <a:buNone/>
                      </a:pPr>
                      <a:r>
                        <a:rPr lang="en-US" sz="1181" b="1" dirty="0">
                          <a:solidFill>
                            <a:srgbClr val="1A1F2B"/>
                          </a:solidFill>
                          <a:latin typeface="JetBrains Mono" pitchFamily="49" charset="0"/>
                          <a:ea typeface="JetBrains Mono" pitchFamily="49" charset="-122"/>
                          <a:cs typeface="JetBrains Mono" pitchFamily="49" charset="-120"/>
                        </a:rPr>
                        <a:t>You open</a:t>
                      </a:r>
                      <a:endParaRPr lang="en-US" sz="1181" dirty="0">
                        <a:latin typeface="JetBrains Mono" charset="0"/>
                        <a:ea typeface="JetBrains Mono" charset="0"/>
                        <a:cs typeface="JetBrains Mono" charset="0"/>
                      </a:endParaRPr>
                    </a:p>
                  </a:txBody>
                  <a:tcPr marL="52507" marR="52507" marT="52507" marB="52507"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indent="0" marL="0">
                        <a:lnSpc>
                          <a:spcPts val="1654"/>
                        </a:lnSpc>
                        <a:buNone/>
                      </a:pPr>
                      <a:r>
                        <a:rPr lang="en-US" sz="1181" b="1" dirty="0">
                          <a:solidFill>
                            <a:srgbClr val="1A1F2B"/>
                          </a:solidFill>
                          <a:latin typeface="JetBrains Mono" pitchFamily="49" charset="0"/>
                          <a:ea typeface="JetBrains Mono" pitchFamily="49" charset="-122"/>
                          <a:cs typeface="JetBrains Mono" pitchFamily="49" charset="-120"/>
                        </a:rPr>
                        <a:t>Result</a:t>
                      </a:r>
                      <a:endParaRPr lang="en-US" sz="1181" dirty="0">
                        <a:latin typeface="JetBrains Mono" charset="0"/>
                        <a:ea typeface="JetBrains Mono" charset="0"/>
                        <a:cs typeface="JetBrains Mono" charset="0"/>
                      </a:endParaRPr>
                    </a:p>
                  </a:txBody>
                  <a:tcPr marL="52507" marR="52507" marT="52507" marB="52507"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r>
              <a:tr h="326802">
                <a:tc>
                  <a:txBody>
                    <a:bodyPr/>
                    <a:lstStyle/>
                    <a:p>
                      <a:pPr indent="0" marL="0">
                        <a:lnSpc>
                          <a:spcPts val="1654"/>
                        </a:lnSpc>
                        <a:buNone/>
                      </a:pPr>
                      <a:r>
                        <a:rPr lang="en-US" sz="1181" dirty="0">
                          <a:solidFill>
                            <a:srgbClr val="1A1F2B"/>
                          </a:solidFill>
                          <a:latin typeface="JetBrains Mono" pitchFamily="49" charset="0"/>
                          <a:ea typeface="JetBrains Mono" pitchFamily="49" charset="-122"/>
                          <a:cs typeface="JetBrains Mono" pitchFamily="49" charset="-120"/>
                        </a:rPr>
                        <a:t>/api/products</a:t>
                      </a:r>
                      <a:endParaRPr lang="en-US" sz="1181" dirty="0">
                        <a:latin typeface="JetBrains Mono" charset="0"/>
                        <a:ea typeface="JetBrains Mono" charset="0"/>
                        <a:cs typeface="JetBrains Mono" charset="0"/>
                      </a:endParaRPr>
                    </a:p>
                  </a:txBody>
                  <a:tcPr marL="52507" marR="52507" marT="52507" marB="52507"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54"/>
                        </a:lnSpc>
                        <a:buNone/>
                      </a:pPr>
                      <a:r>
                        <a:rPr lang="en-US" sz="1181" dirty="0">
                          <a:solidFill>
                            <a:srgbClr val="1A1F2B"/>
                          </a:solidFill>
                          <a:latin typeface="JetBrains Mono" pitchFamily="49" charset="0"/>
                          <a:ea typeface="JetBrains Mono" pitchFamily="49" charset="-122"/>
                          <a:cs typeface="JetBrains Mono" pitchFamily="49" charset="-120"/>
                        </a:rPr>
                        <a:t>200 list</a:t>
                      </a:r>
                      <a:endParaRPr lang="en-US" sz="1181" dirty="0">
                        <a:latin typeface="JetBrains Mono" charset="0"/>
                        <a:ea typeface="JetBrains Mono" charset="0"/>
                        <a:cs typeface="JetBrains Mono" charset="0"/>
                      </a:endParaRPr>
                    </a:p>
                  </a:txBody>
                  <a:tcPr marL="52507" marR="52507" marT="52507" marB="52507"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26802">
                <a:tc>
                  <a:txBody>
                    <a:bodyPr/>
                    <a:lstStyle/>
                    <a:p>
                      <a:pPr indent="0" marL="0">
                        <a:lnSpc>
                          <a:spcPts val="1654"/>
                        </a:lnSpc>
                        <a:buNone/>
                      </a:pPr>
                      <a:r>
                        <a:rPr lang="en-US" sz="1181" dirty="0">
                          <a:solidFill>
                            <a:srgbClr val="1A1F2B"/>
                          </a:solidFill>
                          <a:latin typeface="JetBrains Mono" pitchFamily="49" charset="0"/>
                          <a:ea typeface="JetBrains Mono" pitchFamily="49" charset="-122"/>
                          <a:cs typeface="JetBrains Mono" pitchFamily="49" charset="-120"/>
                        </a:rPr>
                        <a:t>/api/products/5</a:t>
                      </a:r>
                      <a:endParaRPr lang="en-US" sz="1181" dirty="0">
                        <a:latin typeface="JetBrains Mono" charset="0"/>
                        <a:ea typeface="JetBrains Mono" charset="0"/>
                        <a:cs typeface="JetBrains Mono" charset="0"/>
                      </a:endParaRPr>
                    </a:p>
                  </a:txBody>
                  <a:tcPr marL="52507" marR="52507" marT="52507" marB="52507"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54"/>
                        </a:lnSpc>
                        <a:buNone/>
                      </a:pPr>
                      <a:r>
                        <a:rPr lang="en-US" sz="1181" dirty="0">
                          <a:solidFill>
                            <a:srgbClr val="1A1F2B"/>
                          </a:solidFill>
                          <a:latin typeface="JetBrains Mono" pitchFamily="49" charset="0"/>
                          <a:ea typeface="JetBrains Mono" pitchFamily="49" charset="-122"/>
                          <a:cs typeface="JetBrains Mono" pitchFamily="49" charset="-120"/>
                        </a:rPr>
                        <a:t>200 one</a:t>
                      </a:r>
                      <a:endParaRPr lang="en-US" sz="1181" dirty="0">
                        <a:latin typeface="JetBrains Mono" charset="0"/>
                        <a:ea typeface="JetBrains Mono" charset="0"/>
                        <a:cs typeface="JetBrains Mono" charset="0"/>
                      </a:endParaRPr>
                    </a:p>
                  </a:txBody>
                  <a:tcPr marL="52507" marR="52507" marT="52507" marB="52507"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26802">
                <a:tc>
                  <a:txBody>
                    <a:bodyPr/>
                    <a:lstStyle/>
                    <a:p>
                      <a:pPr indent="0" marL="0">
                        <a:lnSpc>
                          <a:spcPts val="1654"/>
                        </a:lnSpc>
                        <a:buNone/>
                      </a:pPr>
                      <a:r>
                        <a:rPr lang="en-US" sz="1181" dirty="0">
                          <a:solidFill>
                            <a:srgbClr val="1A1F2B"/>
                          </a:solidFill>
                          <a:latin typeface="JetBrains Mono" pitchFamily="49" charset="0"/>
                          <a:ea typeface="JetBrains Mono" pitchFamily="49" charset="-122"/>
                          <a:cs typeface="JetBrains Mono" pitchFamily="49" charset="-120"/>
                        </a:rPr>
                        <a:t>/api/admin/stats</a:t>
                      </a:r>
                      <a:endParaRPr lang="en-US" sz="1181" dirty="0">
                        <a:latin typeface="JetBrains Mono" charset="0"/>
                        <a:ea typeface="JetBrains Mono" charset="0"/>
                        <a:cs typeface="JetBrains Mono" charset="0"/>
                      </a:endParaRPr>
                    </a:p>
                  </a:txBody>
                  <a:tcPr marL="52507" marR="52507" marT="52507" marB="52507"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54"/>
                        </a:lnSpc>
                        <a:buNone/>
                      </a:pPr>
                      <a:r>
                        <a:rPr lang="en-US" sz="1181" dirty="0">
                          <a:solidFill>
                            <a:srgbClr val="1A1F2B"/>
                          </a:solidFill>
                          <a:latin typeface="JetBrains Mono" pitchFamily="49" charset="0"/>
                          <a:ea typeface="JetBrains Mono" pitchFamily="49" charset="-122"/>
                          <a:cs typeface="JetBrains Mono" pitchFamily="49" charset="-120"/>
                        </a:rPr>
                        <a:t>Unauthorized</a:t>
                      </a:r>
                      <a:endParaRPr lang="en-US" sz="1181" dirty="0">
                        <a:latin typeface="JetBrains Mono" charset="0"/>
                        <a:ea typeface="JetBrains Mono" charset="0"/>
                        <a:cs typeface="JetBrains Mono" charset="0"/>
                      </a:endParaRPr>
                    </a:p>
                  </a:txBody>
                  <a:tcPr marL="52507" marR="52507" marT="52507" marB="52507"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26802">
                <a:tc>
                  <a:txBody>
                    <a:bodyPr/>
                    <a:lstStyle/>
                    <a:p>
                      <a:pPr indent="0" marL="0">
                        <a:lnSpc>
                          <a:spcPts val="1654"/>
                        </a:lnSpc>
                        <a:buNone/>
                      </a:pPr>
                      <a:r>
                        <a:rPr lang="en-US" sz="1181" dirty="0">
                          <a:solidFill>
                            <a:srgbClr val="1A1F2B"/>
                          </a:solidFill>
                          <a:latin typeface="JetBrains Mono" pitchFamily="49" charset="0"/>
                          <a:ea typeface="JetBrains Mono" pitchFamily="49" charset="-122"/>
                          <a:cs typeface="JetBrains Mono" pitchFamily="49" charset="-120"/>
                        </a:rPr>
                        <a:t>…/stats?token=admin</a:t>
                      </a:r>
                      <a:endParaRPr lang="en-US" sz="1181" dirty="0">
                        <a:latin typeface="JetBrains Mono" charset="0"/>
                        <a:ea typeface="JetBrains Mono" charset="0"/>
                        <a:cs typeface="JetBrains Mono" charset="0"/>
                      </a:endParaRPr>
                    </a:p>
                  </a:txBody>
                  <a:tcPr marL="52507" marR="52507" marT="52507" marB="52507"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54"/>
                        </a:lnSpc>
                        <a:buNone/>
                      </a:pPr>
                      <a:r>
                        <a:rPr lang="en-US" sz="1181" dirty="0">
                          <a:solidFill>
                            <a:srgbClr val="1A1F2B"/>
                          </a:solidFill>
                          <a:latin typeface="JetBrains Mono" pitchFamily="49" charset="0"/>
                          <a:ea typeface="JetBrains Mono" pitchFamily="49" charset="-122"/>
                          <a:cs typeface="JetBrains Mono" pitchFamily="49" charset="-120"/>
                        </a:rPr>
                        <a:t>200 stats</a:t>
                      </a:r>
                      <a:endParaRPr lang="en-US" sz="1181" dirty="0">
                        <a:latin typeface="JetBrains Mono" charset="0"/>
                        <a:ea typeface="JetBrains Mono" charset="0"/>
                        <a:cs typeface="JetBrains Mono" charset="0"/>
                      </a:endParaRPr>
                    </a:p>
                  </a:txBody>
                  <a:tcPr marL="52507" marR="52507" marT="52507" marB="52507"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10" name="Shape 7"/>
          <p:cNvSpPr/>
          <p:nvPr/>
        </p:nvSpPr>
        <p:spPr>
          <a:xfrm>
            <a:off x="6604000" y="4114800"/>
            <a:ext cx="4775150" cy="1930363"/>
          </a:xfrm>
          <a:prstGeom prst="roundRect">
            <a:avLst>
              <a:gd name="adj" fmla="val 5263"/>
            </a:avLst>
          </a:prstGeom>
          <a:solidFill>
            <a:srgbClr val="0E1117"/>
          </a:solidFill>
          <a:ln/>
        </p:spPr>
      </p:sp>
      <p:sp>
        <p:nvSpPr>
          <p:cNvPr id="11" name="Text 8"/>
          <p:cNvSpPr/>
          <p:nvPr/>
        </p:nvSpPr>
        <p:spPr>
          <a:xfrm>
            <a:off x="6781788" y="4267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CONSOLE · LAST REQUEST</a:t>
            </a:r>
            <a:endParaRPr lang="en-US" sz="1200" dirty="0"/>
          </a:p>
        </p:txBody>
      </p:sp>
      <p:sp>
        <p:nvSpPr>
          <p:cNvPr id="12" name="Text 9"/>
          <p:cNvSpPr/>
          <p:nvPr/>
        </p:nvSpPr>
        <p:spPr>
          <a:xfrm>
            <a:off x="6781788" y="4556671"/>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baseUrl /api/admin</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url /stats?token=admin</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orig /api/admin/stats?token=admin</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TYPE 2 · NEXT('ROUTER')</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Leave the whole router at once</a:t>
            </a:r>
            <a:endParaRPr lang="en-US" sz="2800" dirty="0"/>
          </a:p>
        </p:txBody>
      </p:sp>
      <p:sp>
        <p:nvSpPr>
          <p:cNvPr id="4" name="Shape 2"/>
          <p:cNvSpPr/>
          <p:nvPr/>
        </p:nvSpPr>
        <p:spPr>
          <a:xfrm>
            <a:off x="812788" y="1696641"/>
            <a:ext cx="5588000" cy="3297225"/>
          </a:xfrm>
          <a:prstGeom prst="roundRect">
            <a:avLst>
              <a:gd name="adj" fmla="val 3081"/>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BD88F"/>
                </a:solidFill>
                <a:latin typeface="Space Grotesk" pitchFamily="34" charset="0"/>
                <a:ea typeface="Space Grotesk" pitchFamily="34" charset="-122"/>
                <a:cs typeface="Space Grotesk" pitchFamily="34" charset="-120"/>
              </a:rPr>
              <a:t>With Router · from the Express guide</a:t>
            </a:r>
            <a:endParaRPr lang="en-US" sz="1200" dirty="0"/>
          </a:p>
        </p:txBody>
      </p:sp>
      <p:sp>
        <p:nvSpPr>
          <p:cNvPr id="6" name="Text 4"/>
          <p:cNvSpPr/>
          <p:nvPr/>
        </p:nvSpPr>
        <p:spPr>
          <a:xfrm>
            <a:off x="1015938" y="2163961"/>
            <a:ext cx="5337150" cy="2677517"/>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router = express.</a:t>
            </a:r>
            <a:r>
              <a:rPr lang="en-US" sz="1200" dirty="0">
                <a:solidFill>
                  <a:srgbClr val="82AAFF"/>
                </a:solidFill>
                <a:latin typeface="JetBrains Mono" pitchFamily="49" charset="0"/>
                <a:ea typeface="JetBrains Mono" pitchFamily="49" charset="-122"/>
                <a:cs typeface="JetBrains Mono" pitchFamily="49" charset="-120"/>
              </a:rPr>
              <a:t>Router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router.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next) =&gt;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(!req.headers[</a:t>
            </a:r>
            <a:r>
              <a:rPr lang="en-US" sz="1200" dirty="0">
                <a:solidFill>
                  <a:srgbClr val="C3E88D"/>
                </a:solidFill>
                <a:latin typeface="JetBrains Mono" pitchFamily="49" charset="0"/>
                <a:ea typeface="JetBrains Mono" pitchFamily="49" charset="-122"/>
                <a:cs typeface="JetBrains Mono" pitchFamily="49" charset="-120"/>
              </a:rPr>
              <a:t>'x-auth'</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return</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BD88F"/>
                </a:solidFill>
                <a:latin typeface="JetBrains Mono" pitchFamily="49" charset="0"/>
                <a:ea typeface="JetBrains Mono" pitchFamily="49" charset="-122"/>
                <a:cs typeface="JetBrains Mono" pitchFamily="49" charset="-120"/>
              </a:rPr>
              <a:t>next('router')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router.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'/user/:id'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'hello, user!'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'/admin'</a:t>
            </a:r>
            <a:r>
              <a:rPr lang="en-US" sz="1200" dirty="0">
                <a:solidFill>
                  <a:srgbClr val="E6E1D6"/>
                </a:solidFill>
                <a:latin typeface="JetBrains Mono" pitchFamily="49" charset="0"/>
                <a:ea typeface="JetBrains Mono" pitchFamily="49" charset="-122"/>
                <a:cs typeface="JetBrains Mono" pitchFamily="49" charset="-120"/>
              </a:rPr>
              <a:t>, router, (req, res) =&gt;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401</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anything that fell out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04000" y="1701800"/>
            <a:ext cx="4775150" cy="2260575"/>
          </a:xfrm>
          <a:prstGeom prst="roundRect">
            <a:avLst>
              <a:gd name="adj" fmla="val 4494"/>
            </a:avLst>
          </a:prstGeom>
          <a:solidFill>
            <a:srgbClr val="161B24"/>
          </a:solidFill>
          <a:ln/>
        </p:spPr>
      </p:sp>
      <p:sp>
        <p:nvSpPr>
          <p:cNvPr id="8" name="Text 6"/>
          <p:cNvSpPr/>
          <p:nvPr/>
        </p:nvSpPr>
        <p:spPr>
          <a:xfrm>
            <a:off x="6781788" y="1854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C0CC"/>
                </a:solidFill>
                <a:latin typeface="Space Grotesk" pitchFamily="34" charset="0"/>
                <a:ea typeface="Space Grotesk" pitchFamily="34" charset="-122"/>
                <a:cs typeface="Space Grotesk" pitchFamily="34" charset="-120"/>
              </a:rPr>
              <a:t>Same result, without Router</a:t>
            </a:r>
            <a:endParaRPr lang="en-US" sz="1200" dirty="0"/>
          </a:p>
        </p:txBody>
      </p:sp>
      <p:sp>
        <p:nvSpPr>
          <p:cNvPr id="9" name="Text 7"/>
          <p:cNvSpPr/>
          <p:nvPr/>
        </p:nvSpPr>
        <p:spPr>
          <a:xfrm>
            <a:off x="6781788" y="2143671"/>
            <a:ext cx="4552162" cy="1572468"/>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'/admin/user/:id'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(!req.headers[</a:t>
            </a:r>
            <a:r>
              <a:rPr lang="en-US" sz="1200" dirty="0">
                <a:solidFill>
                  <a:srgbClr val="C3E88D"/>
                </a:solidFill>
                <a:latin typeface="JetBrains Mono" pitchFamily="49" charset="0"/>
                <a:ea typeface="JetBrains Mono" pitchFamily="49" charset="-122"/>
                <a:cs typeface="JetBrains Mono" pitchFamily="49" charset="-120"/>
              </a:rPr>
              <a:t>'x-auth'</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return</a:t>
            </a: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401</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'hello, user!'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7F8796"/>
                </a:solidFill>
                <a:latin typeface="JetBrains Mono" pitchFamily="49" charset="0"/>
                <a:ea typeface="JetBrains Mono" pitchFamily="49" charset="-122"/>
                <a:cs typeface="JetBrains Mono" pitchFamily="49" charset="-120"/>
              </a:rPr>
              <a:t>// fine for 1 route; repeat for 20?</a:t>
            </a:r>
            <a:endParaRPr lang="en-US" sz="1200" dirty="0"/>
          </a:p>
        </p:txBody>
      </p:sp>
      <p:sp>
        <p:nvSpPr>
          <p:cNvPr id="10" name="Shape 8"/>
          <p:cNvSpPr/>
          <p:nvPr/>
        </p:nvSpPr>
        <p:spPr>
          <a:xfrm>
            <a:off x="6604000" y="4114800"/>
            <a:ext cx="4775150" cy="1930363"/>
          </a:xfrm>
          <a:prstGeom prst="roundRect">
            <a:avLst>
              <a:gd name="adj" fmla="val 5263"/>
            </a:avLst>
          </a:prstGeom>
          <a:solidFill>
            <a:srgbClr val="0E1117"/>
          </a:solidFill>
          <a:ln/>
        </p:spPr>
      </p:sp>
      <p:sp>
        <p:nvSpPr>
          <p:cNvPr id="11" name="Text 9"/>
          <p:cNvSpPr/>
          <p:nvPr/>
        </p:nvSpPr>
        <p:spPr>
          <a:xfrm>
            <a:off x="6781788" y="4267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TERMINAL</a:t>
            </a:r>
            <a:endParaRPr lang="en-US" sz="1200" dirty="0"/>
          </a:p>
        </p:txBody>
      </p:sp>
      <p:sp>
        <p:nvSpPr>
          <p:cNvPr id="12" name="Text 10"/>
          <p:cNvSpPr/>
          <p:nvPr/>
        </p:nvSpPr>
        <p:spPr>
          <a:xfrm>
            <a:off x="6781788" y="4544020"/>
            <a:ext cx="4552162" cy="1130449"/>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7BD88F"/>
                </a:solidFill>
                <a:latin typeface="JetBrains Mono" pitchFamily="49" charset="0"/>
                <a:ea typeface="JetBrains Mono" pitchFamily="49" charset="-122"/>
                <a:cs typeface="JetBrains Mono" pitchFamily="49" charset="-120"/>
              </a:rPr>
              <a:t>$</a:t>
            </a:r>
            <a:r>
              <a:rPr lang="en-US" sz="1200" dirty="0">
                <a:solidFill>
                  <a:srgbClr val="D7DCE2"/>
                </a:solidFill>
                <a:latin typeface="JetBrains Mono" pitchFamily="49" charset="0"/>
                <a:ea typeface="JetBrains Mono" pitchFamily="49" charset="-122"/>
                <a:cs typeface="JetBrains Mono" pitchFamily="49" charset="-120"/>
              </a:rPr>
              <a:t> curl localhost:11000/admin/user/7</a:t>
            </a:r>
            <a:endParaRPr lang="en-US" sz="1200" dirty="0"/>
          </a:p>
          <a:p>
            <a:pPr algn="l" indent="0" marL="0">
              <a:lnSpc>
                <a:spcPts val="1740"/>
              </a:lnSpc>
              <a:buNone/>
            </a:pPr>
            <a:r>
              <a:rPr lang="en-US" sz="1200" dirty="0">
                <a:solidFill>
                  <a:srgbClr val="D7DCE2"/>
                </a:solidFill>
                <a:latin typeface="JetBrains Mono" pitchFamily="49" charset="0"/>
                <a:ea typeface="JetBrains Mono" pitchFamily="49" charset="-122"/>
                <a:cs typeface="JetBrains Mono" pitchFamily="49" charset="-120"/>
              </a:rPr>
              <a:t>Unauthorized</a:t>
            </a:r>
            <a:endParaRPr lang="en-US" sz="1200" dirty="0"/>
          </a:p>
          <a:p>
            <a:pPr algn="l" indent="0" marL="0">
              <a:lnSpc>
                <a:spcPts val="1740"/>
              </a:lnSpc>
              <a:buNone/>
            </a:pPr>
            <a:r>
              <a:rPr lang="en-US" sz="1200" dirty="0">
                <a:solidFill>
                  <a:srgbClr val="7BD88F"/>
                </a:solidFill>
                <a:latin typeface="JetBrains Mono" pitchFamily="49" charset="0"/>
                <a:ea typeface="JetBrains Mono" pitchFamily="49" charset="-122"/>
                <a:cs typeface="JetBrains Mono" pitchFamily="49" charset="-120"/>
              </a:rPr>
              <a:t>$</a:t>
            </a:r>
            <a:r>
              <a:rPr lang="en-US" sz="1200" dirty="0">
                <a:solidFill>
                  <a:srgbClr val="D7DCE2"/>
                </a:solidFill>
                <a:latin typeface="JetBrains Mono" pitchFamily="49" charset="0"/>
                <a:ea typeface="JetBrains Mono" pitchFamily="49" charset="-122"/>
                <a:cs typeface="JetBrains Mono" pitchFamily="49" charset="-120"/>
              </a:rPr>
              <a:t> curl -H "x-auth: 1" localhost:11000/admin/user/7</a:t>
            </a:r>
            <a:endParaRPr lang="en-US" sz="1200" dirty="0"/>
          </a:p>
          <a:p>
            <a:pPr algn="l" indent="0" marL="0">
              <a:lnSpc>
                <a:spcPts val="1740"/>
              </a:lnSpc>
              <a:buNone/>
            </a:pPr>
            <a:r>
              <a:rPr lang="en-US" sz="1200" dirty="0">
                <a:solidFill>
                  <a:srgbClr val="D7DCE2"/>
                </a:solidFill>
                <a:latin typeface="JetBrains Mono" pitchFamily="49" charset="0"/>
                <a:ea typeface="JetBrains Mono" pitchFamily="49" charset="-122"/>
                <a:cs typeface="JetBrains Mono" pitchFamily="49" charset="-120"/>
              </a:rPr>
              <a:t>hello, user!</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A"/>
                </a:solidFill>
                <a:latin typeface="Space Grotesk" pitchFamily="34" charset="0"/>
                <a:ea typeface="Space Grotesk" pitchFamily="34" charset="-122"/>
                <a:cs typeface="Space Grotesk" pitchFamily="34" charset="-120"/>
              </a:rPr>
              <a:t>TYPE 3 · ERROR-HANDLING · THE PROBLEM</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Throw an error and Express answers for you</a:t>
            </a:r>
            <a:endParaRPr lang="en-US" sz="2800" dirty="0"/>
          </a:p>
        </p:txBody>
      </p:sp>
      <p:sp>
        <p:nvSpPr>
          <p:cNvPr id="4" name="Shape 2"/>
          <p:cNvSpPr/>
          <p:nvPr/>
        </p:nvSpPr>
        <p:spPr>
          <a:xfrm>
            <a:off x="812788" y="1696641"/>
            <a:ext cx="5588000" cy="2931480"/>
          </a:xfrm>
          <a:prstGeom prst="roundRect">
            <a:avLst>
              <a:gd name="adj" fmla="val 3466"/>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 · no error handler yet</a:t>
            </a:r>
            <a:endParaRPr lang="en-US" sz="1200" dirty="0"/>
          </a:p>
        </p:txBody>
      </p:sp>
      <p:sp>
        <p:nvSpPr>
          <p:cNvPr id="6" name="Text 4"/>
          <p:cNvSpPr/>
          <p:nvPr/>
        </p:nvSpPr>
        <p:spPr>
          <a:xfrm>
            <a:off x="1015938" y="2163961"/>
            <a:ext cx="5337150" cy="2311772"/>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 = </a:t>
            </a:r>
            <a:r>
              <a:rPr lang="en-US" sz="1200" dirty="0">
                <a:solidFill>
                  <a:srgbClr val="82AAFF"/>
                </a:solidFill>
                <a:latin typeface="JetBrains Mono" pitchFamily="49" charset="0"/>
                <a:ea typeface="JetBrains Mono" pitchFamily="49" charset="-122"/>
                <a:cs typeface="JetBrains Mono" pitchFamily="49" charset="-120"/>
              </a:rPr>
              <a:t>findProduct</a:t>
            </a:r>
            <a:r>
              <a:rPr lang="en-US" sz="1200" dirty="0">
                <a:solidFill>
                  <a:srgbClr val="E6E1D6"/>
                </a:solidFill>
                <a:latin typeface="JetBrains Mono" pitchFamily="49" charset="0"/>
                <a:ea typeface="JetBrains Mono" pitchFamily="49" charset="-122"/>
                <a:cs typeface="JetBrains Mono" pitchFamily="49" charset="-120"/>
              </a:rPr>
              <a:t>(req.params.id);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(!p)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8A80"/>
                </a:solidFill>
                <a:latin typeface="JetBrains Mono" pitchFamily="49" charset="0"/>
                <a:ea typeface="JetBrains Mono" pitchFamily="49" charset="-122"/>
                <a:cs typeface="JetBrains Mono" pitchFamily="49" charset="-120"/>
              </a:rPr>
              <a:t>throw new Error('Product not found');</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(p);</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Express catches it and uses its own</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built-in error handler</a:t>
            </a:r>
            <a:endParaRPr lang="en-US" sz="1200" dirty="0"/>
          </a:p>
        </p:txBody>
      </p:sp>
      <p:sp>
        <p:nvSpPr>
          <p:cNvPr id="7" name="Shape 5"/>
          <p:cNvSpPr/>
          <p:nvPr/>
        </p:nvSpPr>
        <p:spPr>
          <a:xfrm>
            <a:off x="6610350" y="1708150"/>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706"/>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67"/>
            <a:ext cx="101575" cy="101575"/>
          </a:xfrm>
          <a:prstGeom prst="roundRect">
            <a:avLst>
              <a:gd name="adj" fmla="val 50000"/>
            </a:avLst>
          </a:prstGeom>
          <a:solidFill>
            <a:srgbClr val="E0675A"/>
          </a:solidFill>
          <a:ln/>
        </p:spPr>
      </p:sp>
      <p:sp>
        <p:nvSpPr>
          <p:cNvPr id="10" name="Shape 8"/>
          <p:cNvSpPr/>
          <p:nvPr/>
        </p:nvSpPr>
        <p:spPr>
          <a:xfrm>
            <a:off x="6907981" y="1883767"/>
            <a:ext cx="101575" cy="101575"/>
          </a:xfrm>
          <a:prstGeom prst="roundRect">
            <a:avLst>
              <a:gd name="adj" fmla="val 50000"/>
            </a:avLst>
          </a:prstGeom>
          <a:solidFill>
            <a:srgbClr val="E7B54A"/>
          </a:solidFill>
          <a:ln/>
        </p:spPr>
      </p:sp>
      <p:sp>
        <p:nvSpPr>
          <p:cNvPr id="11" name="Shape 9"/>
          <p:cNvSpPr/>
          <p:nvPr/>
        </p:nvSpPr>
        <p:spPr>
          <a:xfrm>
            <a:off x="7073057" y="1883767"/>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localhost:11000/products/99</a:t>
            </a:r>
            <a:endParaRPr lang="en-US" sz="1200" dirty="0"/>
          </a:p>
        </p:txBody>
      </p:sp>
      <p:sp>
        <p:nvSpPr>
          <p:cNvPr id="13" name="Text 11"/>
          <p:cNvSpPr/>
          <p:nvPr/>
        </p:nvSpPr>
        <p:spPr>
          <a:xfrm>
            <a:off x="6819057" y="2282527"/>
            <a:ext cx="4475388" cy="688429"/>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A1F2B"/>
                </a:solidFill>
                <a:latin typeface="JetBrains Mono" pitchFamily="49" charset="0"/>
                <a:ea typeface="JetBrains Mono" pitchFamily="49" charset="-122"/>
                <a:cs typeface="JetBrains Mono" pitchFamily="49" charset="-120"/>
              </a:rPr>
              <a:t>Error: Product not found</a:t>
            </a:r>
            <a:endParaRPr lang="en-US" sz="1200" dirty="0"/>
          </a:p>
          <a:p>
            <a:pPr algn="l" indent="0" marL="0">
              <a:lnSpc>
                <a:spcPts val="1740"/>
              </a:lnSpc>
              <a:buNone/>
            </a:pPr>
            <a:r>
              <a:rPr lang="en-US" sz="1200" dirty="0">
                <a:solidFill>
                  <a:srgbClr val="1A1F2B"/>
                </a:solidFill>
                <a:latin typeface="JetBrains Mono" pitchFamily="49" charset="0"/>
                <a:ea typeface="JetBrains Mono" pitchFamily="49" charset="-122"/>
                <a:cs typeface="JetBrains Mono" pitchFamily="49" charset="-120"/>
              </a:rPr>
              <a:t>    at /home/you/store/server.js:14:11</a:t>
            </a:r>
            <a:endParaRPr lang="en-US" sz="1200" dirty="0"/>
          </a:p>
          <a:p>
            <a:pPr algn="l" indent="0" marL="0">
              <a:lnSpc>
                <a:spcPts val="1740"/>
              </a:lnSpc>
              <a:buNone/>
            </a:pPr>
            <a:r>
              <a:rPr lang="en-US" sz="1200" dirty="0">
                <a:solidFill>
                  <a:srgbClr val="1A1F2B"/>
                </a:solidFill>
                <a:latin typeface="JetBrains Mono" pitchFamily="49" charset="0"/>
                <a:ea typeface="JetBrains Mono" pitchFamily="49" charset="-122"/>
                <a:cs typeface="JetBrains Mono" pitchFamily="49" charset="-120"/>
              </a:rPr>
              <a:t>    at Layer.handle …</a:t>
            </a:r>
            <a:endParaRPr lang="en-US" sz="1200" dirty="0"/>
          </a:p>
        </p:txBody>
      </p:sp>
      <p:sp>
        <p:nvSpPr>
          <p:cNvPr id="14" name="Text 12"/>
          <p:cNvSpPr/>
          <p:nvPr/>
        </p:nvSpPr>
        <p:spPr>
          <a:xfrm>
            <a:off x="6819057" y="2983607"/>
            <a:ext cx="4475388"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462A"/>
                </a:solidFill>
                <a:latin typeface="Space Grotesk" pitchFamily="34" charset="0"/>
                <a:ea typeface="Space Grotesk" pitchFamily="34" charset="-122"/>
                <a:cs typeface="Space Grotesk" pitchFamily="34" charset="-120"/>
              </a:rPr>
              <a:t>Status 500 · your file paths, shown to anyone</a:t>
            </a:r>
            <a:endParaRPr lang="en-US" sz="1200" dirty="0"/>
          </a:p>
        </p:txBody>
      </p:sp>
      <p:sp>
        <p:nvSpPr>
          <p:cNvPr id="15" name="Shape 13"/>
          <p:cNvSpPr/>
          <p:nvPr/>
        </p:nvSpPr>
        <p:spPr>
          <a:xfrm>
            <a:off x="6604000" y="3733800"/>
            <a:ext cx="4775150" cy="2311363"/>
          </a:xfrm>
          <a:prstGeom prst="roundRect">
            <a:avLst>
              <a:gd name="adj" fmla="val 4396"/>
            </a:avLst>
          </a:prstGeom>
          <a:solidFill>
            <a:srgbClr val="0E1117"/>
          </a:solidFill>
          <a:ln/>
        </p:spPr>
      </p:sp>
      <p:sp>
        <p:nvSpPr>
          <p:cNvPr id="16" name="Text 14"/>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7" name="Text 15"/>
          <p:cNvSpPr/>
          <p:nvPr/>
        </p:nvSpPr>
        <p:spPr>
          <a:xfrm>
            <a:off x="6781788" y="4175671"/>
            <a:ext cx="4552162"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8A80"/>
                </a:solidFill>
                <a:latin typeface="JetBrains Mono" pitchFamily="49" charset="0"/>
                <a:ea typeface="JetBrains Mono" pitchFamily="49" charset="-122"/>
                <a:cs typeface="JetBrains Mono" pitchFamily="49" charset="-120"/>
              </a:rPr>
              <a:t>Error: Product not found</a:t>
            </a:r>
            <a:endParaRPr lang="en-US" sz="1200" dirty="0"/>
          </a:p>
          <a:p>
            <a:pPr algn="l" indent="0" marL="0">
              <a:lnSpc>
                <a:spcPts val="1800"/>
              </a:lnSpc>
              <a:buNone/>
            </a:pPr>
            <a:r>
              <a:rPr lang="en-US" sz="1200" dirty="0">
                <a:solidFill>
                  <a:srgbClr val="FF8A80"/>
                </a:solidFill>
                <a:latin typeface="JetBrains Mono" pitchFamily="49" charset="0"/>
                <a:ea typeface="JetBrains Mono" pitchFamily="49" charset="-122"/>
                <a:cs typeface="JetBrains Mono" pitchFamily="49" charset="-120"/>
              </a:rPr>
              <a:t>    at /home/you/store/server.js:14:11</a:t>
            </a:r>
            <a:endParaRPr lang="en-US" sz="1200" dirty="0"/>
          </a:p>
          <a:p>
            <a:pPr algn="l" indent="0" marL="0">
              <a:lnSpc>
                <a:spcPts val="1800"/>
              </a:lnSpc>
              <a:buNone/>
            </a:pPr>
            <a:r>
              <a:rPr lang="en-US" sz="1200" dirty="0">
                <a:solidFill>
                  <a:srgbClr val="FF8A80"/>
                </a:solidFill>
                <a:latin typeface="JetBrains Mono" pitchFamily="49" charset="0"/>
                <a:ea typeface="JetBrains Mono" pitchFamily="49" charset="-122"/>
                <a:cs typeface="JetBrains Mono" pitchFamily="49" charset="-120"/>
              </a:rPr>
              <a:t>    at Layer.handle …</a:t>
            </a:r>
            <a:endParaRPr lang="en-US" sz="1200" dirty="0"/>
          </a:p>
        </p:txBody>
      </p:sp>
      <p:sp>
        <p:nvSpPr>
          <p:cNvPr id="18" name="Text 16"/>
          <p:cNvSpPr/>
          <p:nvPr/>
        </p:nvSpPr>
        <p:spPr>
          <a:xfrm>
            <a:off x="6781788" y="4937720"/>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The server keeps running. The client just gets an ugly HTML page and the wrong status (should be 404).</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A"/>
                </a:solidFill>
                <a:latin typeface="Space Grotesk" pitchFamily="34" charset="0"/>
                <a:ea typeface="Space Grotesk" pitchFamily="34" charset="-122"/>
                <a:cs typeface="Space Grotesk" pitchFamily="34" charset="-120"/>
              </a:rPr>
              <a:t>TYPE 3 · YOUR OWN ERROR HANDLER</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Four arguments: (err, req, res, next)</a:t>
            </a:r>
            <a:endParaRPr lang="en-US" sz="2800" dirty="0"/>
          </a:p>
        </p:txBody>
      </p:sp>
      <p:sp>
        <p:nvSpPr>
          <p:cNvPr id="4" name="Shape 2"/>
          <p:cNvSpPr/>
          <p:nvPr/>
        </p:nvSpPr>
        <p:spPr>
          <a:xfrm>
            <a:off x="812788" y="1696641"/>
            <a:ext cx="5588000" cy="4181264"/>
          </a:xfrm>
          <a:prstGeom prst="roundRect">
            <a:avLst>
              <a:gd name="adj" fmla="val 2430"/>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3561556"/>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'/products/:id'</a:t>
            </a:r>
            <a:r>
              <a:rPr lang="en-US" sz="1200" dirty="0">
                <a:solidFill>
                  <a:srgbClr val="E6E1D6"/>
                </a:solidFill>
                <a:latin typeface="JetBrains Mono" pitchFamily="49" charset="0"/>
                <a:ea typeface="JetBrains Mono" pitchFamily="49" charset="-122"/>
                <a:cs typeface="JetBrains Mono" pitchFamily="49" charset="-120"/>
              </a:rPr>
              <a:t>, (req, res, next) =&gt;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 = </a:t>
            </a:r>
            <a:r>
              <a:rPr lang="en-US" sz="1200" dirty="0">
                <a:solidFill>
                  <a:srgbClr val="82AAFF"/>
                </a:solidFill>
                <a:latin typeface="JetBrains Mono" pitchFamily="49" charset="0"/>
                <a:ea typeface="JetBrains Mono" pitchFamily="49" charset="-122"/>
                <a:cs typeface="JetBrains Mono" pitchFamily="49" charset="-120"/>
              </a:rPr>
              <a:t>findProduct</a:t>
            </a:r>
            <a:r>
              <a:rPr lang="en-US" sz="1200" dirty="0">
                <a:solidFill>
                  <a:srgbClr val="E6E1D6"/>
                </a:solidFill>
                <a:latin typeface="JetBrains Mono" pitchFamily="49" charset="0"/>
                <a:ea typeface="JetBrains Mono" pitchFamily="49" charset="-122"/>
                <a:cs typeface="JetBrains Mono" pitchFamily="49" charset="-120"/>
              </a:rPr>
              <a:t>(req.params.id);</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if</a:t>
            </a:r>
            <a:r>
              <a:rPr lang="en-US" sz="1200" dirty="0">
                <a:solidFill>
                  <a:srgbClr val="E6E1D6"/>
                </a:solidFill>
                <a:latin typeface="JetBrains Mono" pitchFamily="49" charset="0"/>
                <a:ea typeface="JetBrains Mono" pitchFamily="49" charset="-122"/>
                <a:cs typeface="JetBrains Mono" pitchFamily="49" charset="-120"/>
              </a:rPr>
              <a:t> (!p)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err = </a:t>
            </a:r>
            <a:r>
              <a:rPr lang="en-US" sz="1200" dirty="0">
                <a:solidFill>
                  <a:srgbClr val="C792EA"/>
                </a:solidFill>
                <a:latin typeface="JetBrains Mono" pitchFamily="49" charset="0"/>
                <a:ea typeface="JetBrains Mono" pitchFamily="49" charset="-122"/>
                <a:cs typeface="JetBrains Mono" pitchFamily="49" charset="-120"/>
              </a:rPr>
              <a:t>new</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Error</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 not found'</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err.status = </a:t>
            </a:r>
            <a:r>
              <a:rPr lang="en-US" sz="1200" dirty="0">
                <a:solidFill>
                  <a:srgbClr val="F78C6C"/>
                </a:solidFill>
                <a:latin typeface="JetBrains Mono" pitchFamily="49" charset="0"/>
                <a:ea typeface="JetBrains Mono" pitchFamily="49" charset="-122"/>
                <a:cs typeface="JetBrains Mono" pitchFamily="49" charset="-120"/>
              </a:rPr>
              <a:t>404</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return</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F8A80"/>
                </a:solidFill>
                <a:latin typeface="JetBrains Mono" pitchFamily="49" charset="0"/>
                <a:ea typeface="JetBrains Mono" pitchFamily="49" charset="-122"/>
                <a:cs typeface="JetBrains Mono" pitchFamily="49" charset="-120"/>
              </a:rPr>
              <a:t>next(err)</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 jump to the handler</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(p);</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endParaRPr lang="en-US" sz="1200" dirty="0"/>
          </a:p>
          <a:p>
            <a:pPr algn="l" indent="0" marL="0">
              <a:lnSpc>
                <a:spcPts val="1740"/>
              </a:lnSpc>
              <a:buNone/>
            </a:pPr>
            <a:r>
              <a:rPr lang="en-US" sz="1200" dirty="0">
                <a:solidFill>
                  <a:srgbClr val="7F8796"/>
                </a:solidFill>
                <a:latin typeface="JetBrains Mono" pitchFamily="49" charset="0"/>
                <a:ea typeface="JetBrains Mono" pitchFamily="49" charset="-122"/>
                <a:cs typeface="JetBrains Mono" pitchFamily="49" charset="-120"/>
              </a:rPr>
              <a:t>// LAST, after every route</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F8A80"/>
                </a:solidFill>
                <a:latin typeface="JetBrains Mono" pitchFamily="49" charset="0"/>
                <a:ea typeface="JetBrains Mono" pitchFamily="49" charset="-122"/>
                <a:cs typeface="JetBrains Mono" pitchFamily="49" charset="-120"/>
              </a:rPr>
              <a:t>err</a:t>
            </a:r>
            <a:r>
              <a:rPr lang="en-US" sz="1200" dirty="0">
                <a:solidFill>
                  <a:srgbClr val="E6E1D6"/>
                </a:solidFill>
                <a:latin typeface="JetBrains Mono" pitchFamily="49" charset="0"/>
                <a:ea typeface="JetBrains Mono" pitchFamily="49" charset="-122"/>
                <a:cs typeface="JetBrains Mono" pitchFamily="49" charset="-120"/>
              </a:rPr>
              <a:t>, req, res, next) =&gt;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error</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'Handled:'</a:t>
            </a:r>
            <a:r>
              <a:rPr lang="en-US" sz="1200" dirty="0">
                <a:solidFill>
                  <a:srgbClr val="E6E1D6"/>
                </a:solidFill>
                <a:latin typeface="JetBrains Mono" pitchFamily="49" charset="0"/>
                <a:ea typeface="JetBrains Mono" pitchFamily="49" charset="-122"/>
                <a:cs typeface="JetBrains Mono" pitchFamily="49" charset="-120"/>
              </a:rPr>
              <a:t>, err.message);</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(err.status || </a:t>
            </a:r>
            <a:r>
              <a:rPr lang="en-US" sz="1200" dirty="0">
                <a:solidFill>
                  <a:srgbClr val="F78C6C"/>
                </a:solidFill>
                <a:latin typeface="JetBrains Mono" pitchFamily="49" charset="0"/>
                <a:ea typeface="JetBrains Mono" pitchFamily="49" charset="-122"/>
                <a:cs typeface="JetBrains Mono" pitchFamily="49" charset="-120"/>
              </a:rPr>
              <a:t>500</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 error: err.message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50"/>
            <a:ext cx="4762450" cy="1866875"/>
          </a:xfrm>
          <a:prstGeom prst="roundRect">
            <a:avLst>
              <a:gd name="adj" fmla="val 5102"/>
            </a:avLst>
          </a:prstGeom>
          <a:solidFill>
            <a:srgbClr val="FDFCF8"/>
          </a:solidFill>
          <a:ln w="12700">
            <a:solidFill>
              <a:srgbClr val="D5D1C4"/>
            </a:solidFill>
            <a:prstDash val="solid"/>
          </a:ln>
        </p:spPr>
      </p:sp>
      <p:sp>
        <p:nvSpPr>
          <p:cNvPr id="8" name="Shape 6"/>
          <p:cNvSpPr/>
          <p:nvPr/>
        </p:nvSpPr>
        <p:spPr>
          <a:xfrm>
            <a:off x="6615906" y="1713706"/>
            <a:ext cx="4751338" cy="441833"/>
          </a:xfrm>
          <a:custGeom>
            <a:avLst/>
            <a:gdLst/>
            <a:ahLst/>
            <a:cxnLst/>
            <a:rect l="l" t="t" r="r" b="b"/>
            <a:pathLst>
              <a:path w="4751338" h="441833">
                <a:moveTo>
                  <a:pt x="0" y="89694"/>
                </a:moveTo>
                <a:arcTo hR="89694" wR="89694" stAng="10800000" swAng="5400000"/>
                <a:lnTo>
                  <a:pt x="4661644" y="0"/>
                </a:lnTo>
                <a:arcTo hR="89694" wR="89694" stAng="16200000" swAng="5400000"/>
                <a:lnTo>
                  <a:pt x="4751338" y="441833"/>
                </a:lnTo>
                <a:lnTo>
                  <a:pt x="0" y="441833"/>
                </a:lnTo>
                <a:close/>
              </a:path>
            </a:pathLst>
          </a:custGeom>
          <a:solidFill>
            <a:srgbClr val="E9E6DC"/>
          </a:solidFill>
          <a:ln/>
        </p:spPr>
      </p:sp>
      <p:sp>
        <p:nvSpPr>
          <p:cNvPr id="9" name="Shape 7"/>
          <p:cNvSpPr/>
          <p:nvPr/>
        </p:nvSpPr>
        <p:spPr>
          <a:xfrm>
            <a:off x="6742906" y="1883767"/>
            <a:ext cx="101575" cy="101575"/>
          </a:xfrm>
          <a:prstGeom prst="roundRect">
            <a:avLst>
              <a:gd name="adj" fmla="val 50000"/>
            </a:avLst>
          </a:prstGeom>
          <a:solidFill>
            <a:srgbClr val="E0675A"/>
          </a:solidFill>
          <a:ln/>
        </p:spPr>
      </p:sp>
      <p:sp>
        <p:nvSpPr>
          <p:cNvPr id="10" name="Shape 8"/>
          <p:cNvSpPr/>
          <p:nvPr/>
        </p:nvSpPr>
        <p:spPr>
          <a:xfrm>
            <a:off x="6907981" y="1883767"/>
            <a:ext cx="101575" cy="101575"/>
          </a:xfrm>
          <a:prstGeom prst="roundRect">
            <a:avLst>
              <a:gd name="adj" fmla="val 50000"/>
            </a:avLst>
          </a:prstGeom>
          <a:solidFill>
            <a:srgbClr val="E7B54A"/>
          </a:solidFill>
          <a:ln/>
        </p:spPr>
      </p:sp>
      <p:sp>
        <p:nvSpPr>
          <p:cNvPr id="11" name="Shape 9"/>
          <p:cNvSpPr/>
          <p:nvPr/>
        </p:nvSpPr>
        <p:spPr>
          <a:xfrm>
            <a:off x="7073057" y="1883767"/>
            <a:ext cx="101575" cy="101575"/>
          </a:xfrm>
          <a:prstGeom prst="roundRect">
            <a:avLst>
              <a:gd name="adj" fmla="val 50000"/>
            </a:avLst>
          </a:prstGeom>
          <a:solidFill>
            <a:srgbClr val="6BBF6A"/>
          </a:solidFill>
          <a:ln/>
        </p:spPr>
      </p:sp>
      <p:sp>
        <p:nvSpPr>
          <p:cNvPr id="12" name="Text 10"/>
          <p:cNvSpPr/>
          <p:nvPr/>
        </p:nvSpPr>
        <p:spPr>
          <a:xfrm>
            <a:off x="7238132" y="1802557"/>
            <a:ext cx="4002112" cy="264108"/>
          </a:xfrm>
          <a:custGeom>
            <a:avLst/>
            <a:gdLst/>
            <a:ahLst/>
            <a:cxnLst/>
            <a:rect l="l" t="t" r="r" b="b"/>
            <a:pathLst>
              <a:path w="4002112" h="264108">
                <a:moveTo>
                  <a:pt x="132054" y="0"/>
                </a:moveTo>
                <a:lnTo>
                  <a:pt x="3870058" y="0"/>
                </a:lnTo>
                <a:arcTo hR="132054" wR="132054" stAng="16200000" swAng="5400000"/>
                <a:lnTo>
                  <a:pt x="4002112" y="132054"/>
                </a:lnTo>
                <a:arcTo hR="132054" wR="132054" stAng="0" swAng="5400000"/>
                <a:lnTo>
                  <a:pt x="132054" y="264108"/>
                </a:lnTo>
                <a:arcTo hR="132054" wR="132054" stAng="5400000" swAng="5400000"/>
                <a:lnTo>
                  <a:pt x="0" y="132054"/>
                </a:lnTo>
                <a:arcTo hR="132054" wR="132054" stAng="10800000" swAng="5400000"/>
                <a:close/>
              </a:path>
            </a:pathLst>
          </a:custGeom>
          <a:solidFill>
            <a:srgbClr val="FDFCF8"/>
          </a:solidFill>
          <a:ln/>
        </p:spPr>
        <p:txBody>
          <a:bodyPr wrap="square" lIns="127000" tIns="25400" rIns="14557"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localhost:11000/products/99</a:t>
            </a:r>
            <a:endParaRPr lang="en-US" sz="1200" dirty="0"/>
          </a:p>
        </p:txBody>
      </p:sp>
      <p:sp>
        <p:nvSpPr>
          <p:cNvPr id="13" name="Text 11"/>
          <p:cNvSpPr/>
          <p:nvPr/>
        </p:nvSpPr>
        <p:spPr>
          <a:xfrm>
            <a:off x="6819057" y="2307878"/>
            <a:ext cx="4475388"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F2B"/>
                </a:solidFill>
                <a:latin typeface="JetBrains Mono" pitchFamily="49" charset="0"/>
                <a:ea typeface="JetBrains Mono" pitchFamily="49" charset="-122"/>
                <a:cs typeface="JetBrains Mono" pitchFamily="49" charset="-120"/>
              </a:rPr>
              <a:t>{"error":"Product not found"}</a:t>
            </a:r>
            <a:endParaRPr lang="en-US" sz="1400" dirty="0"/>
          </a:p>
        </p:txBody>
      </p:sp>
      <p:sp>
        <p:nvSpPr>
          <p:cNvPr id="14" name="Text 12"/>
          <p:cNvSpPr/>
          <p:nvPr/>
        </p:nvSpPr>
        <p:spPr>
          <a:xfrm>
            <a:off x="6819057" y="2620268"/>
            <a:ext cx="4475388"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7D4F"/>
                </a:solidFill>
                <a:latin typeface="Space Grotesk" pitchFamily="34" charset="0"/>
                <a:ea typeface="Space Grotesk" pitchFamily="34" charset="-122"/>
                <a:cs typeface="Space Grotesk" pitchFamily="34" charset="-120"/>
              </a:rPr>
              <a:t>Status 404 · clean JSON, no stack trace</a:t>
            </a:r>
            <a:endParaRPr lang="en-US" sz="1200" dirty="0"/>
          </a:p>
        </p:txBody>
      </p:sp>
      <p:sp>
        <p:nvSpPr>
          <p:cNvPr id="15" name="Shape 13"/>
          <p:cNvSpPr/>
          <p:nvPr/>
        </p:nvSpPr>
        <p:spPr>
          <a:xfrm>
            <a:off x="6604000" y="3733800"/>
            <a:ext cx="4775150" cy="2311363"/>
          </a:xfrm>
          <a:prstGeom prst="roundRect">
            <a:avLst>
              <a:gd name="adj" fmla="val 4396"/>
            </a:avLst>
          </a:prstGeom>
          <a:solidFill>
            <a:srgbClr val="0E1117"/>
          </a:solidFill>
          <a:ln/>
        </p:spPr>
      </p:sp>
      <p:sp>
        <p:nvSpPr>
          <p:cNvPr id="16" name="Text 14"/>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7" name="Text 15"/>
          <p:cNvSpPr/>
          <p:nvPr/>
        </p:nvSpPr>
        <p:spPr>
          <a:xfrm>
            <a:off x="6781788" y="4175671"/>
            <a:ext cx="4552162" cy="25403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Handled: Product not found</a:t>
            </a:r>
            <a:endParaRPr lang="en-US" sz="1200" dirty="0"/>
          </a:p>
        </p:txBody>
      </p:sp>
      <p:sp>
        <p:nvSpPr>
          <p:cNvPr id="18" name="Text 16"/>
          <p:cNvSpPr/>
          <p:nvPr/>
        </p:nvSpPr>
        <p:spPr>
          <a:xfrm>
            <a:off x="6781788" y="4480471"/>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0A15E"/>
                </a:solidFill>
                <a:latin typeface="Space Grotesk" pitchFamily="34" charset="0"/>
                <a:ea typeface="Space Grotesk" pitchFamily="34" charset="-122"/>
                <a:cs typeface="Space Grotesk" pitchFamily="34" charset="-120"/>
              </a:rPr>
              <a:t>Keep all four parameters, even if you never use next. Express counts them to know this is an error handler.</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A"/>
                </a:solidFill>
                <a:latin typeface="Space Grotesk" pitchFamily="34" charset="0"/>
                <a:ea typeface="Space Grotesk" pitchFamily="34" charset="-122"/>
                <a:cs typeface="Space Grotesk" pitchFamily="34" charset="-120"/>
              </a:rPr>
              <a:t>WATCH ERRORS TRAVEL</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An error skips everything until a 4-argument function</a:t>
            </a:r>
            <a:endParaRPr lang="en-US" sz="2800" dirty="0"/>
          </a:p>
        </p:txBody>
      </p:sp>
      <p:pic>
        <p:nvPicPr>
          <p:cNvPr id="4" name="Image 0" descr="web embed">    </p:cNvPr>
          <p:cNvPicPr>
            <a:picLocks noChangeAspect="1"/>
          </p:cNvPicPr>
          <p:nvPr/>
        </p:nvPicPr>
        <p:blipFill>
          <a:blip r:embed="rId1"/>
          <a:srcRect l="0" r="0" t="0" b="0"/>
          <a:stretch/>
        </p:blipFill>
        <p:spPr>
          <a:xfrm>
            <a:off x="812788" y="1701800"/>
            <a:ext cx="10566363" cy="4064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462A"/>
                </a:solidFill>
                <a:latin typeface="Space Grotesk" pitchFamily="34" charset="0"/>
                <a:ea typeface="Space Grotesk" pitchFamily="34" charset="-122"/>
                <a:cs typeface="Space Grotesk" pitchFamily="34" charset="-120"/>
              </a:rPr>
              <a:t>TYPE 3 · ASYNC ERRORS AND THE 404 HANDLER</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Express 5 catches async errors for you</a:t>
            </a:r>
            <a:endParaRPr lang="en-US" sz="2800" dirty="0"/>
          </a:p>
        </p:txBody>
      </p:sp>
      <p:sp>
        <p:nvSpPr>
          <p:cNvPr id="4" name="Shape 2"/>
          <p:cNvSpPr/>
          <p:nvPr/>
        </p:nvSpPr>
        <p:spPr>
          <a:xfrm>
            <a:off x="812788" y="1696641"/>
            <a:ext cx="5588000" cy="4059225"/>
          </a:xfrm>
          <a:prstGeom prst="roundRect">
            <a:avLst>
              <a:gd name="adj" fmla="val 2503"/>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 · end of the file</a:t>
            </a:r>
            <a:endParaRPr lang="en-US" sz="1200" dirty="0"/>
          </a:p>
        </p:txBody>
      </p:sp>
      <p:sp>
        <p:nvSpPr>
          <p:cNvPr id="6" name="Text 4"/>
          <p:cNvSpPr/>
          <p:nvPr/>
        </p:nvSpPr>
        <p:spPr>
          <a:xfrm>
            <a:off x="1015938" y="2163961"/>
            <a:ext cx="5337150" cy="3439517"/>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API = </a:t>
            </a:r>
            <a:r>
              <a:rPr lang="en-US" sz="1200" dirty="0">
                <a:solidFill>
                  <a:srgbClr val="C3E88D"/>
                </a:solidFill>
                <a:latin typeface="JetBrains Mono" pitchFamily="49" charset="0"/>
                <a:ea typeface="JetBrains Mono" pitchFamily="49" charset="-122"/>
                <a:cs typeface="JetBrains Mono" pitchFamily="49" charset="-120"/>
              </a:rPr>
              <a:t>'https://fakestoreapi.com/products/'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'/live/:id'</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async</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r = </a:t>
            </a:r>
            <a:r>
              <a:rPr lang="en-US" sz="1200" dirty="0">
                <a:solidFill>
                  <a:srgbClr val="C792EA"/>
                </a:solidFill>
                <a:latin typeface="JetBrains Mono" pitchFamily="49" charset="0"/>
                <a:ea typeface="JetBrains Mono" pitchFamily="49" charset="-122"/>
                <a:cs typeface="JetBrains Mono" pitchFamily="49" charset="-120"/>
              </a:rPr>
              <a:t>await</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fetch</a:t>
            </a:r>
            <a:r>
              <a:rPr lang="en-US" sz="1200" dirty="0">
                <a:solidFill>
                  <a:srgbClr val="E6E1D6"/>
                </a:solidFill>
                <a:latin typeface="JetBrains Mono" pitchFamily="49" charset="0"/>
                <a:ea typeface="JetBrains Mono" pitchFamily="49" charset="-122"/>
                <a:cs typeface="JetBrains Mono" pitchFamily="49" charset="-120"/>
              </a:rPr>
              <a:t>(API + req.params.id);</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792EA"/>
                </a:solidFill>
                <a:latin typeface="JetBrains Mono" pitchFamily="49" charset="0"/>
                <a:ea typeface="JetBrains Mono" pitchFamily="49" charset="-122"/>
                <a:cs typeface="JetBrains Mono" pitchFamily="49" charset="-120"/>
              </a:rPr>
              <a:t>await</a:t>
            </a:r>
            <a:r>
              <a:rPr lang="en-US" sz="1200" dirty="0">
                <a:solidFill>
                  <a:srgbClr val="E6E1D6"/>
                </a:solidFill>
                <a:latin typeface="JetBrains Mono" pitchFamily="49" charset="0"/>
                <a:ea typeface="JetBrains Mono" pitchFamily="49" charset="-122"/>
                <a:cs typeface="JetBrains Mono" pitchFamily="49" charset="-120"/>
              </a:rPr>
              <a:t> r.</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no try/catch needed in v5</a:t>
            </a:r>
            <a:endParaRPr lang="en-US" sz="1200" dirty="0"/>
          </a:p>
          <a:p>
            <a:pPr algn="l" indent="0" marL="0">
              <a:lnSpc>
                <a:spcPts val="1680"/>
              </a:lnSpc>
              <a:buNone/>
            </a:pPr>
            <a:endParaRPr lang="en-US" sz="1200" dirty="0"/>
          </a:p>
          <a:p>
            <a:pPr algn="l" indent="0" marL="0">
              <a:lnSpc>
                <a:spcPts val="1680"/>
              </a:lnSpc>
              <a:buNone/>
            </a:pPr>
            <a:r>
              <a:rPr lang="en-US" sz="1200" dirty="0">
                <a:solidFill>
                  <a:srgbClr val="7BD88F"/>
                </a:solidFill>
                <a:latin typeface="JetBrains Mono" pitchFamily="49" charset="0"/>
                <a:ea typeface="JetBrains Mono" pitchFamily="49" charset="-122"/>
                <a:cs typeface="JetBrains Mono" pitchFamily="49" charset="-120"/>
              </a:rPr>
              <a:t>// 404: normal middleware, near the end</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404</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 error: </a:t>
            </a:r>
            <a:r>
              <a:rPr lang="en-US" sz="1200" dirty="0">
                <a:solidFill>
                  <a:srgbClr val="C3E88D"/>
                </a:solidFill>
                <a:latin typeface="JetBrains Mono" pitchFamily="49" charset="0"/>
                <a:ea typeface="JetBrains Mono" pitchFamily="49" charset="-122"/>
                <a:cs typeface="JetBrains Mono" pitchFamily="49" charset="-120"/>
              </a:rPr>
              <a:t>'Not found'</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FF8A80"/>
                </a:solidFill>
                <a:latin typeface="JetBrains Mono" pitchFamily="49" charset="0"/>
                <a:ea typeface="JetBrains Mono" pitchFamily="49" charset="-122"/>
                <a:cs typeface="JetBrains Mono" pitchFamily="49" charset="-120"/>
              </a:rPr>
              <a:t>// errors: 4 params, the very last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((err, req, res, next) =&gt;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error</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'Handled:'</a:t>
            </a:r>
            <a:r>
              <a:rPr lang="en-US" sz="1200" dirty="0">
                <a:solidFill>
                  <a:srgbClr val="E6E1D6"/>
                </a:solidFill>
                <a:latin typeface="JetBrains Mono" pitchFamily="49" charset="0"/>
                <a:ea typeface="JetBrains Mono" pitchFamily="49" charset="-122"/>
                <a:cs typeface="JetBrains Mono" pitchFamily="49" charset="-120"/>
              </a:rPr>
              <a:t>, err.message);</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(err.status || </a:t>
            </a:r>
            <a:r>
              <a:rPr lang="en-US" sz="1200" dirty="0">
                <a:solidFill>
                  <a:srgbClr val="F78C6C"/>
                </a:solidFill>
                <a:latin typeface="JetBrains Mono" pitchFamily="49" charset="0"/>
                <a:ea typeface="JetBrains Mono" pitchFamily="49" charset="-122"/>
                <a:cs typeface="JetBrains Mono" pitchFamily="49" charset="-120"/>
              </a:rPr>
              <a:t>500</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 error: err.message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04000" y="1701800"/>
            <a:ext cx="4775150" cy="1879575"/>
          </a:xfrm>
          <a:prstGeom prst="roundRect">
            <a:avLst>
              <a:gd name="adj" fmla="val 5405"/>
            </a:avLst>
          </a:prstGeom>
          <a:solidFill>
            <a:srgbClr val="0E1117"/>
          </a:solidFill>
          <a:ln/>
        </p:spPr>
      </p:sp>
      <p:sp>
        <p:nvSpPr>
          <p:cNvPr id="8" name="Text 6"/>
          <p:cNvSpPr/>
          <p:nvPr/>
        </p:nvSpPr>
        <p:spPr>
          <a:xfrm>
            <a:off x="6781788" y="1854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TRY IT: WI-FI OFF, OPEN /live/3</a:t>
            </a:r>
            <a:endParaRPr lang="en-US" sz="1200" dirty="0"/>
          </a:p>
        </p:txBody>
      </p:sp>
      <p:sp>
        <p:nvSpPr>
          <p:cNvPr id="9" name="Text 7"/>
          <p:cNvSpPr/>
          <p:nvPr/>
        </p:nvSpPr>
        <p:spPr>
          <a:xfrm>
            <a:off x="6781788" y="2143671"/>
            <a:ext cx="4552162" cy="254037"/>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Handled: fetch failed</a:t>
            </a:r>
            <a:endParaRPr lang="en-US" sz="1200" dirty="0"/>
          </a:p>
        </p:txBody>
      </p:sp>
      <p:sp>
        <p:nvSpPr>
          <p:cNvPr id="10" name="Text 8"/>
          <p:cNvSpPr/>
          <p:nvPr/>
        </p:nvSpPr>
        <p:spPr>
          <a:xfrm>
            <a:off x="6781788" y="2448471"/>
            <a:ext cx="4552162"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Browser: 500</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{"error":"fetch failed"}</a:t>
            </a:r>
            <a:endParaRPr lang="en-US" sz="1200" dirty="0"/>
          </a:p>
        </p:txBody>
      </p:sp>
      <p:sp>
        <p:nvSpPr>
          <p:cNvPr id="11" name="Shape 9"/>
          <p:cNvSpPr/>
          <p:nvPr/>
        </p:nvSpPr>
        <p:spPr>
          <a:xfrm>
            <a:off x="6604000" y="3733800"/>
            <a:ext cx="4775150" cy="2311363"/>
          </a:xfrm>
          <a:prstGeom prst="roundRect">
            <a:avLst>
              <a:gd name="adj" fmla="val 4396"/>
            </a:avLst>
          </a:prstGeom>
          <a:solidFill>
            <a:srgbClr val="FBE3D1"/>
          </a:solidFill>
          <a:ln/>
        </p:spPr>
      </p:sp>
      <p:sp>
        <p:nvSpPr>
          <p:cNvPr id="12" name="Text 10"/>
          <p:cNvSpPr/>
          <p:nvPr/>
        </p:nvSpPr>
        <p:spPr>
          <a:xfrm>
            <a:off x="6807150" y="4116288"/>
            <a:ext cx="4499915"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A3A12"/>
                </a:solidFill>
                <a:latin typeface="Space Grotesk" pitchFamily="34" charset="0"/>
                <a:ea typeface="Space Grotesk" pitchFamily="34" charset="-122"/>
                <a:cs typeface="Space Grotesk" pitchFamily="34" charset="-120"/>
              </a:rPr>
              <a:t>TWO TRAPS</a:t>
            </a:r>
            <a:endParaRPr lang="en-US" sz="1200" dirty="0"/>
          </a:p>
        </p:txBody>
      </p:sp>
      <p:sp>
        <p:nvSpPr>
          <p:cNvPr id="13" name="Text 11"/>
          <p:cNvSpPr/>
          <p:nvPr/>
        </p:nvSpPr>
        <p:spPr>
          <a:xfrm>
            <a:off x="6807150" y="4418509"/>
            <a:ext cx="4499915" cy="48751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F2B"/>
                </a:solidFill>
                <a:latin typeface="Space Grotesk" pitchFamily="34" charset="0"/>
                <a:ea typeface="Space Grotesk" pitchFamily="34" charset="-122"/>
                <a:cs typeface="Space Grotesk" pitchFamily="34" charset="-120"/>
              </a:rPr>
              <a:t>(err, req, res)</a:t>
            </a:r>
            <a:r>
              <a:rPr lang="en-US" sz="1300" dirty="0">
                <a:solidFill>
                  <a:srgbClr val="1A1F2B"/>
                </a:solidFill>
                <a:latin typeface="Space Grotesk" pitchFamily="34" charset="0"/>
                <a:ea typeface="Space Grotesk" pitchFamily="34" charset="-122"/>
                <a:cs typeface="Space Grotesk" pitchFamily="34" charset="-120"/>
              </a:rPr>
              <a:t> with 3 params is not an error handler. Errors pass straight by it.</a:t>
            </a:r>
            <a:endParaRPr lang="en-US" sz="1300" dirty="0"/>
          </a:p>
        </p:txBody>
      </p:sp>
      <p:sp>
        <p:nvSpPr>
          <p:cNvPr id="14" name="Text 12"/>
          <p:cNvSpPr/>
          <p:nvPr/>
        </p:nvSpPr>
        <p:spPr>
          <a:xfrm>
            <a:off x="6807150" y="4969470"/>
            <a:ext cx="4499915" cy="71856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Space Grotesk" pitchFamily="34" charset="0"/>
                <a:ea typeface="Space Grotesk" pitchFamily="34" charset="-122"/>
                <a:cs typeface="Space Grotesk" pitchFamily="34" charset="-120"/>
              </a:rPr>
              <a:t>Express 4 tutorials wrap every async route in try/catch + next(err). In v5 a rejected promise goes to the handler by itself.</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TYPE 4 · BUILT-IN · EXPRESS.JSON AND EXPRESS.URLENCODED</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Two body readers, one for each kind of client</a:t>
            </a:r>
            <a:endParaRPr lang="en-US" sz="2800" dirty="0"/>
          </a:p>
        </p:txBody>
      </p:sp>
      <p:sp>
        <p:nvSpPr>
          <p:cNvPr id="4" name="Shape 2"/>
          <p:cNvSpPr/>
          <p:nvPr/>
        </p:nvSpPr>
        <p:spPr>
          <a:xfrm>
            <a:off x="812788" y="1696641"/>
            <a:ext cx="5588000" cy="2931480"/>
          </a:xfrm>
          <a:prstGeom prst="roundRect">
            <a:avLst>
              <a:gd name="adj" fmla="val 3466"/>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a:t>
            </a:r>
            <a:endParaRPr lang="en-US" sz="1200" dirty="0"/>
          </a:p>
        </p:txBody>
      </p:sp>
      <p:sp>
        <p:nvSpPr>
          <p:cNvPr id="6" name="Text 4"/>
          <p:cNvSpPr/>
          <p:nvPr/>
        </p:nvSpPr>
        <p:spPr>
          <a:xfrm>
            <a:off x="1015938" y="2163961"/>
            <a:ext cx="5337150" cy="2311772"/>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JSON: fetch(), Thunder Client, Postman</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(express.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HTML &lt;form&gt; posts</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(express.</a:t>
            </a:r>
            <a:r>
              <a:rPr lang="en-US" sz="1200" dirty="0">
                <a:solidFill>
                  <a:srgbClr val="82AAFF"/>
                </a:solidFill>
                <a:latin typeface="JetBrains Mono" pitchFamily="49" charset="0"/>
                <a:ea typeface="JetBrains Mono" pitchFamily="49" charset="-122"/>
                <a:cs typeface="JetBrains Mono" pitchFamily="49" charset="-120"/>
              </a:rPr>
              <a:t>urlencoded</a:t>
            </a:r>
            <a:r>
              <a:rPr lang="en-US" sz="1200" dirty="0">
                <a:solidFill>
                  <a:srgbClr val="E6E1D6"/>
                </a:solidFill>
                <a:latin typeface="JetBrains Mono" pitchFamily="49" charset="0"/>
                <a:ea typeface="JetBrains Mono" pitchFamily="49" charset="-122"/>
                <a:cs typeface="JetBrains Mono" pitchFamily="49" charset="-120"/>
              </a:rPr>
              <a:t>({ extended: </a:t>
            </a:r>
            <a:r>
              <a:rPr lang="en-US" sz="1200" dirty="0">
                <a:solidFill>
                  <a:srgbClr val="F78C6C"/>
                </a:solidFill>
                <a:latin typeface="JetBrains Mono" pitchFamily="49" charset="0"/>
                <a:ea typeface="JetBrains Mono" pitchFamily="49" charset="-122"/>
                <a:cs typeface="JetBrains Mono" pitchFamily="49" charset="-120"/>
              </a:rPr>
              <a:t>false</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post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 title, price } = req.body;</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(title, price, </a:t>
            </a:r>
            <a:r>
              <a:rPr lang="en-US" sz="1200" dirty="0">
                <a:solidFill>
                  <a:srgbClr val="C792EA"/>
                </a:solidFill>
                <a:latin typeface="JetBrains Mono" pitchFamily="49" charset="0"/>
                <a:ea typeface="JetBrains Mono" pitchFamily="49" charset="-122"/>
                <a:cs typeface="JetBrains Mono" pitchFamily="49" charset="-120"/>
              </a:rPr>
              <a:t>typeof</a:t>
            </a:r>
            <a:r>
              <a:rPr lang="en-US" sz="1200" dirty="0">
                <a:solidFill>
                  <a:srgbClr val="E6E1D6"/>
                </a:solidFill>
                <a:latin typeface="JetBrains Mono" pitchFamily="49" charset="0"/>
                <a:ea typeface="JetBrains Mono" pitchFamily="49" charset="-122"/>
                <a:cs typeface="JetBrains Mono" pitchFamily="49" charset="-120"/>
              </a:rPr>
              <a:t> price);</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`Added ${title}`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50"/>
            <a:ext cx="4762450" cy="1866875"/>
          </a:xfrm>
          <a:prstGeom prst="roundRect">
            <a:avLst>
              <a:gd name="adj" fmla="val 5102"/>
            </a:avLst>
          </a:prstGeom>
          <a:solidFill>
            <a:srgbClr val="FDFCF8"/>
          </a:solidFill>
          <a:ln w="12700">
            <a:solidFill>
              <a:srgbClr val="D5D1C4"/>
            </a:solidFill>
            <a:prstDash val="solid"/>
          </a:ln>
        </p:spPr>
      </p:sp>
      <p:sp>
        <p:nvSpPr>
          <p:cNvPr id="8" name="Text 6"/>
          <p:cNvSpPr/>
          <p:nvPr/>
        </p:nvSpPr>
        <p:spPr>
          <a:xfrm>
            <a:off x="6793694" y="1866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BROWSER · public/add.html</a:t>
            </a:r>
            <a:endParaRPr lang="en-US" sz="1200" dirty="0"/>
          </a:p>
        </p:txBody>
      </p:sp>
      <p:sp>
        <p:nvSpPr>
          <p:cNvPr id="9" name="Text 7"/>
          <p:cNvSpPr/>
          <p:nvPr/>
        </p:nvSpPr>
        <p:spPr>
          <a:xfrm>
            <a:off x="6800044" y="2174677"/>
            <a:ext cx="2796617" cy="326070"/>
          </a:xfrm>
          <a:prstGeom prst="roundRect">
            <a:avLst>
              <a:gd name="adj" fmla="val 13632"/>
            </a:avLst>
          </a:prstGeom>
          <a:solidFill>
            <a:srgbClr val="FFFFFF"/>
          </a:solidFill>
          <a:ln w="12700">
            <a:solidFill>
              <a:srgbClr val="C9C3B3"/>
            </a:solidFill>
            <a:prstDash val="solid"/>
          </a:ln>
        </p:spPr>
        <p:txBody>
          <a:bodyPr wrap="square" lIns="81400" tIns="43337" rIns="3167" bIns="17912" rtlCol="0" anchor="t">
            <a:normAutofit/>
          </a:bodyPr>
          <a:lstStyle/>
          <a:p>
            <a:pPr algn="l"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Steel Bottle</a:t>
            </a:r>
            <a:endParaRPr lang="en-US" sz="1200" dirty="0"/>
          </a:p>
        </p:txBody>
      </p:sp>
      <p:sp>
        <p:nvSpPr>
          <p:cNvPr id="10" name="Text 8"/>
          <p:cNvSpPr/>
          <p:nvPr/>
        </p:nvSpPr>
        <p:spPr>
          <a:xfrm>
            <a:off x="9698224" y="2174677"/>
            <a:ext cx="876300" cy="326070"/>
          </a:xfrm>
          <a:prstGeom prst="roundRect">
            <a:avLst>
              <a:gd name="adj" fmla="val 13632"/>
            </a:avLst>
          </a:prstGeom>
          <a:solidFill>
            <a:srgbClr val="FFFFFF"/>
          </a:solidFill>
          <a:ln w="12700">
            <a:solidFill>
              <a:srgbClr val="C9C3B3"/>
            </a:solidFill>
            <a:prstDash val="solid"/>
          </a:ln>
        </p:spPr>
        <p:txBody>
          <a:bodyPr wrap="square" lIns="81400" tIns="43337" rIns="30600" bIns="17912" rtlCol="0" anchor="t">
            <a:normAutofit/>
          </a:bodyPr>
          <a:lstStyle/>
          <a:p>
            <a:pPr algn="l"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12.5</a:t>
            </a:r>
            <a:endParaRPr lang="en-US" sz="1200" dirty="0"/>
          </a:p>
        </p:txBody>
      </p:sp>
      <p:sp>
        <p:nvSpPr>
          <p:cNvPr id="11" name="Text 9"/>
          <p:cNvSpPr/>
          <p:nvPr/>
        </p:nvSpPr>
        <p:spPr>
          <a:xfrm>
            <a:off x="10669736" y="2180233"/>
            <a:ext cx="519720" cy="314958"/>
          </a:xfrm>
          <a:prstGeom prst="roundRect">
            <a:avLst>
              <a:gd name="adj" fmla="val 16129"/>
            </a:avLst>
          </a:prstGeom>
          <a:solidFill>
            <a:srgbClr val="2F6FD6"/>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Space Grotesk" pitchFamily="34" charset="0"/>
                <a:ea typeface="Space Grotesk" pitchFamily="34" charset="-122"/>
                <a:cs typeface="Space Grotesk" pitchFamily="34" charset="-120"/>
              </a:rPr>
              <a:t>Add</a:t>
            </a:r>
            <a:endParaRPr lang="en-US" sz="1200" dirty="0"/>
          </a:p>
        </p:txBody>
      </p:sp>
      <p:sp>
        <p:nvSpPr>
          <p:cNvPr id="12" name="Text 10"/>
          <p:cNvSpPr/>
          <p:nvPr/>
        </p:nvSpPr>
        <p:spPr>
          <a:xfrm>
            <a:off x="6793694" y="2595959"/>
            <a:ext cx="4527636"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After clicking Add, the page shows:</a:t>
            </a:r>
            <a:endParaRPr lang="en-US" sz="1200" dirty="0"/>
          </a:p>
        </p:txBody>
      </p:sp>
      <p:sp>
        <p:nvSpPr>
          <p:cNvPr id="13" name="Text 11"/>
          <p:cNvSpPr/>
          <p:nvPr/>
        </p:nvSpPr>
        <p:spPr>
          <a:xfrm>
            <a:off x="6793694" y="2898180"/>
            <a:ext cx="4527636" cy="27425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1F2B"/>
                </a:solidFill>
                <a:latin typeface="Space Grotesk" pitchFamily="34" charset="0"/>
                <a:ea typeface="Space Grotesk" pitchFamily="34" charset="-122"/>
                <a:cs typeface="Space Grotesk" pitchFamily="34" charset="-120"/>
              </a:rPr>
              <a:t>Added Steel Bottle</a:t>
            </a:r>
            <a:endParaRPr lang="en-US" sz="1400" dirty="0"/>
          </a:p>
        </p:txBody>
      </p:sp>
      <p:sp>
        <p:nvSpPr>
          <p:cNvPr id="14" name="Shape 12"/>
          <p:cNvSpPr/>
          <p:nvPr/>
        </p:nvSpPr>
        <p:spPr>
          <a:xfrm>
            <a:off x="6604000" y="3733800"/>
            <a:ext cx="4775150" cy="2311363"/>
          </a:xfrm>
          <a:prstGeom prst="roundRect">
            <a:avLst>
              <a:gd name="adj" fmla="val 4396"/>
            </a:avLst>
          </a:prstGeom>
          <a:solidFill>
            <a:srgbClr val="0E1117"/>
          </a:solidFill>
          <a:ln/>
        </p:spPr>
      </p:sp>
      <p:sp>
        <p:nvSpPr>
          <p:cNvPr id="15" name="Text 13"/>
          <p:cNvSpPr/>
          <p:nvPr/>
        </p:nvSpPr>
        <p:spPr>
          <a:xfrm>
            <a:off x="6781788" y="3886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6" name="Text 14"/>
          <p:cNvSpPr/>
          <p:nvPr/>
        </p:nvSpPr>
        <p:spPr>
          <a:xfrm>
            <a:off x="6781788" y="4175671"/>
            <a:ext cx="4552162"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form:</a:t>
            </a:r>
            <a:r>
              <a:rPr lang="en-US" sz="1200" dirty="0">
                <a:solidFill>
                  <a:srgbClr val="D7DCE2"/>
                </a:solidFill>
                <a:latin typeface="JetBrains Mono" pitchFamily="49" charset="0"/>
                <a:ea typeface="JetBrains Mono" pitchFamily="49" charset="-122"/>
                <a:cs typeface="JetBrains Mono" pitchFamily="49" charset="-120"/>
              </a:rPr>
              <a:t> Steel Bottle 12.5 string</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JSON:</a:t>
            </a:r>
            <a:r>
              <a:rPr lang="en-US" sz="1200" dirty="0">
                <a:solidFill>
                  <a:srgbClr val="D7DCE2"/>
                </a:solidFill>
                <a:latin typeface="JetBrains Mono" pitchFamily="49" charset="0"/>
                <a:ea typeface="JetBrains Mono" pitchFamily="49" charset="-122"/>
                <a:cs typeface="JetBrains Mono" pitchFamily="49" charset="-120"/>
              </a:rPr>
              <a:t> Steel Bottle 12.5 number</a:t>
            </a:r>
            <a:endParaRPr lang="en-US" sz="1200" dirty="0"/>
          </a:p>
        </p:txBody>
      </p:sp>
      <p:sp>
        <p:nvSpPr>
          <p:cNvPr id="17" name="Text 15"/>
          <p:cNvSpPr/>
          <p:nvPr/>
        </p:nvSpPr>
        <p:spPr>
          <a:xfrm>
            <a:off x="6781788" y="4709120"/>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Forms always send text. JSON keeps numbers. Also built in: express.text() and express.raw().</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6FD6"/>
                </a:solidFill>
                <a:latin typeface="Space Grotesk" pitchFamily="34" charset="0"/>
                <a:ea typeface="Space Grotesk" pitchFamily="34" charset="-122"/>
                <a:cs typeface="Space Grotesk" pitchFamily="34" charset="-120"/>
              </a:rPr>
              <a:t>TYPE 4 · BUILT-IN · EXPRESS.STATIC</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One line serves a whole folder</a:t>
            </a:r>
            <a:endParaRPr lang="en-US" sz="2800" dirty="0"/>
          </a:p>
        </p:txBody>
      </p:sp>
      <p:sp>
        <p:nvSpPr>
          <p:cNvPr id="4" name="Shape 2"/>
          <p:cNvSpPr/>
          <p:nvPr/>
        </p:nvSpPr>
        <p:spPr>
          <a:xfrm>
            <a:off x="812788" y="1696641"/>
            <a:ext cx="5588000" cy="3388754"/>
          </a:xfrm>
          <a:prstGeom prst="roundRect">
            <a:avLst>
              <a:gd name="adj" fmla="val 2998"/>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8796"/>
                </a:solidFill>
                <a:latin typeface="JetBrains Mono" pitchFamily="49" charset="0"/>
                <a:ea typeface="JetBrains Mono" pitchFamily="49" charset="-122"/>
                <a:cs typeface="JetBrains Mono" pitchFamily="49" charset="-120"/>
              </a:rPr>
              <a:t>server.js · the class code, upgraded</a:t>
            </a:r>
            <a:endParaRPr lang="en-US" sz="1200" dirty="0"/>
          </a:p>
        </p:txBody>
      </p:sp>
      <p:sp>
        <p:nvSpPr>
          <p:cNvPr id="6" name="Text 4"/>
          <p:cNvSpPr/>
          <p:nvPr/>
        </p:nvSpPr>
        <p:spPr>
          <a:xfrm>
            <a:off x="1015938" y="2163961"/>
            <a:ext cx="5337150" cy="2769046"/>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F8A80"/>
                </a:solidFill>
                <a:latin typeface="JetBrains Mono" pitchFamily="49" charset="0"/>
                <a:ea typeface="JetBrains Mono" pitchFamily="49" charset="-122"/>
                <a:cs typeface="JetBrains Mono" pitchFamily="49" charset="-120"/>
              </a:rPr>
              <a:t>// const fs = require('fs');</a:t>
            </a:r>
            <a:endParaRPr lang="en-US" sz="1200" dirty="0"/>
          </a:p>
          <a:p>
            <a:pPr algn="l" indent="0" marL="0">
              <a:lnSpc>
                <a:spcPts val="1800"/>
              </a:lnSpc>
              <a:buNone/>
            </a:pPr>
            <a:r>
              <a:rPr lang="en-US" sz="1200" dirty="0">
                <a:solidFill>
                  <a:srgbClr val="FF8A80"/>
                </a:solidFill>
                <a:latin typeface="JetBrains Mono" pitchFamily="49" charset="0"/>
                <a:ea typeface="JetBrains Mono" pitchFamily="49" charset="-122"/>
                <a:cs typeface="JetBrains Mono" pitchFamily="49" charset="-120"/>
              </a:rPr>
              <a:t>// const data = fs.readFileSync(...);</a:t>
            </a:r>
            <a:endParaRPr lang="en-US" sz="1200" dirty="0"/>
          </a:p>
          <a:p>
            <a:pPr algn="l" indent="0" marL="0">
              <a:lnSpc>
                <a:spcPts val="1800"/>
              </a:lnSpc>
              <a:buNone/>
            </a:pPr>
            <a:r>
              <a:rPr lang="en-US" sz="1200" dirty="0">
                <a:solidFill>
                  <a:srgbClr val="FF8A80"/>
                </a:solidFill>
                <a:latin typeface="JetBrains Mono" pitchFamily="49" charset="0"/>
                <a:ea typeface="JetBrains Mono" pitchFamily="49" charset="-122"/>
                <a:cs typeface="JetBrains Mono" pitchFamily="49" charset="-120"/>
              </a:rPr>
              <a:t>// server.get('/', (req,res) =&gt; res.send(data));</a:t>
            </a:r>
            <a:endParaRPr lang="en-US" sz="1200" dirty="0"/>
          </a:p>
          <a:p>
            <a:pPr algn="l" indent="0" marL="0">
              <a:lnSpc>
                <a:spcPts val="1800"/>
              </a:lnSpc>
              <a:buNone/>
            </a:pP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path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'path'</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(express.</a:t>
            </a:r>
            <a:r>
              <a:rPr lang="en-US" sz="1200" dirty="0">
                <a:solidFill>
                  <a:srgbClr val="82AAFF"/>
                </a:solidFill>
                <a:latin typeface="JetBrains Mono" pitchFamily="49" charset="0"/>
                <a:ea typeface="JetBrains Mono" pitchFamily="49" charset="-122"/>
                <a:cs typeface="JetBrains Mono" pitchFamily="49" charset="-120"/>
              </a:rPr>
              <a:t>static</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  path.</a:t>
            </a:r>
            <a:r>
              <a:rPr lang="en-US" sz="1200" dirty="0">
                <a:solidFill>
                  <a:srgbClr val="82AAFF"/>
                </a:solidFill>
                <a:latin typeface="JetBrains Mono" pitchFamily="49" charset="0"/>
                <a:ea typeface="JetBrains Mono" pitchFamily="49" charset="-122"/>
                <a:cs typeface="JetBrains Mono" pitchFamily="49" charset="-120"/>
              </a:rPr>
              <a:t>join</a:t>
            </a:r>
            <a:r>
              <a:rPr lang="en-US" sz="1200" dirty="0">
                <a:solidFill>
                  <a:srgbClr val="E6E1D6"/>
                </a:solidFill>
                <a:latin typeface="JetBrains Mono" pitchFamily="49" charset="0"/>
                <a:ea typeface="JetBrains Mono" pitchFamily="49" charset="-122"/>
                <a:cs typeface="JetBrains Mono" pitchFamily="49" charset="-120"/>
              </a:rPr>
              <a:t>(__dirname, </a:t>
            </a:r>
            <a:r>
              <a:rPr lang="en-US" sz="1200" dirty="0">
                <a:solidFill>
                  <a:srgbClr val="C3E88D"/>
                </a:solidFill>
                <a:latin typeface="JetBrains Mono" pitchFamily="49" charset="0"/>
                <a:ea typeface="JetBrains Mono" pitchFamily="49" charset="-122"/>
                <a:cs typeface="JetBrains Mono" pitchFamily="49" charset="-120"/>
              </a:rPr>
              <a:t>'public'</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store/</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server.js</a:t>
            </a:r>
            <a:endParaRPr lang="en-US" sz="1200" dirty="0"/>
          </a:p>
          <a:p>
            <a:pPr algn="l" indent="0" marL="0">
              <a:lnSpc>
                <a:spcPts val="1800"/>
              </a:lnSpc>
              <a:buNone/>
            </a:pPr>
            <a:r>
              <a:rPr lang="en-US" sz="1200" dirty="0">
                <a:solidFill>
                  <a:srgbClr val="7F8796"/>
                </a:solidFill>
                <a:latin typeface="JetBrains Mono" pitchFamily="49" charset="0"/>
                <a:ea typeface="JetBrains Mono" pitchFamily="49" charset="-122"/>
                <a:cs typeface="JetBrains Mono" pitchFamily="49" charset="-120"/>
              </a:rPr>
              <a:t>// public/index.html style.css logo.png</a:t>
            </a:r>
            <a:endParaRPr lang="en-US" sz="1200" dirty="0"/>
          </a:p>
        </p:txBody>
      </p:sp>
      <p:sp>
        <p:nvSpPr>
          <p:cNvPr id="7" name="Shape 5"/>
          <p:cNvSpPr/>
          <p:nvPr/>
        </p:nvSpPr>
        <p:spPr>
          <a:xfrm>
            <a:off x="6610350" y="1708150"/>
            <a:ext cx="4762450" cy="2527300"/>
          </a:xfrm>
          <a:prstGeom prst="roundRect">
            <a:avLst>
              <a:gd name="adj" fmla="val 3769"/>
            </a:avLst>
          </a:prstGeom>
          <a:solidFill>
            <a:srgbClr val="FDFCF8"/>
          </a:solidFill>
          <a:ln w="12700">
            <a:solidFill>
              <a:srgbClr val="D5D1C4"/>
            </a:solidFill>
            <a:prstDash val="solid"/>
          </a:ln>
        </p:spPr>
      </p:sp>
      <p:sp>
        <p:nvSpPr>
          <p:cNvPr id="8" name="Text 6"/>
          <p:cNvSpPr/>
          <p:nvPr/>
        </p:nvSpPr>
        <p:spPr>
          <a:xfrm>
            <a:off x="6793694" y="1866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WHAT EACH URL GETS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05600" y="2167483"/>
          <a:ext cx="4383856" cy="1659744"/>
        </p:xfrm>
        <a:graphic>
          <a:graphicData uri="http://schemas.openxmlformats.org/drawingml/2006/table">
            <a:tbl>
              <a:tblPr/>
              <a:tblGrid>
                <a:gridCol w="1841220"/>
                <a:gridCol w="2542637"/>
              </a:tblGrid>
              <a:tr h="331949">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URL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c>
                  <a:txBody>
                    <a:bodyPr/>
                    <a:lstStyle/>
                    <a:p>
                      <a:pPr indent="0" marL="0">
                        <a:lnSpc>
                          <a:spcPts val="1680"/>
                        </a:lnSpc>
                        <a:buNone/>
                      </a:pPr>
                      <a:r>
                        <a:rPr lang="en-US" sz="1200" b="1" dirty="0">
                          <a:solidFill>
                            <a:srgbClr val="1A1F2B"/>
                          </a:solidFill>
                          <a:latin typeface="JetBrains Mono" pitchFamily="49" charset="0"/>
                          <a:ea typeface="JetBrains Mono" pitchFamily="49" charset="-122"/>
                          <a:cs typeface="JetBrains Mono" pitchFamily="49" charset="-120"/>
                        </a:rPr>
                        <a:t>Answer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BBAB8"/>
                      </a:solidFill>
                      <a:prstDash val="solid"/>
                      <a:round/>
                      <a:headEnd type="none" w="med" len="med"/>
                      <a:tailEnd type="none" w="med" len="med"/>
                    </a:lnL>
                    <a:lnR w="12700" cap="flat" cmpd="sng" algn="ctr">
                      <a:solidFill>
                        <a:srgbClr val="BBBA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BBAB8"/>
                      </a:solidFill>
                      <a:prstDash val="solid"/>
                      <a:round/>
                      <a:headEnd type="none" w="med" len="med"/>
                      <a:tailEnd type="none" w="med" len="med"/>
                    </a:lnB>
                    <a:solidFill>
                      <a:srgbClr val="EAE9E6"/>
                    </a:solidFill>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public/index.html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BBA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/style.css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text/css file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/logo.png</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image/png file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/products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JetBrains Mono" pitchFamily="49" charset="0"/>
                          <a:ea typeface="JetBrains Mono" pitchFamily="49" charset="-122"/>
                          <a:cs typeface="JetBrains Mono" pitchFamily="49" charset="-120"/>
                        </a:rPr>
                        <a:t>no file: next() → route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r>
            </a:tbl>
          </a:graphicData>
        </a:graphic>
      </p:graphicFrame>
      <p:sp>
        <p:nvSpPr>
          <p:cNvPr id="10" name="Shape 7"/>
          <p:cNvSpPr/>
          <p:nvPr/>
        </p:nvSpPr>
        <p:spPr>
          <a:xfrm>
            <a:off x="6604000" y="4394150"/>
            <a:ext cx="4775150" cy="1651000"/>
          </a:xfrm>
          <a:prstGeom prst="roundRect">
            <a:avLst>
              <a:gd name="adj" fmla="val 6154"/>
            </a:avLst>
          </a:prstGeom>
          <a:solidFill>
            <a:srgbClr val="12161D"/>
          </a:solidFill>
          <a:ln/>
        </p:spPr>
      </p:sp>
      <p:sp>
        <p:nvSpPr>
          <p:cNvPr id="11" name="Text 8"/>
          <p:cNvSpPr/>
          <p:nvPr/>
        </p:nvSpPr>
        <p:spPr>
          <a:xfrm>
            <a:off x="6807150" y="4843810"/>
            <a:ext cx="4499915" cy="48751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2EFE6"/>
                </a:solidFill>
                <a:latin typeface="Space Grotesk" pitchFamily="34" charset="0"/>
                <a:ea typeface="Space Grotesk" pitchFamily="34" charset="-122"/>
                <a:cs typeface="Space Grotesk" pitchFamily="34" charset="-120"/>
              </a:rPr>
              <a:t>No file found? It calls </a:t>
            </a:r>
            <a:r>
              <a:rPr lang="en-US" sz="1300" b="1" dirty="0">
                <a:solidFill>
                  <a:srgbClr val="F2EFE6"/>
                </a:solidFill>
                <a:latin typeface="Space Grotesk" pitchFamily="34" charset="0"/>
                <a:ea typeface="Space Grotesk" pitchFamily="34" charset="-122"/>
                <a:cs typeface="Space Grotesk" pitchFamily="34" charset="-120"/>
              </a:rPr>
              <a:t>next()</a:t>
            </a:r>
            <a:r>
              <a:rPr lang="en-US" sz="1300" dirty="0">
                <a:solidFill>
                  <a:srgbClr val="F2EFE6"/>
                </a:solidFill>
                <a:latin typeface="Space Grotesk" pitchFamily="34" charset="0"/>
                <a:ea typeface="Space Grotesk" pitchFamily="34" charset="-122"/>
                <a:cs typeface="Space Grotesk" pitchFamily="34" charset="-120"/>
              </a:rPr>
              <a:t>, so your routes still work. That is middleware behaviour.</a:t>
            </a:r>
            <a:endParaRPr lang="en-US" sz="1300" dirty="0"/>
          </a:p>
        </p:txBody>
      </p:sp>
      <p:sp>
        <p:nvSpPr>
          <p:cNvPr id="12" name="Text 9"/>
          <p:cNvSpPr/>
          <p:nvPr/>
        </p:nvSpPr>
        <p:spPr>
          <a:xfrm>
            <a:off x="6807150" y="5382071"/>
            <a:ext cx="4499915"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Edit index.html, refresh: the change shows. No restart.</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TYPE 5 · THIRD-PARTY · COOKIE-PARSER (THE GUIDE’S EXAMPLE)</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npm install, require, app.use. Done.</a:t>
            </a:r>
            <a:endParaRPr lang="en-US" sz="2800" dirty="0"/>
          </a:p>
        </p:txBody>
      </p:sp>
      <p:sp>
        <p:nvSpPr>
          <p:cNvPr id="4" name="Shape 2"/>
          <p:cNvSpPr/>
          <p:nvPr/>
        </p:nvSpPr>
        <p:spPr>
          <a:xfrm>
            <a:off x="812788" y="1696641"/>
            <a:ext cx="5588000" cy="3739245"/>
          </a:xfrm>
          <a:prstGeom prst="roundRect">
            <a:avLst>
              <a:gd name="adj" fmla="val 2717"/>
            </a:avLst>
          </a:prstGeom>
          <a:solidFill>
            <a:srgbClr val="161B24"/>
          </a:solidFill>
          <a:ln/>
        </p:spPr>
      </p:sp>
      <p:sp>
        <p:nvSpPr>
          <p:cNvPr id="5" name="Text 3"/>
          <p:cNvSpPr/>
          <p:nvPr/>
        </p:nvSpPr>
        <p:spPr>
          <a:xfrm>
            <a:off x="1015938" y="1874441"/>
            <a:ext cx="5337150"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BD88F"/>
                </a:solidFill>
                <a:latin typeface="JetBrains Mono" pitchFamily="49" charset="0"/>
                <a:ea typeface="JetBrains Mono" pitchFamily="49" charset="-122"/>
                <a:cs typeface="JetBrains Mono" pitchFamily="49" charset="-120"/>
              </a:rPr>
              <a:t>$ npm install cookie-parser</a:t>
            </a:r>
            <a:endParaRPr lang="en-US" sz="1200" dirty="0"/>
          </a:p>
        </p:txBody>
      </p:sp>
      <p:sp>
        <p:nvSpPr>
          <p:cNvPr id="6" name="Text 4"/>
          <p:cNvSpPr/>
          <p:nvPr/>
        </p:nvSpPr>
        <p:spPr>
          <a:xfrm>
            <a:off x="1015938" y="2163961"/>
            <a:ext cx="5337150" cy="3119537"/>
          </a:xfrm>
          <a:prstGeom prst="rect">
            <a:avLst/>
          </a:prstGeom>
          <a:noFill/>
          <a:ln/>
        </p:spPr>
        <p:txBody>
          <a:bodyPr wrap="none" lIns="0" tIns="0" rIns="0" bIns="0" rtlCol="0" anchor="t">
            <a:normAutofit/>
          </a:bodyPr>
          <a:lstStyle/>
          <a:p>
            <a:pPr algn="l" indent="0" marL="0">
              <a:lnSpc>
                <a:spcPts val="174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cookieParser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'cookie-parser'</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cookieParser</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fills req.cookies</a:t>
            </a:r>
            <a:endParaRPr lang="en-US" sz="1200" dirty="0"/>
          </a:p>
          <a:p>
            <a:pPr algn="l" indent="0" marL="0">
              <a:lnSpc>
                <a:spcPts val="1740"/>
              </a:lnSpc>
              <a:buNone/>
            </a:pP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'/theme/:name'</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cookie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'theme'</a:t>
            </a:r>
            <a:r>
              <a:rPr lang="en-US" sz="1200" dirty="0">
                <a:solidFill>
                  <a:srgbClr val="E6E1D6"/>
                </a:solidFill>
                <a:latin typeface="JetBrains Mono" pitchFamily="49" charset="0"/>
                <a:ea typeface="JetBrains Mono" pitchFamily="49" charset="-122"/>
                <a:cs typeface="JetBrains Mono" pitchFamily="49" charset="-120"/>
              </a:rPr>
              <a:t>, req.params.name);</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send</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`Theme set to ${req.params.name}`</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get</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'/products'</a:t>
            </a:r>
            <a:r>
              <a:rPr lang="en-US" sz="1200" dirty="0">
                <a:solidFill>
                  <a:srgbClr val="E6E1D6"/>
                </a:solidFill>
                <a:latin typeface="JetBrains Mono" pitchFamily="49" charset="0"/>
                <a:ea typeface="JetBrains Mono" pitchFamily="49" charset="-122"/>
                <a:cs typeface="JetBrains Mono" pitchFamily="49" charset="-120"/>
              </a:rPr>
              <a:t>, (req, res) =&gt;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console.</a:t>
            </a:r>
            <a:r>
              <a:rPr lang="en-US" sz="1200" dirty="0">
                <a:solidFill>
                  <a:srgbClr val="82AAFF"/>
                </a:solidFill>
                <a:latin typeface="JetBrains Mono" pitchFamily="49" charset="0"/>
                <a:ea typeface="JetBrains Mono" pitchFamily="49" charset="-122"/>
                <a:cs typeface="JetBrains Mono" pitchFamily="49" charset="-120"/>
              </a:rPr>
              <a:t>log</a:t>
            </a:r>
            <a:r>
              <a:rPr lang="en-US" sz="1200" dirty="0">
                <a:solidFill>
                  <a:srgbClr val="E6E1D6"/>
                </a:solidFill>
                <a:latin typeface="JetBrains Mono" pitchFamily="49" charset="0"/>
                <a:ea typeface="JetBrains Mono" pitchFamily="49" charset="-122"/>
                <a:cs typeface="JetBrains Mono" pitchFamily="49" charset="-120"/>
              </a:rPr>
              <a:t>(req.cookies.theme);</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theme: req.cookies.theme || </a:t>
            </a:r>
            <a:r>
              <a:rPr lang="en-US" sz="1200" dirty="0">
                <a:solidFill>
                  <a:srgbClr val="C3E88D"/>
                </a:solidFill>
                <a:latin typeface="JetBrains Mono" pitchFamily="49" charset="0"/>
                <a:ea typeface="JetBrains Mono" pitchFamily="49" charset="-122"/>
                <a:cs typeface="JetBrains Mono" pitchFamily="49" charset="-120"/>
              </a:rPr>
              <a:t>'light'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count: products.length</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74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7" name="Shape 5"/>
          <p:cNvSpPr/>
          <p:nvPr/>
        </p:nvSpPr>
        <p:spPr>
          <a:xfrm>
            <a:off x="6610350" y="1708150"/>
            <a:ext cx="4762450" cy="2247875"/>
          </a:xfrm>
          <a:prstGeom prst="roundRect">
            <a:avLst>
              <a:gd name="adj" fmla="val 4237"/>
            </a:avLst>
          </a:prstGeom>
          <a:solidFill>
            <a:srgbClr val="FDFCF8"/>
          </a:solidFill>
          <a:ln w="12700">
            <a:solidFill>
              <a:srgbClr val="D5D1C4"/>
            </a:solidFill>
            <a:prstDash val="solid"/>
          </a:ln>
        </p:spPr>
      </p:sp>
      <p:sp>
        <p:nvSpPr>
          <p:cNvPr id="8" name="Text 6"/>
          <p:cNvSpPr/>
          <p:nvPr/>
        </p:nvSpPr>
        <p:spPr>
          <a:xfrm>
            <a:off x="6793694" y="1866057"/>
            <a:ext cx="4527636"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BROWSER, IN ORDER</a:t>
            </a:r>
            <a:endParaRPr lang="en-US" sz="1200" dirty="0"/>
          </a:p>
        </p:txBody>
      </p:sp>
      <p:sp>
        <p:nvSpPr>
          <p:cNvPr id="9" name="Text 7"/>
          <p:cNvSpPr/>
          <p:nvPr/>
        </p:nvSpPr>
        <p:spPr>
          <a:xfrm>
            <a:off x="6793694" y="2155577"/>
            <a:ext cx="4527636"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/products</a:t>
            </a:r>
            <a:endParaRPr lang="en-US" sz="1200" dirty="0"/>
          </a:p>
        </p:txBody>
      </p:sp>
      <p:sp>
        <p:nvSpPr>
          <p:cNvPr id="10" name="Text 8"/>
          <p:cNvSpPr/>
          <p:nvPr/>
        </p:nvSpPr>
        <p:spPr>
          <a:xfrm>
            <a:off x="6793694" y="2445147"/>
            <a:ext cx="4527636"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{"theme":"light","count":20}</a:t>
            </a:r>
            <a:endParaRPr lang="en-US" sz="1300" dirty="0"/>
          </a:p>
        </p:txBody>
      </p:sp>
      <p:sp>
        <p:nvSpPr>
          <p:cNvPr id="11" name="Text 9"/>
          <p:cNvSpPr/>
          <p:nvPr/>
        </p:nvSpPr>
        <p:spPr>
          <a:xfrm>
            <a:off x="6793694" y="2752328"/>
            <a:ext cx="4527636"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/theme/dark → Theme set to dark</a:t>
            </a:r>
            <a:endParaRPr lang="en-US" sz="1200" dirty="0"/>
          </a:p>
        </p:txBody>
      </p:sp>
      <p:sp>
        <p:nvSpPr>
          <p:cNvPr id="12" name="Text 10"/>
          <p:cNvSpPr/>
          <p:nvPr/>
        </p:nvSpPr>
        <p:spPr>
          <a:xfrm>
            <a:off x="6793694" y="3041848"/>
            <a:ext cx="4527636"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JetBrains Mono" pitchFamily="49" charset="0"/>
                <a:ea typeface="JetBrains Mono" pitchFamily="49" charset="-122"/>
                <a:cs typeface="JetBrains Mono" pitchFamily="49" charset="-120"/>
              </a:rPr>
              <a:t>/products</a:t>
            </a:r>
            <a:endParaRPr lang="en-US" sz="1200" dirty="0"/>
          </a:p>
        </p:txBody>
      </p:sp>
      <p:sp>
        <p:nvSpPr>
          <p:cNvPr id="13" name="Text 11"/>
          <p:cNvSpPr/>
          <p:nvPr/>
        </p:nvSpPr>
        <p:spPr>
          <a:xfrm>
            <a:off x="6793694" y="3331369"/>
            <a:ext cx="4527636"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{"theme":"dark","count":20}</a:t>
            </a:r>
            <a:endParaRPr lang="en-US" sz="1300" dirty="0"/>
          </a:p>
        </p:txBody>
      </p:sp>
      <p:sp>
        <p:nvSpPr>
          <p:cNvPr id="14" name="Shape 12"/>
          <p:cNvSpPr/>
          <p:nvPr/>
        </p:nvSpPr>
        <p:spPr>
          <a:xfrm>
            <a:off x="6604000" y="4114800"/>
            <a:ext cx="4775150" cy="1930363"/>
          </a:xfrm>
          <a:prstGeom prst="roundRect">
            <a:avLst>
              <a:gd name="adj" fmla="val 5263"/>
            </a:avLst>
          </a:prstGeom>
          <a:solidFill>
            <a:srgbClr val="0E1117"/>
          </a:solidFill>
          <a:ln/>
        </p:spPr>
      </p:sp>
      <p:sp>
        <p:nvSpPr>
          <p:cNvPr id="15" name="Text 13"/>
          <p:cNvSpPr/>
          <p:nvPr/>
        </p:nvSpPr>
        <p:spPr>
          <a:xfrm>
            <a:off x="6781788" y="4267150"/>
            <a:ext cx="4552162"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a:t>
            </a:r>
            <a:endParaRPr lang="en-US" sz="1200" dirty="0"/>
          </a:p>
        </p:txBody>
      </p:sp>
      <p:sp>
        <p:nvSpPr>
          <p:cNvPr id="16" name="Text 14"/>
          <p:cNvSpPr/>
          <p:nvPr/>
        </p:nvSpPr>
        <p:spPr>
          <a:xfrm>
            <a:off x="6781788" y="4556671"/>
            <a:ext cx="4552162" cy="482674"/>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undefined</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dark</a:t>
            </a:r>
            <a:endParaRPr lang="en-US" sz="1200" dirty="0"/>
          </a:p>
        </p:txBody>
      </p:sp>
      <p:sp>
        <p:nvSpPr>
          <p:cNvPr id="17" name="Text 15"/>
          <p:cNvSpPr/>
          <p:nvPr/>
        </p:nvSpPr>
        <p:spPr>
          <a:xfrm>
            <a:off x="6781788" y="5090120"/>
            <a:ext cx="4552162"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Remove cookieParser() and req.cookies is undefined: the same story as req.body.</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D9692A"/>
                </a:solidFill>
                <a:latin typeface="Space Grotesk" pitchFamily="34" charset="0"/>
                <a:ea typeface="Space Grotesk" pitchFamily="34" charset="-122"/>
                <a:cs typeface="Space Grotesk" pitchFamily="34" charset="-120"/>
              </a:rPr>
              <a:t>TYPE 5 · THIRD-PARTY · MORGAN AND CORS</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Others already wrote the middleware you need</a:t>
            </a:r>
            <a:endParaRPr lang="en-US" sz="2800" dirty="0"/>
          </a:p>
        </p:txBody>
      </p:sp>
      <p:sp>
        <p:nvSpPr>
          <p:cNvPr id="4" name="Shape 2"/>
          <p:cNvSpPr/>
          <p:nvPr/>
        </p:nvSpPr>
        <p:spPr>
          <a:xfrm>
            <a:off x="812788" y="1696641"/>
            <a:ext cx="5194288" cy="1788294"/>
          </a:xfrm>
          <a:prstGeom prst="roundRect">
            <a:avLst>
              <a:gd name="adj" fmla="val 5681"/>
            </a:avLst>
          </a:prstGeom>
          <a:solidFill>
            <a:srgbClr val="161B24"/>
          </a:solidFill>
          <a:ln/>
        </p:spPr>
      </p:sp>
      <p:sp>
        <p:nvSpPr>
          <p:cNvPr id="5" name="Text 3"/>
          <p:cNvSpPr/>
          <p:nvPr/>
        </p:nvSpPr>
        <p:spPr>
          <a:xfrm>
            <a:off x="1015938" y="1874441"/>
            <a:ext cx="4931626"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BD88F"/>
                </a:solidFill>
                <a:latin typeface="JetBrains Mono" pitchFamily="49" charset="0"/>
                <a:ea typeface="JetBrains Mono" pitchFamily="49" charset="-122"/>
                <a:cs typeface="JetBrains Mono" pitchFamily="49" charset="-120"/>
              </a:rPr>
              <a:t>$ npm install morgan cors</a:t>
            </a:r>
            <a:endParaRPr lang="en-US" sz="1200" dirty="0"/>
          </a:p>
        </p:txBody>
      </p:sp>
      <p:sp>
        <p:nvSpPr>
          <p:cNvPr id="6" name="Text 4"/>
          <p:cNvSpPr/>
          <p:nvPr/>
        </p:nvSpPr>
        <p:spPr>
          <a:xfrm>
            <a:off x="1015938" y="2163961"/>
            <a:ext cx="4931626" cy="1168586"/>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morgan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'morgan'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cors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'cors'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morgan</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'dev'</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replaces our logger</a:t>
            </a:r>
            <a:endParaRPr lang="en-US" sz="1200" dirty="0"/>
          </a:p>
          <a:p>
            <a:pPr algn="l" indent="0" marL="0">
              <a:lnSpc>
                <a:spcPts val="1800"/>
              </a:lnSpc>
              <a:buNone/>
            </a:pPr>
            <a:r>
              <a:rPr lang="en-US" sz="1200" dirty="0">
                <a:solidFill>
                  <a:srgbClr val="E6E1D6"/>
                </a:solidFill>
                <a:latin typeface="JetBrains Mono" pitchFamily="49" charset="0"/>
                <a:ea typeface="JetBrains Mono" pitchFamily="49" charset="-122"/>
                <a:cs typeface="JetBrains Mono" pitchFamily="49" charset="-120"/>
              </a:rPr>
              <a:t>server.</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cors</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8796"/>
                </a:solidFill>
                <a:latin typeface="JetBrains Mono" pitchFamily="49" charset="0"/>
                <a:ea typeface="JetBrains Mono" pitchFamily="49" charset="-122"/>
                <a:cs typeface="JetBrains Mono" pitchFamily="49" charset="-120"/>
              </a:rPr>
              <a:t>// let other sites call us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6769" y="1708547"/>
          <a:ext cx="5182381" cy="2323641"/>
        </p:xfrm>
        <a:graphic>
          <a:graphicData uri="http://schemas.openxmlformats.org/drawingml/2006/table">
            <a:tbl>
              <a:tblPr/>
              <a:tblGrid>
                <a:gridCol w="1969305"/>
                <a:gridCol w="3213076"/>
              </a:tblGrid>
              <a:tr h="331949">
                <a:tc>
                  <a:txBody>
                    <a:bodyPr/>
                    <a:lstStyle/>
                    <a:p>
                      <a:pPr indent="0" marL="0">
                        <a:lnSpc>
                          <a:spcPts val="1680"/>
                        </a:lnSpc>
                        <a:buNone/>
                      </a:pPr>
                      <a:r>
                        <a:rPr lang="en-US" sz="1200" b="1" dirty="0">
                          <a:solidFill>
                            <a:srgbClr val="1A1F2B"/>
                          </a:solidFill>
                          <a:latin typeface="Space Grotesk" pitchFamily="34" charset="0"/>
                          <a:ea typeface="Space Grotesk" pitchFamily="34" charset="-122"/>
                          <a:cs typeface="Space Grotesk" pitchFamily="34" charset="-120"/>
                        </a:rPr>
                        <a:t>Package</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Space Grotesk" pitchFamily="34" charset="0"/>
                          <a:ea typeface="Space Grotesk" pitchFamily="34" charset="-122"/>
                          <a:cs typeface="Space Grotesk" pitchFamily="34" charset="-120"/>
                        </a:rPr>
                        <a:t>Adds</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morgan</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request logging</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cors</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cross-origin headers</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cookie-parser</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req.cookies</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multer</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file uploads (req.file)</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express-session</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login sessions (req.session)</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compression</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gzip responses</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8" name="Shape 5"/>
          <p:cNvSpPr/>
          <p:nvPr/>
        </p:nvSpPr>
        <p:spPr>
          <a:xfrm>
            <a:off x="812788" y="4064000"/>
            <a:ext cx="5194288" cy="1981150"/>
          </a:xfrm>
          <a:prstGeom prst="roundRect">
            <a:avLst>
              <a:gd name="adj" fmla="val 5128"/>
            </a:avLst>
          </a:prstGeom>
          <a:solidFill>
            <a:srgbClr val="0E1117"/>
          </a:solidFill>
          <a:ln/>
        </p:spPr>
      </p:sp>
      <p:sp>
        <p:nvSpPr>
          <p:cNvPr id="9" name="Text 6"/>
          <p:cNvSpPr/>
          <p:nvPr/>
        </p:nvSpPr>
        <p:spPr>
          <a:xfrm>
            <a:off x="990575" y="4216350"/>
            <a:ext cx="4983874"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8796"/>
                </a:solidFill>
                <a:latin typeface="Space Grotesk" pitchFamily="34" charset="0"/>
                <a:ea typeface="Space Grotesk" pitchFamily="34" charset="-122"/>
                <a:cs typeface="Space Grotesk" pitchFamily="34" charset="-120"/>
              </a:rPr>
              <a:t>SERVER CONSOLE · morgan('dev')</a:t>
            </a:r>
            <a:endParaRPr lang="en-US" sz="1200" dirty="0"/>
          </a:p>
        </p:txBody>
      </p:sp>
      <p:sp>
        <p:nvSpPr>
          <p:cNvPr id="10" name="Text 7"/>
          <p:cNvSpPr/>
          <p:nvPr/>
        </p:nvSpPr>
        <p:spPr>
          <a:xfrm>
            <a:off x="990575" y="4505920"/>
            <a:ext cx="4983874" cy="711312"/>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GET /products/5 </a:t>
            </a:r>
            <a:r>
              <a:rPr lang="en-US" sz="1200" dirty="0">
                <a:solidFill>
                  <a:srgbClr val="7BD88F"/>
                </a:solidFill>
                <a:latin typeface="JetBrains Mono" pitchFamily="49" charset="0"/>
                <a:ea typeface="JetBrains Mono" pitchFamily="49" charset="-122"/>
                <a:cs typeface="JetBrains Mono" pitchFamily="49" charset="-120"/>
              </a:rPr>
              <a:t>200</a:t>
            </a:r>
            <a:r>
              <a:rPr lang="en-US" sz="1200" dirty="0">
                <a:solidFill>
                  <a:srgbClr val="D7DCE2"/>
                </a:solidFill>
                <a:latin typeface="JetBrains Mono" pitchFamily="49" charset="0"/>
                <a:ea typeface="JetBrains Mono" pitchFamily="49" charset="-122"/>
                <a:cs typeface="JetBrains Mono" pitchFamily="49" charset="-120"/>
              </a:rPr>
              <a:t> 2.871 ms - 453</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GET /nope </a:t>
            </a:r>
            <a:r>
              <a:rPr lang="en-US" sz="1200" dirty="0">
                <a:solidFill>
                  <a:srgbClr val="F0A15E"/>
                </a:solidFill>
                <a:latin typeface="JetBrains Mono" pitchFamily="49" charset="0"/>
                <a:ea typeface="JetBrains Mono" pitchFamily="49" charset="-122"/>
                <a:cs typeface="JetBrains Mono" pitchFamily="49" charset="-120"/>
              </a:rPr>
              <a:t>404</a:t>
            </a:r>
            <a:r>
              <a:rPr lang="en-US" sz="1200" dirty="0">
                <a:solidFill>
                  <a:srgbClr val="D7DCE2"/>
                </a:solidFill>
                <a:latin typeface="JetBrains Mono" pitchFamily="49" charset="0"/>
                <a:ea typeface="JetBrains Mono" pitchFamily="49" charset="-122"/>
                <a:cs typeface="JetBrains Mono" pitchFamily="49" charset="-120"/>
              </a:rPr>
              <a:t> 0.904 ms - 21</a:t>
            </a:r>
            <a:endParaRPr lang="en-US" sz="1200" dirty="0"/>
          </a:p>
          <a:p>
            <a:pPr algn="l" indent="0" marL="0">
              <a:lnSpc>
                <a:spcPts val="1800"/>
              </a:lnSpc>
              <a:buNone/>
            </a:pPr>
            <a:r>
              <a:rPr lang="en-US" sz="1200" dirty="0">
                <a:solidFill>
                  <a:srgbClr val="D7DCE2"/>
                </a:solidFill>
                <a:latin typeface="JetBrains Mono" pitchFamily="49" charset="0"/>
                <a:ea typeface="JetBrains Mono" pitchFamily="49" charset="-122"/>
                <a:cs typeface="JetBrains Mono" pitchFamily="49" charset="-120"/>
              </a:rPr>
              <a:t>GET /products/99 </a:t>
            </a:r>
            <a:r>
              <a:rPr lang="en-US" sz="1200" dirty="0">
                <a:solidFill>
                  <a:srgbClr val="F0A15E"/>
                </a:solidFill>
                <a:latin typeface="JetBrains Mono" pitchFamily="49" charset="0"/>
                <a:ea typeface="JetBrains Mono" pitchFamily="49" charset="-122"/>
                <a:cs typeface="JetBrains Mono" pitchFamily="49" charset="-120"/>
              </a:rPr>
              <a:t>404</a:t>
            </a:r>
            <a:r>
              <a:rPr lang="en-US" sz="1200" dirty="0">
                <a:solidFill>
                  <a:srgbClr val="D7DCE2"/>
                </a:solidFill>
                <a:latin typeface="JetBrains Mono" pitchFamily="49" charset="0"/>
                <a:ea typeface="JetBrains Mono" pitchFamily="49" charset="-122"/>
                <a:cs typeface="JetBrains Mono" pitchFamily="49" charset="-120"/>
              </a:rPr>
              <a:t> 1.233 ms - 29</a:t>
            </a:r>
            <a:endParaRPr lang="en-US" sz="1200" dirty="0"/>
          </a:p>
        </p:txBody>
      </p:sp>
      <p:sp>
        <p:nvSpPr>
          <p:cNvPr id="11" name="Text 8"/>
          <p:cNvSpPr/>
          <p:nvPr/>
        </p:nvSpPr>
        <p:spPr>
          <a:xfrm>
            <a:off x="990575" y="5267970"/>
            <a:ext cx="4983874" cy="23878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method · path · status · time · bytes sent</a:t>
            </a:r>
            <a:endParaRPr lang="en-US" sz="1200" dirty="0"/>
          </a:p>
        </p:txBody>
      </p:sp>
      <p:sp>
        <p:nvSpPr>
          <p:cNvPr id="12" name="Shape 9"/>
          <p:cNvSpPr/>
          <p:nvPr/>
        </p:nvSpPr>
        <p:spPr>
          <a:xfrm>
            <a:off x="6191213" y="4070350"/>
            <a:ext cx="5181588" cy="1968450"/>
          </a:xfrm>
          <a:prstGeom prst="roundRect">
            <a:avLst>
              <a:gd name="adj" fmla="val 4839"/>
            </a:avLst>
          </a:prstGeom>
          <a:solidFill>
            <a:srgbClr val="FDFCF8"/>
          </a:solidFill>
          <a:ln w="12700">
            <a:solidFill>
              <a:srgbClr val="DDD8CA"/>
            </a:solidFill>
            <a:prstDash val="solid"/>
          </a:ln>
        </p:spPr>
      </p:sp>
      <p:sp>
        <p:nvSpPr>
          <p:cNvPr id="13" name="Text 10"/>
          <p:cNvSpPr/>
          <p:nvPr/>
        </p:nvSpPr>
        <p:spPr>
          <a:xfrm>
            <a:off x="6374557" y="4542780"/>
            <a:ext cx="4959347" cy="23878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C5566"/>
                </a:solidFill>
                <a:latin typeface="Space Grotesk" pitchFamily="34" charset="0"/>
                <a:ea typeface="Space Grotesk" pitchFamily="34" charset="-122"/>
                <a:cs typeface="Space Grotesk" pitchFamily="34" charset="-120"/>
              </a:rPr>
              <a:t>RESPONSE HEADER ADDED BY cors()</a:t>
            </a:r>
            <a:endParaRPr lang="en-US" sz="1200" dirty="0"/>
          </a:p>
        </p:txBody>
      </p:sp>
      <p:sp>
        <p:nvSpPr>
          <p:cNvPr id="14" name="Text 11"/>
          <p:cNvSpPr/>
          <p:nvPr/>
        </p:nvSpPr>
        <p:spPr>
          <a:xfrm>
            <a:off x="6374557" y="4832350"/>
            <a:ext cx="4959347"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A1F2B"/>
                </a:solidFill>
                <a:latin typeface="JetBrains Mono" pitchFamily="49" charset="0"/>
                <a:ea typeface="JetBrains Mono" pitchFamily="49" charset="-122"/>
                <a:cs typeface="JetBrains Mono" pitchFamily="49" charset="-120"/>
              </a:rPr>
              <a:t>Access-Control-Allow-Origin: *</a:t>
            </a:r>
            <a:endParaRPr lang="en-US" sz="1300" dirty="0"/>
          </a:p>
        </p:txBody>
      </p:sp>
      <p:sp>
        <p:nvSpPr>
          <p:cNvPr id="15" name="Text 12"/>
          <p:cNvSpPr/>
          <p:nvPr/>
        </p:nvSpPr>
        <p:spPr>
          <a:xfrm>
            <a:off x="6374557" y="5139531"/>
            <a:ext cx="4959347"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C5566"/>
                </a:solidFill>
                <a:latin typeface="Space Grotesk" pitchFamily="34" charset="0"/>
                <a:ea typeface="Space Grotesk" pitchFamily="34" charset="-122"/>
                <a:cs typeface="Space Grotesk" pitchFamily="34" charset="-120"/>
              </a:rPr>
              <a:t>Without it, a React app on localhost:5173 calling your API on :11000 is blocked by the browser.</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EVERYTHING TOGETHER · APP.JS</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All five types, in the order they must run</a:t>
            </a:r>
            <a:endParaRPr lang="en-US" sz="2800" dirty="0"/>
          </a:p>
        </p:txBody>
      </p:sp>
      <p:sp>
        <p:nvSpPr>
          <p:cNvPr id="4" name="Text 2"/>
          <p:cNvSpPr/>
          <p:nvPr/>
        </p:nvSpPr>
        <p:spPr>
          <a:xfrm>
            <a:off x="812788" y="1696641"/>
            <a:ext cx="6985000" cy="4196457"/>
          </a:xfrm>
          <a:prstGeom prst="roundRect">
            <a:avLst>
              <a:gd name="adj" fmla="val 2421"/>
            </a:avLst>
          </a:prstGeom>
          <a:solidFill>
            <a:srgbClr val="161B24"/>
          </a:solidFill>
          <a:ln/>
        </p:spPr>
        <p:txBody>
          <a:bodyPr wrap="none" lIns="173393" tIns="148042" rIns="0" bIns="122618" rtlCol="0" anchor="t">
            <a:normAutofit/>
          </a:bodyPr>
          <a:lstStyle/>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express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'express'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morgan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'morgan'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products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'./routes/products'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admin = </a:t>
            </a:r>
            <a:r>
              <a:rPr lang="en-US" sz="1200" dirty="0">
                <a:solidFill>
                  <a:srgbClr val="82AAFF"/>
                </a:solidFill>
                <a:latin typeface="JetBrains Mono" pitchFamily="49" charset="0"/>
                <a:ea typeface="JetBrains Mono" pitchFamily="49" charset="-122"/>
                <a:cs typeface="JetBrains Mono" pitchFamily="49" charset="-120"/>
              </a:rPr>
              <a:t>require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'./routes/admin'</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C792EA"/>
                </a:solidFill>
                <a:latin typeface="JetBrains Mono" pitchFamily="49" charset="0"/>
                <a:ea typeface="JetBrains Mono" pitchFamily="49" charset="-122"/>
                <a:cs typeface="JetBrains Mono" pitchFamily="49" charset="-120"/>
              </a:rPr>
              <a:t>const</a:t>
            </a:r>
            <a:r>
              <a:rPr lang="en-US" sz="1200" dirty="0">
                <a:solidFill>
                  <a:srgbClr val="E6E1D6"/>
                </a:solidFill>
                <a:latin typeface="JetBrains Mono" pitchFamily="49" charset="0"/>
                <a:ea typeface="JetBrains Mono" pitchFamily="49" charset="-122"/>
                <a:cs typeface="JetBrains Mono" pitchFamily="49" charset="-120"/>
              </a:rPr>
              <a:t> app = </a:t>
            </a:r>
            <a:r>
              <a:rPr lang="en-US" sz="1200" dirty="0">
                <a:solidFill>
                  <a:srgbClr val="82AAFF"/>
                </a:solidFill>
                <a:latin typeface="JetBrains Mono" pitchFamily="49" charset="0"/>
                <a:ea typeface="JetBrains Mono" pitchFamily="49" charset="-122"/>
                <a:cs typeface="JetBrains Mono" pitchFamily="49" charset="-120"/>
              </a:rPr>
              <a:t>express</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morgan</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'dev'</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F0A15E"/>
                </a:solidFill>
                <a:latin typeface="JetBrains Mono" pitchFamily="49" charset="0"/>
                <a:ea typeface="JetBrains Mono" pitchFamily="49" charset="-122"/>
                <a:cs typeface="JetBrains Mono" pitchFamily="49" charset="-120"/>
              </a:rPr>
              <a:t>// 5 third-party</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(express.</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B0FF"/>
                </a:solidFill>
                <a:latin typeface="JetBrains Mono" pitchFamily="49" charset="0"/>
                <a:ea typeface="JetBrains Mono" pitchFamily="49" charset="-122"/>
                <a:cs typeface="JetBrains Mono" pitchFamily="49" charset="-120"/>
              </a:rPr>
              <a:t>// 4 built-in</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(express.</a:t>
            </a:r>
            <a:r>
              <a:rPr lang="en-US" sz="1200" dirty="0">
                <a:solidFill>
                  <a:srgbClr val="82AAFF"/>
                </a:solidFill>
                <a:latin typeface="JetBrains Mono" pitchFamily="49" charset="0"/>
                <a:ea typeface="JetBrains Mono" pitchFamily="49" charset="-122"/>
                <a:cs typeface="JetBrains Mono" pitchFamily="49" charset="-120"/>
              </a:rPr>
              <a:t>static</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'public'</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7FB0FF"/>
                </a:solidFill>
                <a:latin typeface="JetBrains Mono" pitchFamily="49" charset="0"/>
                <a:ea typeface="JetBrains Mono" pitchFamily="49" charset="-122"/>
                <a:cs typeface="JetBrains Mono" pitchFamily="49" charset="-120"/>
              </a:rPr>
              <a:t>// 4 built-in</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next) =&gt; { </a:t>
            </a:r>
            <a:r>
              <a:rPr lang="en-US" sz="1200" dirty="0">
                <a:solidFill>
                  <a:srgbClr val="7BD88F"/>
                </a:solidFill>
                <a:latin typeface="JetBrains Mono" pitchFamily="49" charset="0"/>
                <a:ea typeface="JetBrains Mono" pitchFamily="49" charset="-122"/>
                <a:cs typeface="JetBrains Mono" pitchFamily="49" charset="-120"/>
              </a:rPr>
              <a:t>// 1 application-level</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req.requestTime = Date.</a:t>
            </a:r>
            <a:r>
              <a:rPr lang="en-US" sz="1200" dirty="0">
                <a:solidFill>
                  <a:srgbClr val="82AAFF"/>
                </a:solidFill>
                <a:latin typeface="JetBrains Mono" pitchFamily="49" charset="0"/>
                <a:ea typeface="JetBrains Mono" pitchFamily="49" charset="-122"/>
                <a:cs typeface="JetBrains Mono" pitchFamily="49" charset="-120"/>
              </a:rPr>
              <a:t>now</a:t>
            </a:r>
            <a:r>
              <a:rPr lang="en-US" sz="1200" dirty="0">
                <a:solidFill>
                  <a:srgbClr val="E6E1D6"/>
                </a:solidFill>
                <a:latin typeface="JetBrains Mono" pitchFamily="49" charset="0"/>
                <a:ea typeface="JetBrains Mono" pitchFamily="49" charset="-122"/>
                <a:cs typeface="JetBrains Mono" pitchFamily="49" charset="-120"/>
              </a:rPr>
              <a:t>(); </a:t>
            </a:r>
            <a:r>
              <a:rPr lang="en-US" sz="1200" dirty="0">
                <a:solidFill>
                  <a:srgbClr val="82AAFF"/>
                </a:solidFill>
                <a:latin typeface="JetBrains Mono" pitchFamily="49" charset="0"/>
                <a:ea typeface="JetBrains Mono" pitchFamily="49" charset="-122"/>
                <a:cs typeface="JetBrains Mono" pitchFamily="49" charset="-120"/>
              </a:rPr>
              <a:t>next</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'/api/products'</a:t>
            </a:r>
            <a:r>
              <a:rPr lang="en-US" sz="1200" dirty="0">
                <a:solidFill>
                  <a:srgbClr val="E6E1D6"/>
                </a:solidFill>
                <a:latin typeface="JetBrains Mono" pitchFamily="49" charset="0"/>
                <a:ea typeface="JetBrains Mono" pitchFamily="49" charset="-122"/>
                <a:cs typeface="JetBrains Mono" pitchFamily="49" charset="-120"/>
              </a:rPr>
              <a:t>, products); </a:t>
            </a:r>
            <a:r>
              <a:rPr lang="en-US" sz="1200" dirty="0">
                <a:solidFill>
                  <a:srgbClr val="7BD88F"/>
                </a:solidFill>
                <a:latin typeface="JetBrains Mono" pitchFamily="49" charset="0"/>
                <a:ea typeface="JetBrains Mono" pitchFamily="49" charset="-122"/>
                <a:cs typeface="JetBrains Mono" pitchFamily="49" charset="-120"/>
              </a:rPr>
              <a:t>// 2 router-level</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C3E88D"/>
                </a:solidFill>
                <a:latin typeface="JetBrains Mono" pitchFamily="49" charset="0"/>
                <a:ea typeface="JetBrains Mono" pitchFamily="49" charset="-122"/>
                <a:cs typeface="JetBrains Mono" pitchFamily="49" charset="-120"/>
              </a:rPr>
              <a:t>'/api/admin'</a:t>
            </a:r>
            <a:r>
              <a:rPr lang="en-US" sz="1200" dirty="0">
                <a:solidFill>
                  <a:srgbClr val="E6E1D6"/>
                </a:solidFill>
                <a:latin typeface="JetBrains Mono" pitchFamily="49" charset="0"/>
                <a:ea typeface="JetBrains Mono" pitchFamily="49" charset="-122"/>
                <a:cs typeface="JetBrains Mono" pitchFamily="49" charset="-120"/>
              </a:rPr>
              <a:t>, admin); </a:t>
            </a:r>
            <a:r>
              <a:rPr lang="en-US" sz="1200" dirty="0">
                <a:solidFill>
                  <a:srgbClr val="7BD88F"/>
                </a:solidFill>
                <a:latin typeface="JetBrains Mono" pitchFamily="49" charset="0"/>
                <a:ea typeface="JetBrains Mono" pitchFamily="49" charset="-122"/>
                <a:cs typeface="JetBrains Mono" pitchFamily="49" charset="-120"/>
              </a:rPr>
              <a:t>// 2 (checkAdmin inside)</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((req, res) =&gt; </a:t>
            </a:r>
            <a:r>
              <a:rPr lang="en-US" sz="1200" dirty="0">
                <a:solidFill>
                  <a:srgbClr val="7F8796"/>
                </a:solidFill>
                <a:latin typeface="JetBrains Mono" pitchFamily="49" charset="0"/>
                <a:ea typeface="JetBrains Mono" pitchFamily="49" charset="-122"/>
                <a:cs typeface="JetBrains Mono" pitchFamily="49" charset="-120"/>
              </a:rPr>
              <a:t>// 404: normal middleware</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404</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 error: </a:t>
            </a:r>
            <a:r>
              <a:rPr lang="en-US" sz="1200" dirty="0">
                <a:solidFill>
                  <a:srgbClr val="C3E88D"/>
                </a:solidFill>
                <a:latin typeface="JetBrains Mono" pitchFamily="49" charset="0"/>
                <a:ea typeface="JetBrains Mono" pitchFamily="49" charset="-122"/>
                <a:cs typeface="JetBrains Mono" pitchFamily="49" charset="-120"/>
              </a:rPr>
              <a:t>'Not found'</a:t>
            </a:r>
            <a:r>
              <a:rPr lang="en-US" sz="1200" dirty="0">
                <a:solidFill>
                  <a:srgbClr val="E6E1D6"/>
                </a:solidFill>
                <a:latin typeface="JetBrains Mono" pitchFamily="49" charset="0"/>
                <a:ea typeface="JetBrains Mono" pitchFamily="49" charset="-122"/>
                <a:cs typeface="JetBrains Mono" pitchFamily="49" charset="-120"/>
              </a:rPr>
              <a:t>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use</a:t>
            </a:r>
            <a:r>
              <a:rPr lang="en-US" sz="1200" dirty="0">
                <a:solidFill>
                  <a:srgbClr val="E6E1D6"/>
                </a:solidFill>
                <a:latin typeface="JetBrains Mono" pitchFamily="49" charset="0"/>
                <a:ea typeface="JetBrains Mono" pitchFamily="49" charset="-122"/>
                <a:cs typeface="JetBrains Mono" pitchFamily="49" charset="-120"/>
              </a:rPr>
              <a:t>((err, req, res, next) =&gt; </a:t>
            </a:r>
            <a:r>
              <a:rPr lang="en-US" sz="1200" dirty="0">
                <a:solidFill>
                  <a:srgbClr val="FF8A80"/>
                </a:solidFill>
                <a:latin typeface="JetBrains Mono" pitchFamily="49" charset="0"/>
                <a:ea typeface="JetBrains Mono" pitchFamily="49" charset="-122"/>
                <a:cs typeface="JetBrains Mono" pitchFamily="49" charset="-120"/>
              </a:rPr>
              <a:t>// 3 error-handling</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  res.</a:t>
            </a:r>
            <a:r>
              <a:rPr lang="en-US" sz="1200" dirty="0">
                <a:solidFill>
                  <a:srgbClr val="82AAFF"/>
                </a:solidFill>
                <a:latin typeface="JetBrains Mono" pitchFamily="49" charset="0"/>
                <a:ea typeface="JetBrains Mono" pitchFamily="49" charset="-122"/>
                <a:cs typeface="JetBrains Mono" pitchFamily="49" charset="-120"/>
              </a:rPr>
              <a:t>status</a:t>
            </a:r>
            <a:r>
              <a:rPr lang="en-US" sz="1200" dirty="0">
                <a:solidFill>
                  <a:srgbClr val="E6E1D6"/>
                </a:solidFill>
                <a:latin typeface="JetBrains Mono" pitchFamily="49" charset="0"/>
                <a:ea typeface="JetBrains Mono" pitchFamily="49" charset="-122"/>
                <a:cs typeface="JetBrains Mono" pitchFamily="49" charset="-120"/>
              </a:rPr>
              <a:t>(err.status || </a:t>
            </a:r>
            <a:r>
              <a:rPr lang="en-US" sz="1200" dirty="0">
                <a:solidFill>
                  <a:srgbClr val="F78C6C"/>
                </a:solidFill>
                <a:latin typeface="JetBrains Mono" pitchFamily="49" charset="0"/>
                <a:ea typeface="JetBrains Mono" pitchFamily="49" charset="-122"/>
                <a:cs typeface="JetBrains Mono" pitchFamily="49" charset="-120"/>
              </a:rPr>
              <a:t>500</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82AAFF"/>
                </a:solidFill>
                <a:latin typeface="JetBrains Mono" pitchFamily="49" charset="0"/>
                <a:ea typeface="JetBrains Mono" pitchFamily="49" charset="-122"/>
                <a:cs typeface="JetBrains Mono" pitchFamily="49" charset="-120"/>
              </a:rPr>
              <a:t>json</a:t>
            </a:r>
            <a:r>
              <a:rPr lang="en-US" sz="1200" dirty="0">
                <a:solidFill>
                  <a:srgbClr val="E6E1D6"/>
                </a:solidFill>
                <a:latin typeface="JetBrains Mono" pitchFamily="49" charset="0"/>
                <a:ea typeface="JetBrains Mono" pitchFamily="49" charset="-122"/>
                <a:cs typeface="JetBrains Mono" pitchFamily="49" charset="-120"/>
              </a:rPr>
              <a:t>({ error: err.message }));</a:t>
            </a:r>
            <a:endParaRPr lang="en-US" sz="1200" dirty="0"/>
          </a:p>
          <a:p>
            <a:pPr algn="l" indent="0" marL="0">
              <a:lnSpc>
                <a:spcPts val="1680"/>
              </a:lnSpc>
              <a:buNone/>
            </a:pPr>
            <a:r>
              <a:rPr lang="en-US" sz="1200" dirty="0">
                <a:solidFill>
                  <a:srgbClr val="E6E1D6"/>
                </a:solidFill>
                <a:latin typeface="JetBrains Mono" pitchFamily="49" charset="0"/>
                <a:ea typeface="JetBrains Mono" pitchFamily="49" charset="-122"/>
                <a:cs typeface="JetBrains Mono" pitchFamily="49" charset="-120"/>
              </a:rPr>
              <a:t>app.</a:t>
            </a:r>
            <a:r>
              <a:rPr lang="en-US" sz="1200" dirty="0">
                <a:solidFill>
                  <a:srgbClr val="82AAFF"/>
                </a:solidFill>
                <a:latin typeface="JetBrains Mono" pitchFamily="49" charset="0"/>
                <a:ea typeface="JetBrains Mono" pitchFamily="49" charset="-122"/>
                <a:cs typeface="JetBrains Mono" pitchFamily="49" charset="-120"/>
              </a:rPr>
              <a:t>listen</a:t>
            </a:r>
            <a:r>
              <a:rPr lang="en-US" sz="1200" dirty="0">
                <a:solidFill>
                  <a:srgbClr val="E6E1D6"/>
                </a:solidFill>
                <a:latin typeface="JetBrains Mono" pitchFamily="49" charset="0"/>
                <a:ea typeface="JetBrains Mono" pitchFamily="49" charset="-122"/>
                <a:cs typeface="JetBrains Mono" pitchFamily="49" charset="-120"/>
              </a:rPr>
              <a:t>(</a:t>
            </a:r>
            <a:r>
              <a:rPr lang="en-US" sz="1200" dirty="0">
                <a:solidFill>
                  <a:srgbClr val="F78C6C"/>
                </a:solidFill>
                <a:latin typeface="JetBrains Mono" pitchFamily="49" charset="0"/>
                <a:ea typeface="JetBrains Mono" pitchFamily="49" charset="-122"/>
                <a:cs typeface="JetBrains Mono" pitchFamily="49" charset="-120"/>
              </a:rPr>
              <a:t>11000</a:t>
            </a:r>
            <a:r>
              <a:rPr lang="en-US" sz="1200" dirty="0">
                <a:solidFill>
                  <a:srgbClr val="E6E1D6"/>
                </a:solidFill>
                <a:latin typeface="JetBrains Mono" pitchFamily="49" charset="0"/>
                <a:ea typeface="JetBrains Mono" pitchFamily="49" charset="-122"/>
                <a:cs typeface="JetBrains Mono" pitchFamily="49" charset="-120"/>
              </a:rPr>
              <a:t>);</a:t>
            </a:r>
            <a:endParaRPr lang="en-US" sz="1200" dirty="0"/>
          </a:p>
        </p:txBody>
      </p:sp>
      <p:sp>
        <p:nvSpPr>
          <p:cNvPr id="5" name="Text 3"/>
          <p:cNvSpPr/>
          <p:nvPr/>
        </p:nvSpPr>
        <p:spPr>
          <a:xfrm>
            <a:off x="8001000" y="1701800"/>
            <a:ext cx="3378150" cy="434206"/>
          </a:xfrm>
          <a:prstGeom prst="roundRect">
            <a:avLst>
              <a:gd name="adj" fmla="val 17549"/>
            </a:avLst>
          </a:prstGeom>
          <a:solidFill>
            <a:srgbClr val="D9692A"/>
          </a:solidFill>
          <a:ln/>
        </p:spPr>
        <p:txBody>
          <a:bodyPr wrap="square" lIns="130082" tIns="79282" rIns="37881" bIns="53882" rtlCol="0" anchor="t">
            <a:normAutofit/>
          </a:bodyPr>
          <a:lstStyle/>
          <a:p>
            <a:pPr algn="l" indent="0" marL="0">
              <a:lnSpc>
                <a:spcPts val="1820"/>
              </a:lnSpc>
              <a:buNone/>
            </a:pPr>
            <a:r>
              <a:rPr lang="en-US" sz="1300" b="1" dirty="0">
                <a:solidFill>
                  <a:srgbClr val="FFFFFF"/>
                </a:solidFill>
                <a:latin typeface="Space Grotesk" pitchFamily="34" charset="0"/>
                <a:ea typeface="Space Grotesk" pitchFamily="34" charset="-122"/>
                <a:cs typeface="Space Grotesk" pitchFamily="34" charset="-120"/>
              </a:rPr>
              <a:t>1 · log every request</a:t>
            </a:r>
            <a:endParaRPr lang="en-US" sz="1300" dirty="0"/>
          </a:p>
        </p:txBody>
      </p:sp>
      <p:sp>
        <p:nvSpPr>
          <p:cNvPr id="6" name="Text 4"/>
          <p:cNvSpPr/>
          <p:nvPr/>
        </p:nvSpPr>
        <p:spPr>
          <a:xfrm>
            <a:off x="8001000" y="2413000"/>
            <a:ext cx="3378150" cy="434206"/>
          </a:xfrm>
          <a:prstGeom prst="roundRect">
            <a:avLst>
              <a:gd name="adj" fmla="val 17549"/>
            </a:avLst>
          </a:prstGeom>
          <a:solidFill>
            <a:srgbClr val="2F6FD6"/>
          </a:solidFill>
          <a:ln/>
        </p:spPr>
        <p:txBody>
          <a:bodyPr wrap="square" lIns="130082" tIns="79282" rIns="37881" bIns="53882" rtlCol="0" anchor="t">
            <a:normAutofit/>
          </a:bodyPr>
          <a:lstStyle/>
          <a:p>
            <a:pPr algn="l" indent="0" marL="0">
              <a:lnSpc>
                <a:spcPts val="1820"/>
              </a:lnSpc>
              <a:buNone/>
            </a:pPr>
            <a:r>
              <a:rPr lang="en-US" sz="1300" b="1" dirty="0">
                <a:solidFill>
                  <a:srgbClr val="FFFFFF"/>
                </a:solidFill>
                <a:latin typeface="Space Grotesk" pitchFamily="34" charset="0"/>
                <a:ea typeface="Space Grotesk" pitchFamily="34" charset="-122"/>
                <a:cs typeface="Space Grotesk" pitchFamily="34" charset="-120"/>
              </a:rPr>
              <a:t>2 · read bodies, serve files</a:t>
            </a:r>
            <a:endParaRPr lang="en-US" sz="1300" dirty="0"/>
          </a:p>
        </p:txBody>
      </p:sp>
      <p:sp>
        <p:nvSpPr>
          <p:cNvPr id="7" name="Text 5"/>
          <p:cNvSpPr/>
          <p:nvPr/>
        </p:nvSpPr>
        <p:spPr>
          <a:xfrm>
            <a:off x="8001000" y="3124150"/>
            <a:ext cx="3378150" cy="434206"/>
          </a:xfrm>
          <a:prstGeom prst="roundRect">
            <a:avLst>
              <a:gd name="adj" fmla="val 17549"/>
            </a:avLst>
          </a:prstGeom>
          <a:solidFill>
            <a:srgbClr val="7BD88F"/>
          </a:solidFill>
          <a:ln/>
        </p:spPr>
        <p:txBody>
          <a:bodyPr wrap="square" lIns="130082" tIns="79282" rIns="37881" bIns="53882" rtlCol="0" anchor="t">
            <a:normAutofit/>
          </a:bodyPr>
          <a:lstStyle/>
          <a:p>
            <a:pPr algn="l" indent="0" marL="0">
              <a:lnSpc>
                <a:spcPts val="1820"/>
              </a:lnSpc>
              <a:buNone/>
            </a:pPr>
            <a:r>
              <a:rPr lang="en-US" sz="1300" b="1" dirty="0">
                <a:solidFill>
                  <a:srgbClr val="14110E"/>
                </a:solidFill>
                <a:latin typeface="Space Grotesk" pitchFamily="34" charset="0"/>
                <a:ea typeface="Space Grotesk" pitchFamily="34" charset="-122"/>
                <a:cs typeface="Space Grotesk" pitchFamily="34" charset="-120"/>
              </a:rPr>
              <a:t>3 · stamp req for later</a:t>
            </a:r>
            <a:endParaRPr lang="en-US" sz="1300" dirty="0"/>
          </a:p>
        </p:txBody>
      </p:sp>
      <p:sp>
        <p:nvSpPr>
          <p:cNvPr id="8" name="Text 6"/>
          <p:cNvSpPr/>
          <p:nvPr/>
        </p:nvSpPr>
        <p:spPr>
          <a:xfrm>
            <a:off x="8001000" y="3835350"/>
            <a:ext cx="3378150" cy="434206"/>
          </a:xfrm>
          <a:prstGeom prst="roundRect">
            <a:avLst>
              <a:gd name="adj" fmla="val 17549"/>
            </a:avLst>
          </a:prstGeom>
          <a:solidFill>
            <a:srgbClr val="A8D8B9"/>
          </a:solidFill>
          <a:ln/>
        </p:spPr>
        <p:txBody>
          <a:bodyPr wrap="square" lIns="130082" tIns="79282" rIns="37881" bIns="53882" rtlCol="0" anchor="t">
            <a:normAutofit/>
          </a:bodyPr>
          <a:lstStyle/>
          <a:p>
            <a:pPr algn="l" indent="0" marL="0">
              <a:lnSpc>
                <a:spcPts val="1820"/>
              </a:lnSpc>
              <a:buNone/>
            </a:pPr>
            <a:r>
              <a:rPr lang="en-US" sz="1300" b="1" dirty="0">
                <a:solidFill>
                  <a:srgbClr val="14110E"/>
                </a:solidFill>
                <a:latin typeface="Space Grotesk" pitchFamily="34" charset="0"/>
                <a:ea typeface="Space Grotesk" pitchFamily="34" charset="-122"/>
                <a:cs typeface="Space Grotesk" pitchFamily="34" charset="-120"/>
              </a:rPr>
              <a:t>4 · hand to a router</a:t>
            </a:r>
            <a:endParaRPr lang="en-US" sz="1300" dirty="0"/>
          </a:p>
        </p:txBody>
      </p:sp>
      <p:sp>
        <p:nvSpPr>
          <p:cNvPr id="9" name="Text 7"/>
          <p:cNvSpPr/>
          <p:nvPr/>
        </p:nvSpPr>
        <p:spPr>
          <a:xfrm>
            <a:off x="8001000" y="4546600"/>
            <a:ext cx="3378150" cy="434206"/>
          </a:xfrm>
          <a:prstGeom prst="roundRect">
            <a:avLst>
              <a:gd name="adj" fmla="val 17549"/>
            </a:avLst>
          </a:prstGeom>
          <a:solidFill>
            <a:srgbClr val="E9E6DC"/>
          </a:solidFill>
          <a:ln/>
        </p:spPr>
        <p:txBody>
          <a:bodyPr wrap="square" lIns="130082" tIns="79282" rIns="37881" bIns="53882" rtlCol="0" anchor="t">
            <a:normAutofit/>
          </a:bodyPr>
          <a:lstStyle/>
          <a:p>
            <a:pPr algn="l" indent="0" marL="0">
              <a:lnSpc>
                <a:spcPts val="1820"/>
              </a:lnSpc>
              <a:buNone/>
            </a:pPr>
            <a:r>
              <a:rPr lang="en-US" sz="1300" b="1" dirty="0">
                <a:solidFill>
                  <a:srgbClr val="1A1F2B"/>
                </a:solidFill>
                <a:latin typeface="Space Grotesk" pitchFamily="34" charset="0"/>
                <a:ea typeface="Space Grotesk" pitchFamily="34" charset="-122"/>
                <a:cs typeface="Space Grotesk" pitchFamily="34" charset="-120"/>
              </a:rPr>
              <a:t>5 · nothing matched → 404</a:t>
            </a:r>
            <a:endParaRPr lang="en-US" sz="1300" dirty="0"/>
          </a:p>
        </p:txBody>
      </p:sp>
      <p:sp>
        <p:nvSpPr>
          <p:cNvPr id="10" name="Text 8"/>
          <p:cNvSpPr/>
          <p:nvPr/>
        </p:nvSpPr>
        <p:spPr>
          <a:xfrm>
            <a:off x="8001000" y="5257800"/>
            <a:ext cx="3378150" cy="434206"/>
          </a:xfrm>
          <a:prstGeom prst="roundRect">
            <a:avLst>
              <a:gd name="adj" fmla="val 17549"/>
            </a:avLst>
          </a:prstGeom>
          <a:solidFill>
            <a:srgbClr val="B5462A"/>
          </a:solidFill>
          <a:ln/>
        </p:spPr>
        <p:txBody>
          <a:bodyPr wrap="square" lIns="130082" tIns="79282" rIns="37881" bIns="53882" rtlCol="0" anchor="t">
            <a:normAutofit/>
          </a:bodyPr>
          <a:lstStyle/>
          <a:p>
            <a:pPr algn="l" indent="0" marL="0">
              <a:lnSpc>
                <a:spcPts val="1820"/>
              </a:lnSpc>
              <a:buNone/>
            </a:pPr>
            <a:r>
              <a:rPr lang="en-US" sz="1300" b="1" dirty="0">
                <a:solidFill>
                  <a:srgbClr val="FFFFFF"/>
                </a:solidFill>
                <a:latin typeface="Space Grotesk" pitchFamily="34" charset="0"/>
                <a:ea typeface="Space Grotesk" pitchFamily="34" charset="-122"/>
                <a:cs typeface="Space Grotesk" pitchFamily="34" charset="-120"/>
              </a:rPr>
              <a:t>6 · something broke → error</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FOUR REQUESTS THROUGH THE FULL PIPELINE</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Each one stops at a different place</a:t>
            </a:r>
            <a:endParaRPr lang="en-US" sz="2800" dirty="0"/>
          </a:p>
        </p:txBody>
      </p:sp>
      <p:pic>
        <p:nvPicPr>
          <p:cNvPr id="4" name="Image 0" descr="web embed">    </p:cNvPr>
          <p:cNvPicPr>
            <a:picLocks noChangeAspect="1"/>
          </p:cNvPicPr>
          <p:nvPr/>
        </p:nvPicPr>
        <p:blipFill>
          <a:blip r:embed="rId1"/>
          <a:srcRect l="0" r="0" t="0" b="0"/>
          <a:stretch/>
        </p:blipFill>
        <p:spPr>
          <a:xfrm>
            <a:off x="812788" y="1701800"/>
            <a:ext cx="10566363" cy="40640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E7D4F"/>
                </a:solidFill>
                <a:latin typeface="Space Grotesk" pitchFamily="34" charset="0"/>
                <a:ea typeface="Space Grotesk" pitchFamily="34" charset="-122"/>
                <a:cs typeface="Space Grotesk" pitchFamily="34" charset="-120"/>
              </a:rPr>
              <a:t>CHEAT SHEET · THE FIVE TYPES</a:t>
            </a:r>
            <a:endParaRPr lang="en-US" sz="1200" dirty="0"/>
          </a:p>
        </p:txBody>
      </p:sp>
      <p:sp>
        <p:nvSpPr>
          <p:cNvPr id="3" name="Text 1"/>
          <p:cNvSpPr/>
          <p:nvPr>
            <p:ph type="title"/>
          </p:nvPr>
        </p:nvSpPr>
        <p:spPr>
          <a:xfrm>
            <a:off x="812788" y="1076970"/>
            <a:ext cx="10883418" cy="416508"/>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A1F2B"/>
                </a:solidFill>
                <a:latin typeface="Space Grotesk" pitchFamily="34" charset="0"/>
                <a:ea typeface="Space Grotesk" pitchFamily="34" charset="-122"/>
                <a:cs typeface="Space Grotesk" pitchFamily="34" charset="-120"/>
              </a:rPr>
              <a:t>Where it’s attached decides where it runs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694" y="1683147"/>
          <a:ext cx="10554519" cy="1991692"/>
        </p:xfrm>
        <a:graphic>
          <a:graphicData uri="http://schemas.openxmlformats.org/drawingml/2006/table">
            <a:tbl>
              <a:tblPr/>
              <a:tblGrid>
                <a:gridCol w="2110904"/>
                <a:gridCol w="3166356"/>
                <a:gridCol w="5277259"/>
              </a:tblGrid>
              <a:tr h="331949">
                <a:tc>
                  <a:txBody>
                    <a:bodyPr/>
                    <a:lstStyle/>
                    <a:p>
                      <a:pPr indent="0" marL="0">
                        <a:lnSpc>
                          <a:spcPts val="1680"/>
                        </a:lnSpc>
                        <a:buNone/>
                      </a:pPr>
                      <a:r>
                        <a:rPr lang="en-US" sz="1200" b="1" dirty="0">
                          <a:solidFill>
                            <a:srgbClr val="1A1F2B"/>
                          </a:solidFill>
                          <a:latin typeface="Space Grotesk" pitchFamily="34" charset="0"/>
                          <a:ea typeface="Space Grotesk" pitchFamily="34" charset="-122"/>
                          <a:cs typeface="Space Grotesk" pitchFamily="34" charset="-120"/>
                        </a:rPr>
                        <a:t>Type</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Space Grotesk" pitchFamily="34" charset="0"/>
                          <a:ea typeface="Space Grotesk" pitchFamily="34" charset="-122"/>
                          <a:cs typeface="Space Grotesk" pitchFamily="34" charset="-120"/>
                        </a:rPr>
                        <a:t>Written as</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indent="0" marL="0">
                        <a:lnSpc>
                          <a:spcPts val="1680"/>
                        </a:lnSpc>
                        <a:buNone/>
                      </a:pPr>
                      <a:r>
                        <a:rPr lang="en-US" sz="1200" b="1" dirty="0">
                          <a:solidFill>
                            <a:srgbClr val="1A1F2B"/>
                          </a:solidFill>
                          <a:latin typeface="Space Grotesk" pitchFamily="34" charset="0"/>
                          <a:ea typeface="Space Grotesk" pitchFamily="34" charset="-122"/>
                          <a:cs typeface="Space Grotesk" pitchFamily="34" charset="-120"/>
                        </a:rPr>
                        <a:t>Use it for</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Application-level</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app.use(fn), app.get(path, fn)</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logging, auth or stamps for the whole app</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Router-level</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router.use(fn), router.get(…)</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one feature under one prefix, in its own file</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Error-handling</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(err, req, res, next) =&gt; …</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one place that formats every error</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Built-in</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express.json(), .urlencoded(), .static()</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reading bodies, serving files</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1949">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Third-party</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npm i morgan → app.use(morgan('dev'))</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A1F2B"/>
                          </a:solidFill>
                          <a:latin typeface="Space Grotesk" pitchFamily="34" charset="0"/>
                          <a:ea typeface="Space Grotesk" pitchFamily="34" charset="-122"/>
                          <a:cs typeface="Space Grotesk" pitchFamily="34" charset="-120"/>
                        </a:rPr>
                        <a:t>logging, cors, cookies, uploads, sessions</a:t>
                      </a:r>
                      <a:endParaRPr lang="en-US" sz="1200" dirty="0">
                        <a:latin typeface="Space Grotesk" charset="0"/>
                        <a:ea typeface="Space Grotesk" charset="0"/>
                        <a:cs typeface="Space Grotesk"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Shape 2"/>
          <p:cNvSpPr/>
          <p:nvPr/>
        </p:nvSpPr>
        <p:spPr>
          <a:xfrm>
            <a:off x="812788" y="3877965"/>
            <a:ext cx="2546325" cy="942268"/>
          </a:xfrm>
          <a:prstGeom prst="roundRect">
            <a:avLst>
              <a:gd name="adj" fmla="val 9435"/>
            </a:avLst>
          </a:prstGeom>
          <a:solidFill>
            <a:srgbClr val="12161D"/>
          </a:solidFill>
          <a:ln/>
        </p:spPr>
      </p:sp>
      <p:sp>
        <p:nvSpPr>
          <p:cNvPr id="6" name="Text 3"/>
          <p:cNvSpPr/>
          <p:nvPr/>
        </p:nvSpPr>
        <p:spPr>
          <a:xfrm>
            <a:off x="965150" y="4017615"/>
            <a:ext cx="2308848"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BD88F"/>
                </a:solidFill>
                <a:latin typeface="Space Grotesk" pitchFamily="34" charset="0"/>
                <a:ea typeface="Space Grotesk" pitchFamily="34" charset="-122"/>
                <a:cs typeface="Space Grotesk" pitchFamily="34" charset="-120"/>
              </a:rPr>
              <a:t>next() or respond</a:t>
            </a:r>
            <a:endParaRPr lang="en-US" sz="1200" dirty="0"/>
          </a:p>
        </p:txBody>
      </p:sp>
      <p:sp>
        <p:nvSpPr>
          <p:cNvPr id="7" name="Text 4"/>
          <p:cNvSpPr/>
          <p:nvPr/>
        </p:nvSpPr>
        <p:spPr>
          <a:xfrm>
            <a:off x="965150" y="4269085"/>
            <a:ext cx="2308848" cy="231155"/>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9C0CC"/>
                </a:solidFill>
                <a:latin typeface="Space Grotesk" pitchFamily="34" charset="0"/>
                <a:ea typeface="Space Grotesk" pitchFamily="34" charset="-122"/>
                <a:cs typeface="Space Grotesk" pitchFamily="34" charset="-120"/>
              </a:rPr>
              <a:t>never neither, never both</a:t>
            </a:r>
            <a:endParaRPr lang="en-US" sz="1200" dirty="0"/>
          </a:p>
        </p:txBody>
      </p:sp>
      <p:sp>
        <p:nvSpPr>
          <p:cNvPr id="8" name="Shape 5"/>
          <p:cNvSpPr/>
          <p:nvPr/>
        </p:nvSpPr>
        <p:spPr>
          <a:xfrm>
            <a:off x="3486113" y="3877965"/>
            <a:ext cx="2546387" cy="942268"/>
          </a:xfrm>
          <a:prstGeom prst="roundRect">
            <a:avLst>
              <a:gd name="adj" fmla="val 9435"/>
            </a:avLst>
          </a:prstGeom>
          <a:solidFill>
            <a:srgbClr val="12161D"/>
          </a:solidFill>
          <a:ln/>
        </p:spPr>
      </p:sp>
      <p:sp>
        <p:nvSpPr>
          <p:cNvPr id="9" name="Text 6"/>
          <p:cNvSpPr/>
          <p:nvPr/>
        </p:nvSpPr>
        <p:spPr>
          <a:xfrm>
            <a:off x="3638476" y="4017615"/>
            <a:ext cx="2308911"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BD88F"/>
                </a:solidFill>
                <a:latin typeface="Space Grotesk" pitchFamily="34" charset="0"/>
                <a:ea typeface="Space Grotesk" pitchFamily="34" charset="-122"/>
                <a:cs typeface="Space Grotesk" pitchFamily="34" charset="-120"/>
              </a:rPr>
              <a:t>Order = run order</a:t>
            </a:r>
            <a:endParaRPr lang="en-US" sz="1200" dirty="0"/>
          </a:p>
        </p:txBody>
      </p:sp>
      <p:sp>
        <p:nvSpPr>
          <p:cNvPr id="10" name="Text 7"/>
          <p:cNvSpPr/>
          <p:nvPr/>
        </p:nvSpPr>
        <p:spPr>
          <a:xfrm>
            <a:off x="3638476" y="4269085"/>
            <a:ext cx="2308911" cy="43691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9C0CC"/>
                </a:solidFill>
                <a:latin typeface="Space Grotesk" pitchFamily="34" charset="0"/>
                <a:ea typeface="Space Grotesk" pitchFamily="34" charset="-122"/>
                <a:cs typeface="Space Grotesk" pitchFamily="34" charset="-120"/>
              </a:rPr>
              <a:t>general on top, safety nets last</a:t>
            </a:r>
            <a:endParaRPr lang="en-US" sz="1200" dirty="0"/>
          </a:p>
        </p:txBody>
      </p:sp>
      <p:sp>
        <p:nvSpPr>
          <p:cNvPr id="11" name="Shape 8"/>
          <p:cNvSpPr/>
          <p:nvPr/>
        </p:nvSpPr>
        <p:spPr>
          <a:xfrm>
            <a:off x="6159500" y="3877965"/>
            <a:ext cx="2546325" cy="942268"/>
          </a:xfrm>
          <a:prstGeom prst="roundRect">
            <a:avLst>
              <a:gd name="adj" fmla="val 9435"/>
            </a:avLst>
          </a:prstGeom>
          <a:solidFill>
            <a:srgbClr val="12161D"/>
          </a:solidFill>
          <a:ln/>
        </p:spPr>
      </p:sp>
      <p:sp>
        <p:nvSpPr>
          <p:cNvPr id="12" name="Text 9"/>
          <p:cNvSpPr/>
          <p:nvPr/>
        </p:nvSpPr>
        <p:spPr>
          <a:xfrm>
            <a:off x="6311863" y="4017615"/>
            <a:ext cx="2308848"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BD88F"/>
                </a:solidFill>
                <a:latin typeface="Space Grotesk" pitchFamily="34" charset="0"/>
                <a:ea typeface="Space Grotesk" pitchFamily="34" charset="-122"/>
                <a:cs typeface="Space Grotesk" pitchFamily="34" charset="-120"/>
              </a:rPr>
              <a:t>4 params = error</a:t>
            </a:r>
            <a:endParaRPr lang="en-US" sz="1200" dirty="0"/>
          </a:p>
        </p:txBody>
      </p:sp>
      <p:sp>
        <p:nvSpPr>
          <p:cNvPr id="13" name="Text 10"/>
          <p:cNvSpPr/>
          <p:nvPr/>
        </p:nvSpPr>
        <p:spPr>
          <a:xfrm>
            <a:off x="6311863" y="4269085"/>
            <a:ext cx="2308848" cy="231155"/>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9C0CC"/>
                </a:solidFill>
                <a:latin typeface="Space Grotesk" pitchFamily="34" charset="0"/>
                <a:ea typeface="Space Grotesk" pitchFamily="34" charset="-122"/>
                <a:cs typeface="Space Grotesk" pitchFamily="34" charset="-120"/>
              </a:rPr>
              <a:t>keep next even if unused</a:t>
            </a:r>
            <a:endParaRPr lang="en-US" sz="1200" dirty="0"/>
          </a:p>
        </p:txBody>
      </p:sp>
      <p:sp>
        <p:nvSpPr>
          <p:cNvPr id="14" name="Shape 11"/>
          <p:cNvSpPr/>
          <p:nvPr/>
        </p:nvSpPr>
        <p:spPr>
          <a:xfrm>
            <a:off x="8832825" y="3877965"/>
            <a:ext cx="2546387" cy="942268"/>
          </a:xfrm>
          <a:prstGeom prst="roundRect">
            <a:avLst>
              <a:gd name="adj" fmla="val 9435"/>
            </a:avLst>
          </a:prstGeom>
          <a:solidFill>
            <a:srgbClr val="12161D"/>
          </a:solidFill>
          <a:ln/>
        </p:spPr>
      </p:sp>
      <p:sp>
        <p:nvSpPr>
          <p:cNvPr id="15" name="Text 12"/>
          <p:cNvSpPr/>
          <p:nvPr/>
        </p:nvSpPr>
        <p:spPr>
          <a:xfrm>
            <a:off x="8985188" y="4017615"/>
            <a:ext cx="2308911" cy="23878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BD88F"/>
                </a:solidFill>
                <a:latin typeface="Space Grotesk" pitchFamily="34" charset="0"/>
                <a:ea typeface="Space Grotesk" pitchFamily="34" charset="-122"/>
                <a:cs typeface="Space Grotesk" pitchFamily="34" charset="-120"/>
              </a:rPr>
              <a:t>404 is not an error</a:t>
            </a:r>
            <a:endParaRPr lang="en-US" sz="1200" dirty="0"/>
          </a:p>
        </p:txBody>
      </p:sp>
      <p:sp>
        <p:nvSpPr>
          <p:cNvPr id="16" name="Text 13"/>
          <p:cNvSpPr/>
          <p:nvPr/>
        </p:nvSpPr>
        <p:spPr>
          <a:xfrm>
            <a:off x="8985188" y="4269085"/>
            <a:ext cx="2308911" cy="231155"/>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9C0CC"/>
                </a:solidFill>
                <a:latin typeface="Space Grotesk" pitchFamily="34" charset="0"/>
                <a:ea typeface="Space Grotesk" pitchFamily="34" charset="-122"/>
                <a:cs typeface="Space Grotesk" pitchFamily="34" charset="-120"/>
              </a:rPr>
              <a:t>it’s the last normal one</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BD88F"/>
                </a:solidFill>
                <a:latin typeface="Space Grotesk" pitchFamily="34" charset="0"/>
                <a:ea typeface="Space Grotesk" pitchFamily="34" charset="-122"/>
                <a:cs typeface="Space Grotesk" pitchFamily="34" charset="-120"/>
              </a:rPr>
              <a:t>QUIZ · MIDDLEWARE · 1 OF 7 · MCQ: ONE ANSWER</a:t>
            </a:r>
            <a:endParaRPr lang="en-US" sz="1200" dirty="0"/>
          </a:p>
        </p:txBody>
      </p:sp>
      <p:sp>
        <p:nvSpPr>
          <p:cNvPr id="3" name="Text 1"/>
          <p:cNvSpPr/>
          <p:nvPr>
            <p:ph type="title"/>
          </p:nvPr>
        </p:nvSpPr>
        <p:spPr>
          <a:xfrm>
            <a:off x="812788" y="1102320"/>
            <a:ext cx="10883418" cy="72638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GET /products with this as the first middleware. What does the browser do?</a:t>
            </a:r>
            <a:endParaRPr lang="en-US" sz="2400" dirty="0"/>
          </a:p>
        </p:txBody>
      </p:sp>
      <p:sp>
        <p:nvSpPr>
          <p:cNvPr id="4" name="Text 2"/>
          <p:cNvSpPr/>
          <p:nvPr/>
        </p:nvSpPr>
        <p:spPr>
          <a:xfrm>
            <a:off x="812788" y="2006451"/>
            <a:ext cx="10566425" cy="1053951"/>
          </a:xfrm>
          <a:prstGeom prst="roundRect">
            <a:avLst>
              <a:gd name="adj" fmla="val 9640"/>
            </a:avLst>
          </a:prstGeom>
          <a:solidFill>
            <a:srgbClr val="0E1117"/>
          </a:solidFill>
          <a:ln/>
        </p:spPr>
        <p:txBody>
          <a:bodyPr wrap="square" lIns="173442" tIns="97242" rIns="0" bIns="71842" rtlCol="0" anchor="t">
            <a:normAutofit/>
          </a:bodyPr>
          <a:lstStyle/>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app.</a:t>
            </a:r>
            <a:r>
              <a:rPr lang="en-US" sz="1400" dirty="0">
                <a:solidFill>
                  <a:srgbClr val="82AAFF"/>
                </a:solidFill>
                <a:latin typeface="JetBrains Mono" pitchFamily="49" charset="0"/>
                <a:ea typeface="JetBrains Mono" pitchFamily="49" charset="-122"/>
                <a:cs typeface="JetBrains Mono" pitchFamily="49" charset="-120"/>
              </a:rPr>
              <a:t>use</a:t>
            </a:r>
            <a:r>
              <a:rPr lang="en-US" sz="1400" dirty="0">
                <a:solidFill>
                  <a:srgbClr val="E6E1D6"/>
                </a:solidFill>
                <a:latin typeface="JetBrains Mono" pitchFamily="49" charset="0"/>
                <a:ea typeface="JetBrains Mono" pitchFamily="49" charset="-122"/>
                <a:cs typeface="JetBrains Mono" pitchFamily="49" charset="-120"/>
              </a:rPr>
              <a:t>((req, res, next) =&gt; {</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  console.</a:t>
            </a:r>
            <a:r>
              <a:rPr lang="en-US" sz="1400" dirty="0">
                <a:solidFill>
                  <a:srgbClr val="82AAFF"/>
                </a:solidFill>
                <a:latin typeface="JetBrains Mono" pitchFamily="49" charset="0"/>
                <a:ea typeface="JetBrains Mono" pitchFamily="49" charset="-122"/>
                <a:cs typeface="JetBrains Mono" pitchFamily="49" charset="-120"/>
              </a:rPr>
              <a:t>log</a:t>
            </a:r>
            <a:r>
              <a:rPr lang="en-US" sz="1400" dirty="0">
                <a:solidFill>
                  <a:srgbClr val="E6E1D6"/>
                </a:solidFill>
                <a:latin typeface="JetBrains Mono" pitchFamily="49" charset="0"/>
                <a:ea typeface="JetBrains Mono" pitchFamily="49" charset="-122"/>
                <a:cs typeface="JetBrains Mono" pitchFamily="49" charset="-120"/>
              </a:rPr>
              <a:t>(req.method, req.url);</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a:t>
            </a:r>
            <a:endParaRPr lang="en-US" sz="1400" dirty="0"/>
          </a:p>
        </p:txBody>
      </p:sp>
      <p:sp>
        <p:nvSpPr>
          <p:cNvPr id="5" name="Text 3"/>
          <p:cNvSpPr/>
          <p:nvPr/>
        </p:nvSpPr>
        <p:spPr>
          <a:xfrm>
            <a:off x="819138" y="3269903"/>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A</a:t>
            </a:r>
            <a:r>
              <a:rPr lang="en-US" sz="1400" dirty="0">
                <a:solidFill>
                  <a:srgbClr val="F2EFE6"/>
                </a:solidFill>
                <a:latin typeface="Space Grotesk" pitchFamily="34" charset="0"/>
                <a:ea typeface="Space Grotesk" pitchFamily="34" charset="-122"/>
                <a:cs typeface="Space Grotesk" pitchFamily="34" charset="-120"/>
              </a:rPr>
              <a:t> Shows 404 Cannot GET</a:t>
            </a:r>
            <a:endParaRPr lang="en-US" sz="1400" dirty="0"/>
          </a:p>
        </p:txBody>
      </p:sp>
      <p:sp>
        <p:nvSpPr>
          <p:cNvPr id="6" name="Text 4"/>
          <p:cNvSpPr/>
          <p:nvPr/>
        </p:nvSpPr>
        <p:spPr>
          <a:xfrm>
            <a:off x="6165850" y="3269903"/>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B</a:t>
            </a:r>
            <a:r>
              <a:rPr lang="en-US" sz="1400" dirty="0">
                <a:solidFill>
                  <a:srgbClr val="F2EFE6"/>
                </a:solidFill>
                <a:latin typeface="Space Grotesk" pitchFamily="34" charset="0"/>
                <a:ea typeface="Space Grotesk" pitchFamily="34" charset="-122"/>
                <a:cs typeface="Space Grotesk" pitchFamily="34" charset="-120"/>
              </a:rPr>
              <a:t> Shows a 500 error</a:t>
            </a:r>
            <a:endParaRPr lang="en-US" sz="1400" dirty="0"/>
          </a:p>
        </p:txBody>
      </p:sp>
      <p:sp>
        <p:nvSpPr>
          <p:cNvPr id="7" name="Text 5"/>
          <p:cNvSpPr/>
          <p:nvPr/>
        </p:nvSpPr>
        <p:spPr>
          <a:xfrm>
            <a:off x="819138" y="3923556"/>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C</a:t>
            </a:r>
            <a:r>
              <a:rPr lang="en-US" sz="1400" dirty="0">
                <a:solidFill>
                  <a:srgbClr val="F2EFE6"/>
                </a:solidFill>
                <a:latin typeface="Space Grotesk" pitchFamily="34" charset="0"/>
                <a:ea typeface="Space Grotesk" pitchFamily="34" charset="-122"/>
                <a:cs typeface="Space Grotesk" pitchFamily="34" charset="-120"/>
              </a:rPr>
              <a:t> Keeps loading, no answer</a:t>
            </a:r>
            <a:endParaRPr lang="en-US" sz="1400" dirty="0"/>
          </a:p>
        </p:txBody>
      </p:sp>
      <p:sp>
        <p:nvSpPr>
          <p:cNvPr id="8" name="Text 6"/>
          <p:cNvSpPr/>
          <p:nvPr/>
        </p:nvSpPr>
        <p:spPr>
          <a:xfrm>
            <a:off x="6165850" y="3923556"/>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D</a:t>
            </a:r>
            <a:r>
              <a:rPr lang="en-US" sz="1400" dirty="0">
                <a:solidFill>
                  <a:srgbClr val="F2EFE6"/>
                </a:solidFill>
                <a:latin typeface="Space Grotesk" pitchFamily="34" charset="0"/>
                <a:ea typeface="Space Grotesk" pitchFamily="34" charset="-122"/>
                <a:cs typeface="Space Grotesk" pitchFamily="34" charset="-120"/>
              </a:rPr>
              <a:t> Shows the products list</a:t>
            </a:r>
            <a:endParaRPr lang="en-US" sz="1400" dirty="0"/>
          </a:p>
        </p:txBody>
      </p:sp>
      <p:sp>
        <p:nvSpPr>
          <p:cNvPr id="9" name="Shape 7"/>
          <p:cNvSpPr/>
          <p:nvPr/>
        </p:nvSpPr>
        <p:spPr>
          <a:xfrm>
            <a:off x="812788" y="5080000"/>
            <a:ext cx="10566363" cy="965150"/>
          </a:xfrm>
          <a:prstGeom prst="roundRect">
            <a:avLst>
              <a:gd name="adj" fmla="val 10527"/>
            </a:avLst>
          </a:prstGeom>
          <a:solidFill>
            <a:srgbClr val="1B2E25"/>
          </a:solidFill>
          <a:ln/>
        </p:spPr>
      </p:sp>
      <p:sp>
        <p:nvSpPr>
          <p:cNvPr id="10" name="Shape 8"/>
          <p:cNvSpPr/>
          <p:nvPr/>
        </p:nvSpPr>
        <p:spPr>
          <a:xfrm>
            <a:off x="812788" y="5080000"/>
            <a:ext cx="10566363" cy="965150"/>
          </a:xfrm>
          <a:custGeom>
            <a:avLst/>
            <a:gdLst/>
            <a:ahLst/>
            <a:cxnLst/>
            <a:rect l="l" t="t" r="r" b="b"/>
            <a:pathLst>
              <a:path w="10566363" h="965150">
                <a:moveTo>
                  <a:pt x="101600" y="965150"/>
                </a:moveTo>
                <a:lnTo>
                  <a:pt x="101600" y="965150"/>
                </a:lnTo>
                <a:arcTo hR="101600" wR="101600" stAng="5400000" swAng="5400000"/>
                <a:lnTo>
                  <a:pt x="0" y="101600"/>
                </a:lnTo>
                <a:arcTo hR="101600" wR="101600" stAng="10800000" swAng="5400000"/>
                <a:lnTo>
                  <a:pt x="101600" y="0"/>
                </a:lnTo>
                <a:arcTo hR="101600" wR="50800" stAng="16200000" swAng="-5400000"/>
                <a:lnTo>
                  <a:pt x="50800" y="863550"/>
                </a:lnTo>
                <a:arcTo hR="101600" wR="50800" stAng="10800000" swAng="-5400000"/>
                <a:close/>
              </a:path>
            </a:pathLst>
          </a:custGeom>
          <a:solidFill>
            <a:srgbClr val="7BD88F"/>
          </a:solidFill>
          <a:ln/>
        </p:spPr>
      </p:sp>
      <p:sp>
        <p:nvSpPr>
          <p:cNvPr id="11" name="Text 9"/>
          <p:cNvSpPr/>
          <p:nvPr/>
        </p:nvSpPr>
        <p:spPr>
          <a:xfrm>
            <a:off x="1088988" y="5294709"/>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C</a:t>
            </a:r>
            <a:endParaRPr lang="en-US" sz="1500" dirty="0"/>
          </a:p>
        </p:txBody>
      </p:sp>
      <p:sp>
        <p:nvSpPr>
          <p:cNvPr id="12" name="Text 10"/>
          <p:cNvSpPr/>
          <p:nvPr/>
        </p:nvSpPr>
        <p:spPr>
          <a:xfrm>
            <a:off x="1088988" y="5599410"/>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It neither calls next() nor sends a response, so the request is left hanging.</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BD88F"/>
                </a:solidFill>
                <a:latin typeface="Space Grotesk" pitchFamily="34" charset="0"/>
                <a:ea typeface="Space Grotesk" pitchFamily="34" charset="-122"/>
                <a:cs typeface="Space Grotesk" pitchFamily="34" charset="-120"/>
              </a:rPr>
              <a:t>QUIZ · MIDDLEWARE · 2 OF 7 · MCQ: ONE ANSWER</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Which function will Express use as an error handler?</a:t>
            </a:r>
            <a:endParaRPr lang="en-US" sz="2400" dirty="0"/>
          </a:p>
        </p:txBody>
      </p:sp>
      <p:sp>
        <p:nvSpPr>
          <p:cNvPr id="4" name="Text 2"/>
          <p:cNvSpPr/>
          <p:nvPr/>
        </p:nvSpPr>
        <p:spPr>
          <a:xfrm>
            <a:off x="819138" y="1713161"/>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7BD88F"/>
                </a:solidFill>
                <a:latin typeface="JetBrains Mono" pitchFamily="49" charset="0"/>
                <a:ea typeface="JetBrains Mono" pitchFamily="49" charset="-122"/>
                <a:cs typeface="JetBrains Mono" pitchFamily="49" charset="-120"/>
              </a:rPr>
              <a:t>A</a:t>
            </a:r>
            <a:r>
              <a:rPr lang="en-US" sz="1500" dirty="0">
                <a:solidFill>
                  <a:srgbClr val="F2EFE6"/>
                </a:solidFill>
                <a:latin typeface="JetBrains Mono" pitchFamily="49" charset="0"/>
                <a:ea typeface="JetBrains Mono" pitchFamily="49" charset="-122"/>
                <a:cs typeface="JetBrains Mono" pitchFamily="49" charset="-120"/>
              </a:rPr>
              <a:t> (req, res, next) =&gt; …</a:t>
            </a:r>
            <a:endParaRPr lang="en-US" sz="1500" dirty="0"/>
          </a:p>
        </p:txBody>
      </p:sp>
      <p:sp>
        <p:nvSpPr>
          <p:cNvPr id="5" name="Text 3"/>
          <p:cNvSpPr/>
          <p:nvPr/>
        </p:nvSpPr>
        <p:spPr>
          <a:xfrm>
            <a:off x="6178500" y="1713161"/>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7BD88F"/>
                </a:solidFill>
                <a:latin typeface="JetBrains Mono" pitchFamily="49" charset="0"/>
                <a:ea typeface="JetBrains Mono" pitchFamily="49" charset="-122"/>
                <a:cs typeface="JetBrains Mono" pitchFamily="49" charset="-120"/>
              </a:rPr>
              <a:t>B</a:t>
            </a:r>
            <a:r>
              <a:rPr lang="en-US" sz="1500" dirty="0">
                <a:solidFill>
                  <a:srgbClr val="F2EFE6"/>
                </a:solidFill>
                <a:latin typeface="JetBrains Mono" pitchFamily="49" charset="0"/>
                <a:ea typeface="JetBrains Mono" pitchFamily="49" charset="-122"/>
                <a:cs typeface="JetBrains Mono" pitchFamily="49" charset="-120"/>
              </a:rPr>
              <a:t> (err, req, res) =&gt; …</a:t>
            </a:r>
            <a:endParaRPr lang="en-US" sz="1500" dirty="0"/>
          </a:p>
        </p:txBody>
      </p:sp>
      <p:sp>
        <p:nvSpPr>
          <p:cNvPr id="6" name="Text 4"/>
          <p:cNvSpPr/>
          <p:nvPr/>
        </p:nvSpPr>
        <p:spPr>
          <a:xfrm>
            <a:off x="819138" y="2511574"/>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7BD88F"/>
                </a:solidFill>
                <a:latin typeface="JetBrains Mono" pitchFamily="49" charset="0"/>
                <a:ea typeface="JetBrains Mono" pitchFamily="49" charset="-122"/>
                <a:cs typeface="JetBrains Mono" pitchFamily="49" charset="-120"/>
              </a:rPr>
              <a:t>C</a:t>
            </a:r>
            <a:r>
              <a:rPr lang="en-US" sz="1500" dirty="0">
                <a:solidFill>
                  <a:srgbClr val="F2EFE6"/>
                </a:solidFill>
                <a:latin typeface="JetBrains Mono" pitchFamily="49" charset="0"/>
                <a:ea typeface="JetBrains Mono" pitchFamily="49" charset="-122"/>
                <a:cs typeface="JetBrains Mono" pitchFamily="49" charset="-120"/>
              </a:rPr>
              <a:t> (err, req, res, next) =&gt; …</a:t>
            </a:r>
            <a:endParaRPr lang="en-US" sz="1500" dirty="0"/>
          </a:p>
        </p:txBody>
      </p:sp>
      <p:sp>
        <p:nvSpPr>
          <p:cNvPr id="7" name="Text 5"/>
          <p:cNvSpPr/>
          <p:nvPr/>
        </p:nvSpPr>
        <p:spPr>
          <a:xfrm>
            <a:off x="6178500" y="2511574"/>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7BD88F"/>
                </a:solidFill>
                <a:latin typeface="JetBrains Mono" pitchFamily="49" charset="0"/>
                <a:ea typeface="JetBrains Mono" pitchFamily="49" charset="-122"/>
                <a:cs typeface="JetBrains Mono" pitchFamily="49" charset="-120"/>
              </a:rPr>
              <a:t>D</a:t>
            </a:r>
            <a:r>
              <a:rPr lang="en-US" sz="1500" dirty="0">
                <a:solidFill>
                  <a:srgbClr val="F2EFE6"/>
                </a:solidFill>
                <a:latin typeface="JetBrains Mono" pitchFamily="49" charset="0"/>
                <a:ea typeface="JetBrains Mono" pitchFamily="49" charset="-122"/>
                <a:cs typeface="JetBrains Mono" pitchFamily="49" charset="-120"/>
              </a:rPr>
              <a:t> (error) =&gt; …</a:t>
            </a:r>
            <a:endParaRPr lang="en-US" sz="1500" dirty="0"/>
          </a:p>
        </p:txBody>
      </p:sp>
      <p:sp>
        <p:nvSpPr>
          <p:cNvPr id="8" name="Shape 6"/>
          <p:cNvSpPr/>
          <p:nvPr/>
        </p:nvSpPr>
        <p:spPr>
          <a:xfrm>
            <a:off x="812788" y="4927600"/>
            <a:ext cx="10566363" cy="1117575"/>
          </a:xfrm>
          <a:prstGeom prst="roundRect">
            <a:avLst>
              <a:gd name="adj" fmla="val 9091"/>
            </a:avLst>
          </a:prstGeom>
          <a:solidFill>
            <a:srgbClr val="1B2E25"/>
          </a:solidFill>
          <a:ln/>
        </p:spPr>
      </p:sp>
      <p:sp>
        <p:nvSpPr>
          <p:cNvPr id="9" name="Shape 7"/>
          <p:cNvSpPr/>
          <p:nvPr/>
        </p:nvSpPr>
        <p:spPr>
          <a:xfrm>
            <a:off x="812788" y="4927600"/>
            <a:ext cx="10566363" cy="1117575"/>
          </a:xfrm>
          <a:custGeom>
            <a:avLst/>
            <a:gdLst/>
            <a:ahLst/>
            <a:cxnLst/>
            <a:rect l="l" t="t" r="r" b="b"/>
            <a:pathLst>
              <a:path w="10566363" h="1117575">
                <a:moveTo>
                  <a:pt x="101600" y="1117575"/>
                </a:moveTo>
                <a:lnTo>
                  <a:pt x="101600" y="1117575"/>
                </a:lnTo>
                <a:arcTo hR="101600" wR="101600" stAng="5400000" swAng="5400000"/>
                <a:lnTo>
                  <a:pt x="0" y="101600"/>
                </a:lnTo>
                <a:arcTo hR="101600" wR="101600" stAng="10800000" swAng="5400000"/>
                <a:lnTo>
                  <a:pt x="101600" y="0"/>
                </a:lnTo>
                <a:arcTo hR="101600" wR="50800" stAng="16200000" swAng="-5400000"/>
                <a:lnTo>
                  <a:pt x="50800" y="1015975"/>
                </a:lnTo>
                <a:arcTo hR="101600" wR="50800" stAng="10800000" swAng="-5400000"/>
                <a:close/>
              </a:path>
            </a:pathLst>
          </a:custGeom>
          <a:solidFill>
            <a:srgbClr val="7BD88F"/>
          </a:solidFill>
          <a:ln/>
        </p:spPr>
      </p:sp>
      <p:sp>
        <p:nvSpPr>
          <p:cNvPr id="10" name="Text 8"/>
          <p:cNvSpPr/>
          <p:nvPr/>
        </p:nvSpPr>
        <p:spPr>
          <a:xfrm>
            <a:off x="1088988" y="5212060"/>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C</a:t>
            </a:r>
            <a:endParaRPr lang="en-US" sz="1500" dirty="0"/>
          </a:p>
        </p:txBody>
      </p:sp>
      <p:sp>
        <p:nvSpPr>
          <p:cNvPr id="11" name="Text 9"/>
          <p:cNvSpPr/>
          <p:nvPr/>
        </p:nvSpPr>
        <p:spPr>
          <a:xfrm>
            <a:off x="1088988" y="5529511"/>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Express counts the parameters. Exactly four means “error handler”, even if next is never used.</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B0FF"/>
                </a:solidFill>
                <a:latin typeface="Space Grotesk" pitchFamily="34" charset="0"/>
                <a:ea typeface="Space Grotesk" pitchFamily="34" charset="-122"/>
                <a:cs typeface="Space Grotesk" pitchFamily="34" charset="-120"/>
              </a:rPr>
              <a:t>QUIZ · MIDDLEWARE · 3 OF 7 · MSQ: CHOOSE ALL THAT APPLY</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Which come built into Express, with no npm install?</a:t>
            </a:r>
            <a:endParaRPr lang="en-US" sz="2400" dirty="0"/>
          </a:p>
        </p:txBody>
      </p:sp>
      <p:sp>
        <p:nvSpPr>
          <p:cNvPr id="4" name="Text 2"/>
          <p:cNvSpPr/>
          <p:nvPr/>
        </p:nvSpPr>
        <p:spPr>
          <a:xfrm>
            <a:off x="819138" y="1713161"/>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JetBrains Mono" pitchFamily="49" charset="0"/>
                <a:ea typeface="JetBrains Mono" pitchFamily="49" charset="-122"/>
                <a:cs typeface="JetBrains Mono" pitchFamily="49" charset="-120"/>
              </a:rPr>
              <a:t>A</a:t>
            </a:r>
            <a:r>
              <a:rPr lang="en-US" sz="1400" dirty="0">
                <a:solidFill>
                  <a:srgbClr val="F2EFE6"/>
                </a:solidFill>
                <a:latin typeface="JetBrains Mono" pitchFamily="49" charset="0"/>
                <a:ea typeface="JetBrains Mono" pitchFamily="49" charset="-122"/>
                <a:cs typeface="JetBrains Mono" pitchFamily="49" charset="-120"/>
              </a:rPr>
              <a:t> express.json()</a:t>
            </a:r>
            <a:endParaRPr lang="en-US" sz="1400" dirty="0"/>
          </a:p>
        </p:txBody>
      </p:sp>
      <p:sp>
        <p:nvSpPr>
          <p:cNvPr id="5" name="Text 3"/>
          <p:cNvSpPr/>
          <p:nvPr/>
        </p:nvSpPr>
        <p:spPr>
          <a:xfrm>
            <a:off x="6165850" y="1713161"/>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JetBrains Mono" pitchFamily="49" charset="0"/>
                <a:ea typeface="JetBrains Mono" pitchFamily="49" charset="-122"/>
                <a:cs typeface="JetBrains Mono" pitchFamily="49" charset="-120"/>
              </a:rPr>
              <a:t>B</a:t>
            </a:r>
            <a:r>
              <a:rPr lang="en-US" sz="1400" dirty="0">
                <a:solidFill>
                  <a:srgbClr val="F2EFE6"/>
                </a:solidFill>
                <a:latin typeface="JetBrains Mono" pitchFamily="49" charset="0"/>
                <a:ea typeface="JetBrains Mono" pitchFamily="49" charset="-122"/>
                <a:cs typeface="JetBrains Mono" pitchFamily="49" charset="-120"/>
              </a:rPr>
              <a:t> cors()</a:t>
            </a:r>
            <a:endParaRPr lang="en-US" sz="1400" dirty="0"/>
          </a:p>
        </p:txBody>
      </p:sp>
      <p:sp>
        <p:nvSpPr>
          <p:cNvPr id="6" name="Text 4"/>
          <p:cNvSpPr/>
          <p:nvPr/>
        </p:nvSpPr>
        <p:spPr>
          <a:xfrm>
            <a:off x="819138" y="2392114"/>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JetBrains Mono" pitchFamily="49" charset="0"/>
                <a:ea typeface="JetBrains Mono" pitchFamily="49" charset="-122"/>
                <a:cs typeface="JetBrains Mono" pitchFamily="49" charset="-120"/>
              </a:rPr>
              <a:t>C</a:t>
            </a:r>
            <a:r>
              <a:rPr lang="en-US" sz="1400" dirty="0">
                <a:solidFill>
                  <a:srgbClr val="F2EFE6"/>
                </a:solidFill>
                <a:latin typeface="JetBrains Mono" pitchFamily="49" charset="0"/>
                <a:ea typeface="JetBrains Mono" pitchFamily="49" charset="-122"/>
                <a:cs typeface="JetBrains Mono" pitchFamily="49" charset="-120"/>
              </a:rPr>
              <a:t> express.static()</a:t>
            </a:r>
            <a:endParaRPr lang="en-US" sz="1400" dirty="0"/>
          </a:p>
        </p:txBody>
      </p:sp>
      <p:sp>
        <p:nvSpPr>
          <p:cNvPr id="7" name="Text 5"/>
          <p:cNvSpPr/>
          <p:nvPr/>
        </p:nvSpPr>
        <p:spPr>
          <a:xfrm>
            <a:off x="6165850" y="2392114"/>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JetBrains Mono" pitchFamily="49" charset="0"/>
                <a:ea typeface="JetBrains Mono" pitchFamily="49" charset="-122"/>
                <a:cs typeface="JetBrains Mono" pitchFamily="49" charset="-120"/>
              </a:rPr>
              <a:t>D</a:t>
            </a:r>
            <a:r>
              <a:rPr lang="en-US" sz="1400" dirty="0">
                <a:solidFill>
                  <a:srgbClr val="F2EFE6"/>
                </a:solidFill>
                <a:latin typeface="JetBrains Mono" pitchFamily="49" charset="0"/>
                <a:ea typeface="JetBrains Mono" pitchFamily="49" charset="-122"/>
                <a:cs typeface="JetBrains Mono" pitchFamily="49" charset="-120"/>
              </a:rPr>
              <a:t> express.urlencoded()</a:t>
            </a:r>
            <a:endParaRPr lang="en-US" sz="1400" dirty="0"/>
          </a:p>
        </p:txBody>
      </p:sp>
      <p:sp>
        <p:nvSpPr>
          <p:cNvPr id="8" name="Text 6"/>
          <p:cNvSpPr/>
          <p:nvPr/>
        </p:nvSpPr>
        <p:spPr>
          <a:xfrm>
            <a:off x="819138" y="3071118"/>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JetBrains Mono" pitchFamily="49" charset="0"/>
                <a:ea typeface="JetBrains Mono" pitchFamily="49" charset="-122"/>
                <a:cs typeface="JetBrains Mono" pitchFamily="49" charset="-120"/>
              </a:rPr>
              <a:t>E</a:t>
            </a:r>
            <a:r>
              <a:rPr lang="en-US" sz="1400" dirty="0">
                <a:solidFill>
                  <a:srgbClr val="F2EFE6"/>
                </a:solidFill>
                <a:latin typeface="JetBrains Mono" pitchFamily="49" charset="0"/>
                <a:ea typeface="JetBrains Mono" pitchFamily="49" charset="-122"/>
                <a:cs typeface="JetBrains Mono" pitchFamily="49" charset="-120"/>
              </a:rPr>
              <a:t> morgan('dev')</a:t>
            </a:r>
            <a:endParaRPr lang="en-US" sz="1400" dirty="0"/>
          </a:p>
        </p:txBody>
      </p:sp>
      <p:sp>
        <p:nvSpPr>
          <p:cNvPr id="9" name="Shape 7"/>
          <p:cNvSpPr/>
          <p:nvPr/>
        </p:nvSpPr>
        <p:spPr>
          <a:xfrm>
            <a:off x="812788" y="4927600"/>
            <a:ext cx="10566363" cy="1117575"/>
          </a:xfrm>
          <a:prstGeom prst="roundRect">
            <a:avLst>
              <a:gd name="adj" fmla="val 9091"/>
            </a:avLst>
          </a:prstGeom>
          <a:solidFill>
            <a:srgbClr val="1B2E25"/>
          </a:solidFill>
          <a:ln/>
        </p:spPr>
      </p:sp>
      <p:sp>
        <p:nvSpPr>
          <p:cNvPr id="10" name="Shape 8"/>
          <p:cNvSpPr/>
          <p:nvPr/>
        </p:nvSpPr>
        <p:spPr>
          <a:xfrm>
            <a:off x="812788" y="4927600"/>
            <a:ext cx="10566363" cy="1117575"/>
          </a:xfrm>
          <a:custGeom>
            <a:avLst/>
            <a:gdLst/>
            <a:ahLst/>
            <a:cxnLst/>
            <a:rect l="l" t="t" r="r" b="b"/>
            <a:pathLst>
              <a:path w="10566363" h="1117575">
                <a:moveTo>
                  <a:pt x="101600" y="1117575"/>
                </a:moveTo>
                <a:lnTo>
                  <a:pt x="101600" y="1117575"/>
                </a:lnTo>
                <a:arcTo hR="101600" wR="101600" stAng="5400000" swAng="5400000"/>
                <a:lnTo>
                  <a:pt x="0" y="101600"/>
                </a:lnTo>
                <a:arcTo hR="101600" wR="101600" stAng="10800000" swAng="5400000"/>
                <a:lnTo>
                  <a:pt x="101600" y="0"/>
                </a:lnTo>
                <a:arcTo hR="101600" wR="50800" stAng="16200000" swAng="-5400000"/>
                <a:lnTo>
                  <a:pt x="50800" y="1015975"/>
                </a:lnTo>
                <a:arcTo hR="101600" wR="50800" stAng="10800000" swAng="-5400000"/>
                <a:close/>
              </a:path>
            </a:pathLst>
          </a:custGeom>
          <a:solidFill>
            <a:srgbClr val="7BD88F"/>
          </a:solidFill>
          <a:ln/>
        </p:spPr>
      </p:sp>
      <p:sp>
        <p:nvSpPr>
          <p:cNvPr id="11" name="Text 9"/>
          <p:cNvSpPr/>
          <p:nvPr/>
        </p:nvSpPr>
        <p:spPr>
          <a:xfrm>
            <a:off x="1088988" y="5212060"/>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A, C, D</a:t>
            </a:r>
            <a:endParaRPr lang="en-US" sz="1500" dirty="0"/>
          </a:p>
        </p:txBody>
      </p:sp>
      <p:sp>
        <p:nvSpPr>
          <p:cNvPr id="12" name="Text 10"/>
          <p:cNvSpPr/>
          <p:nvPr/>
        </p:nvSpPr>
        <p:spPr>
          <a:xfrm>
            <a:off x="1088988" y="5529511"/>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Built-ins hang off express itself. cors and morgan are third-party packages from npm.</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BD88F"/>
                </a:solidFill>
                <a:latin typeface="Space Grotesk" pitchFamily="34" charset="0"/>
                <a:ea typeface="Space Grotesk" pitchFamily="34" charset="-122"/>
                <a:cs typeface="Space Grotesk" pitchFamily="34" charset="-120"/>
              </a:rPr>
              <a:t>QUIZ · MIDDLEWARE · 4 OF 7 · MCQ: ONE ANSWER</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Given this line, which request does NOT run mw?</a:t>
            </a:r>
            <a:endParaRPr lang="en-US" sz="2400" dirty="0"/>
          </a:p>
        </p:txBody>
      </p:sp>
      <p:sp>
        <p:nvSpPr>
          <p:cNvPr id="4" name="Text 2"/>
          <p:cNvSpPr/>
          <p:nvPr/>
        </p:nvSpPr>
        <p:spPr>
          <a:xfrm>
            <a:off x="812788" y="1655961"/>
            <a:ext cx="10566425" cy="520650"/>
          </a:xfrm>
          <a:prstGeom prst="roundRect">
            <a:avLst>
              <a:gd name="adj" fmla="val 19514"/>
            </a:avLst>
          </a:prstGeom>
          <a:solidFill>
            <a:srgbClr val="0E1117"/>
          </a:solidFill>
          <a:ln/>
        </p:spPr>
        <p:txBody>
          <a:bodyPr wrap="square" lIns="173442" tIns="97242" rIns="0" bIns="71842" rtlCol="0" anchor="t">
            <a:normAutofit/>
          </a:bodyPr>
          <a:lstStyle/>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app.</a:t>
            </a:r>
            <a:r>
              <a:rPr lang="en-US" sz="1400" dirty="0">
                <a:solidFill>
                  <a:srgbClr val="82AAFF"/>
                </a:solidFill>
                <a:latin typeface="JetBrains Mono" pitchFamily="49" charset="0"/>
                <a:ea typeface="JetBrains Mono" pitchFamily="49" charset="-122"/>
                <a:cs typeface="JetBrains Mono" pitchFamily="49" charset="-120"/>
              </a:rPr>
              <a:t>use</a:t>
            </a:r>
            <a:r>
              <a:rPr lang="en-US" sz="1400" dirty="0">
                <a:solidFill>
                  <a:srgbClr val="E6E1D6"/>
                </a:solidFill>
                <a:latin typeface="JetBrains Mono" pitchFamily="49" charset="0"/>
                <a:ea typeface="JetBrains Mono" pitchFamily="49" charset="-122"/>
                <a:cs typeface="JetBrains Mono" pitchFamily="49" charset="-120"/>
              </a:rPr>
              <a:t>(</a:t>
            </a:r>
            <a:r>
              <a:rPr lang="en-US" sz="1400" dirty="0">
                <a:solidFill>
                  <a:srgbClr val="C3E88D"/>
                </a:solidFill>
                <a:latin typeface="JetBrains Mono" pitchFamily="49" charset="0"/>
                <a:ea typeface="JetBrains Mono" pitchFamily="49" charset="-122"/>
                <a:cs typeface="JetBrains Mono" pitchFamily="49" charset="-120"/>
              </a:rPr>
              <a:t>'/products'</a:t>
            </a:r>
            <a:r>
              <a:rPr lang="en-US" sz="1400" dirty="0">
                <a:solidFill>
                  <a:srgbClr val="E6E1D6"/>
                </a:solidFill>
                <a:latin typeface="JetBrains Mono" pitchFamily="49" charset="0"/>
                <a:ea typeface="JetBrains Mono" pitchFamily="49" charset="-122"/>
                <a:cs typeface="JetBrains Mono" pitchFamily="49" charset="-120"/>
              </a:rPr>
              <a:t>, mw);</a:t>
            </a:r>
            <a:endParaRPr lang="en-US" sz="1400" dirty="0"/>
          </a:p>
        </p:txBody>
      </p:sp>
      <p:sp>
        <p:nvSpPr>
          <p:cNvPr id="5" name="Text 3"/>
          <p:cNvSpPr/>
          <p:nvPr/>
        </p:nvSpPr>
        <p:spPr>
          <a:xfrm>
            <a:off x="819138" y="2386112"/>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7BD88F"/>
                </a:solidFill>
                <a:latin typeface="JetBrains Mono" pitchFamily="49" charset="0"/>
                <a:ea typeface="JetBrains Mono" pitchFamily="49" charset="-122"/>
                <a:cs typeface="JetBrains Mono" pitchFamily="49" charset="-120"/>
              </a:rPr>
              <a:t>A</a:t>
            </a:r>
            <a:r>
              <a:rPr lang="en-US" sz="1500" dirty="0">
                <a:solidFill>
                  <a:srgbClr val="F2EFE6"/>
                </a:solidFill>
                <a:latin typeface="JetBrains Mono" pitchFamily="49" charset="0"/>
                <a:ea typeface="JetBrains Mono" pitchFamily="49" charset="-122"/>
                <a:cs typeface="JetBrains Mono" pitchFamily="49" charset="-120"/>
              </a:rPr>
              <a:t> GET /products</a:t>
            </a:r>
            <a:endParaRPr lang="en-US" sz="1500" dirty="0"/>
          </a:p>
        </p:txBody>
      </p:sp>
      <p:sp>
        <p:nvSpPr>
          <p:cNvPr id="6" name="Text 4"/>
          <p:cNvSpPr/>
          <p:nvPr/>
        </p:nvSpPr>
        <p:spPr>
          <a:xfrm>
            <a:off x="6178500" y="2386112"/>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7BD88F"/>
                </a:solidFill>
                <a:latin typeface="JetBrains Mono" pitchFamily="49" charset="0"/>
                <a:ea typeface="JetBrains Mono" pitchFamily="49" charset="-122"/>
                <a:cs typeface="JetBrains Mono" pitchFamily="49" charset="-120"/>
              </a:rPr>
              <a:t>B</a:t>
            </a:r>
            <a:r>
              <a:rPr lang="en-US" sz="1500" dirty="0">
                <a:solidFill>
                  <a:srgbClr val="F2EFE6"/>
                </a:solidFill>
                <a:latin typeface="JetBrains Mono" pitchFamily="49" charset="0"/>
                <a:ea typeface="JetBrains Mono" pitchFamily="49" charset="-122"/>
                <a:cs typeface="JetBrains Mono" pitchFamily="49" charset="-120"/>
              </a:rPr>
              <a:t> POST /products</a:t>
            </a:r>
            <a:endParaRPr lang="en-US" sz="1500" dirty="0"/>
          </a:p>
        </p:txBody>
      </p:sp>
      <p:sp>
        <p:nvSpPr>
          <p:cNvPr id="7" name="Text 5"/>
          <p:cNvSpPr/>
          <p:nvPr/>
        </p:nvSpPr>
        <p:spPr>
          <a:xfrm>
            <a:off x="819138" y="3184525"/>
            <a:ext cx="5194300" cy="633338"/>
          </a:xfrm>
          <a:prstGeom prst="roundRect">
            <a:avLst>
              <a:gd name="adj" fmla="val 15039"/>
            </a:avLst>
          </a:prstGeom>
          <a:solidFill>
            <a:srgbClr val="1E2430"/>
          </a:solidFill>
          <a:ln w="12700">
            <a:solidFill>
              <a:srgbClr val="2C3444"/>
            </a:solidFill>
            <a:prstDash val="solid"/>
          </a:ln>
        </p:spPr>
        <p:txBody>
          <a:bodyPr wrap="square" lIns="180809" tIns="155458" rIns="37502" bIns="130034" rtlCol="0" anchor="t">
            <a:normAutofit/>
          </a:bodyPr>
          <a:lstStyle/>
          <a:p>
            <a:pPr algn="l" indent="0" marL="0">
              <a:lnSpc>
                <a:spcPts val="2100"/>
              </a:lnSpc>
              <a:buNone/>
            </a:pPr>
            <a:r>
              <a:rPr lang="en-US" sz="1500" dirty="0">
                <a:solidFill>
                  <a:srgbClr val="7BD88F"/>
                </a:solidFill>
                <a:latin typeface="JetBrains Mono" pitchFamily="49" charset="0"/>
                <a:ea typeface="JetBrains Mono" pitchFamily="49" charset="-122"/>
                <a:cs typeface="JetBrains Mono" pitchFamily="49" charset="-120"/>
              </a:rPr>
              <a:t>C</a:t>
            </a:r>
            <a:r>
              <a:rPr lang="en-US" sz="1500" dirty="0">
                <a:solidFill>
                  <a:srgbClr val="F2EFE6"/>
                </a:solidFill>
                <a:latin typeface="JetBrains Mono" pitchFamily="49" charset="0"/>
                <a:ea typeface="JetBrains Mono" pitchFamily="49" charset="-122"/>
                <a:cs typeface="JetBrains Mono" pitchFamily="49" charset="-120"/>
              </a:rPr>
              <a:t> GET /products/7/reviews</a:t>
            </a:r>
            <a:endParaRPr lang="en-US" sz="1500" dirty="0"/>
          </a:p>
        </p:txBody>
      </p:sp>
      <p:sp>
        <p:nvSpPr>
          <p:cNvPr id="8" name="Text 6"/>
          <p:cNvSpPr/>
          <p:nvPr/>
        </p:nvSpPr>
        <p:spPr>
          <a:xfrm>
            <a:off x="6178500" y="3184525"/>
            <a:ext cx="5194362" cy="633338"/>
          </a:xfrm>
          <a:prstGeom prst="roundRect">
            <a:avLst>
              <a:gd name="adj" fmla="val 15039"/>
            </a:avLst>
          </a:prstGeom>
          <a:solidFill>
            <a:srgbClr val="1E2430"/>
          </a:solidFill>
          <a:ln w="12700">
            <a:solidFill>
              <a:srgbClr val="2C3444"/>
            </a:solidFill>
            <a:prstDash val="solid"/>
          </a:ln>
        </p:spPr>
        <p:txBody>
          <a:bodyPr wrap="square" lIns="180809" tIns="155458" rIns="37500" bIns="130034" rtlCol="0" anchor="t">
            <a:normAutofit/>
          </a:bodyPr>
          <a:lstStyle/>
          <a:p>
            <a:pPr algn="l" indent="0" marL="0">
              <a:lnSpc>
                <a:spcPts val="2100"/>
              </a:lnSpc>
              <a:buNone/>
            </a:pPr>
            <a:r>
              <a:rPr lang="en-US" sz="1500" dirty="0">
                <a:solidFill>
                  <a:srgbClr val="7BD88F"/>
                </a:solidFill>
                <a:latin typeface="JetBrains Mono" pitchFamily="49" charset="0"/>
                <a:ea typeface="JetBrains Mono" pitchFamily="49" charset="-122"/>
                <a:cs typeface="JetBrains Mono" pitchFamily="49" charset="-120"/>
              </a:rPr>
              <a:t>D</a:t>
            </a:r>
            <a:r>
              <a:rPr lang="en-US" sz="1500" dirty="0">
                <a:solidFill>
                  <a:srgbClr val="F2EFE6"/>
                </a:solidFill>
                <a:latin typeface="JetBrains Mono" pitchFamily="49" charset="0"/>
                <a:ea typeface="JetBrains Mono" pitchFamily="49" charset="-122"/>
                <a:cs typeface="JetBrains Mono" pitchFamily="49" charset="-120"/>
              </a:rPr>
              <a:t> GET /product</a:t>
            </a:r>
            <a:endParaRPr lang="en-US" sz="1500" dirty="0"/>
          </a:p>
        </p:txBody>
      </p:sp>
      <p:sp>
        <p:nvSpPr>
          <p:cNvPr id="9" name="Shape 7"/>
          <p:cNvSpPr/>
          <p:nvPr/>
        </p:nvSpPr>
        <p:spPr>
          <a:xfrm>
            <a:off x="812788" y="4927600"/>
            <a:ext cx="10566363" cy="1117575"/>
          </a:xfrm>
          <a:prstGeom prst="roundRect">
            <a:avLst>
              <a:gd name="adj" fmla="val 9091"/>
            </a:avLst>
          </a:prstGeom>
          <a:solidFill>
            <a:srgbClr val="1B2E25"/>
          </a:solidFill>
          <a:ln/>
        </p:spPr>
      </p:sp>
      <p:sp>
        <p:nvSpPr>
          <p:cNvPr id="10" name="Shape 8"/>
          <p:cNvSpPr/>
          <p:nvPr/>
        </p:nvSpPr>
        <p:spPr>
          <a:xfrm>
            <a:off x="812788" y="4927600"/>
            <a:ext cx="10566363" cy="1117575"/>
          </a:xfrm>
          <a:custGeom>
            <a:avLst/>
            <a:gdLst/>
            <a:ahLst/>
            <a:cxnLst/>
            <a:rect l="l" t="t" r="r" b="b"/>
            <a:pathLst>
              <a:path w="10566363" h="1117575">
                <a:moveTo>
                  <a:pt x="101600" y="1117575"/>
                </a:moveTo>
                <a:lnTo>
                  <a:pt x="101600" y="1117575"/>
                </a:lnTo>
                <a:arcTo hR="101600" wR="101600" stAng="5400000" swAng="5400000"/>
                <a:lnTo>
                  <a:pt x="0" y="101600"/>
                </a:lnTo>
                <a:arcTo hR="101600" wR="101600" stAng="10800000" swAng="5400000"/>
                <a:lnTo>
                  <a:pt x="101600" y="0"/>
                </a:lnTo>
                <a:arcTo hR="101600" wR="50800" stAng="16200000" swAng="-5400000"/>
                <a:lnTo>
                  <a:pt x="50800" y="1015975"/>
                </a:lnTo>
                <a:arcTo hR="101600" wR="50800" stAng="10800000" swAng="-5400000"/>
                <a:close/>
              </a:path>
            </a:pathLst>
          </a:custGeom>
          <a:solidFill>
            <a:srgbClr val="7BD88F"/>
          </a:solidFill>
          <a:ln/>
        </p:spPr>
      </p:sp>
      <p:sp>
        <p:nvSpPr>
          <p:cNvPr id="11" name="Text 9"/>
          <p:cNvSpPr/>
          <p:nvPr/>
        </p:nvSpPr>
        <p:spPr>
          <a:xfrm>
            <a:off x="1088988" y="5212060"/>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D</a:t>
            </a:r>
            <a:endParaRPr lang="en-US" sz="1500" dirty="0"/>
          </a:p>
        </p:txBody>
      </p:sp>
      <p:sp>
        <p:nvSpPr>
          <p:cNvPr id="12" name="Text 10"/>
          <p:cNvSpPr/>
          <p:nvPr/>
        </p:nvSpPr>
        <p:spPr>
          <a:xfrm>
            <a:off x="1088988" y="5529511"/>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app.use matches any method and anything under /products. /product is a different path.</a:t>
            </a:r>
            <a:endParaRPr lang="en-US" sz="13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BD88F"/>
                </a:solidFill>
                <a:latin typeface="Space Grotesk" pitchFamily="34" charset="0"/>
                <a:ea typeface="Space Grotesk" pitchFamily="34" charset="-122"/>
                <a:cs typeface="Space Grotesk" pitchFamily="34" charset="-120"/>
              </a:rPr>
              <a:t>QUIZ · MIDDLEWARE · 5 OF 7 · MCQ: ONE ANSWER</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GET /products. Does the logger print anything?</a:t>
            </a:r>
            <a:endParaRPr lang="en-US" sz="2400" dirty="0"/>
          </a:p>
        </p:txBody>
      </p:sp>
      <p:sp>
        <p:nvSpPr>
          <p:cNvPr id="4" name="Text 2"/>
          <p:cNvSpPr/>
          <p:nvPr/>
        </p:nvSpPr>
        <p:spPr>
          <a:xfrm>
            <a:off x="812788" y="1655961"/>
            <a:ext cx="10566425" cy="787301"/>
          </a:xfrm>
          <a:prstGeom prst="roundRect">
            <a:avLst>
              <a:gd name="adj" fmla="val 12905"/>
            </a:avLst>
          </a:prstGeom>
          <a:solidFill>
            <a:srgbClr val="0E1117"/>
          </a:solidFill>
          <a:ln/>
        </p:spPr>
        <p:txBody>
          <a:bodyPr wrap="square" lIns="173442" tIns="97242" rIns="0" bIns="71842" rtlCol="0" anchor="t">
            <a:normAutofit/>
          </a:bodyPr>
          <a:lstStyle/>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app.</a:t>
            </a:r>
            <a:r>
              <a:rPr lang="en-US" sz="1400" dirty="0">
                <a:solidFill>
                  <a:srgbClr val="82AAFF"/>
                </a:solidFill>
                <a:latin typeface="JetBrains Mono" pitchFamily="49" charset="0"/>
                <a:ea typeface="JetBrains Mono" pitchFamily="49" charset="-122"/>
                <a:cs typeface="JetBrains Mono" pitchFamily="49" charset="-120"/>
              </a:rPr>
              <a:t>get</a:t>
            </a:r>
            <a:r>
              <a:rPr lang="en-US" sz="1400" dirty="0">
                <a:solidFill>
                  <a:srgbClr val="E6E1D6"/>
                </a:solidFill>
                <a:latin typeface="JetBrains Mono" pitchFamily="49" charset="0"/>
                <a:ea typeface="JetBrains Mono" pitchFamily="49" charset="-122"/>
                <a:cs typeface="JetBrains Mono" pitchFamily="49" charset="-120"/>
              </a:rPr>
              <a:t>(</a:t>
            </a:r>
            <a:r>
              <a:rPr lang="en-US" sz="1400" dirty="0">
                <a:solidFill>
                  <a:srgbClr val="C3E88D"/>
                </a:solidFill>
                <a:latin typeface="JetBrains Mono" pitchFamily="49" charset="0"/>
                <a:ea typeface="JetBrains Mono" pitchFamily="49" charset="-122"/>
                <a:cs typeface="JetBrains Mono" pitchFamily="49" charset="-120"/>
              </a:rPr>
              <a:t>'/products'</a:t>
            </a:r>
            <a:r>
              <a:rPr lang="en-US" sz="1400" dirty="0">
                <a:solidFill>
                  <a:srgbClr val="E6E1D6"/>
                </a:solidFill>
                <a:latin typeface="JetBrains Mono" pitchFamily="49" charset="0"/>
                <a:ea typeface="JetBrains Mono" pitchFamily="49" charset="-122"/>
                <a:cs typeface="JetBrains Mono" pitchFamily="49" charset="-120"/>
              </a:rPr>
              <a:t>, (req, res) =&gt; res.</a:t>
            </a:r>
            <a:r>
              <a:rPr lang="en-US" sz="1400" dirty="0">
                <a:solidFill>
                  <a:srgbClr val="82AAFF"/>
                </a:solidFill>
                <a:latin typeface="JetBrains Mono" pitchFamily="49" charset="0"/>
                <a:ea typeface="JetBrains Mono" pitchFamily="49" charset="-122"/>
                <a:cs typeface="JetBrains Mono" pitchFamily="49" charset="-120"/>
              </a:rPr>
              <a:t>json</a:t>
            </a:r>
            <a:r>
              <a:rPr lang="en-US" sz="1400" dirty="0">
                <a:solidFill>
                  <a:srgbClr val="E6E1D6"/>
                </a:solidFill>
                <a:latin typeface="JetBrains Mono" pitchFamily="49" charset="0"/>
                <a:ea typeface="JetBrains Mono" pitchFamily="49" charset="-122"/>
                <a:cs typeface="JetBrains Mono" pitchFamily="49" charset="-120"/>
              </a:rPr>
              <a:t>(products));</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app.</a:t>
            </a:r>
            <a:r>
              <a:rPr lang="en-US" sz="1400" dirty="0">
                <a:solidFill>
                  <a:srgbClr val="82AAFF"/>
                </a:solidFill>
                <a:latin typeface="JetBrains Mono" pitchFamily="49" charset="0"/>
                <a:ea typeface="JetBrains Mono" pitchFamily="49" charset="-122"/>
                <a:cs typeface="JetBrains Mono" pitchFamily="49" charset="-120"/>
              </a:rPr>
              <a:t>use</a:t>
            </a:r>
            <a:r>
              <a:rPr lang="en-US" sz="1400" dirty="0">
                <a:solidFill>
                  <a:srgbClr val="E6E1D6"/>
                </a:solidFill>
                <a:latin typeface="JetBrains Mono" pitchFamily="49" charset="0"/>
                <a:ea typeface="JetBrains Mono" pitchFamily="49" charset="-122"/>
                <a:cs typeface="JetBrains Mono" pitchFamily="49" charset="-120"/>
              </a:rPr>
              <a:t>(logger); </a:t>
            </a:r>
            <a:r>
              <a:rPr lang="en-US" sz="1400" dirty="0">
                <a:solidFill>
                  <a:srgbClr val="7F8796"/>
                </a:solidFill>
                <a:latin typeface="JetBrains Mono" pitchFamily="49" charset="0"/>
                <a:ea typeface="JetBrains Mono" pitchFamily="49" charset="-122"/>
                <a:cs typeface="JetBrains Mono" pitchFamily="49" charset="-120"/>
              </a:rPr>
              <a:t>// logs, then next()</a:t>
            </a:r>
            <a:endParaRPr lang="en-US" sz="1400" dirty="0"/>
          </a:p>
        </p:txBody>
      </p:sp>
      <p:sp>
        <p:nvSpPr>
          <p:cNvPr id="5" name="Text 3"/>
          <p:cNvSpPr/>
          <p:nvPr/>
        </p:nvSpPr>
        <p:spPr>
          <a:xfrm>
            <a:off x="819138" y="2652762"/>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A</a:t>
            </a:r>
            <a:r>
              <a:rPr lang="en-US" sz="1400" dirty="0">
                <a:solidFill>
                  <a:srgbClr val="F2EFE6"/>
                </a:solidFill>
                <a:latin typeface="Space Grotesk" pitchFamily="34" charset="0"/>
                <a:ea typeface="Space Grotesk" pitchFamily="34" charset="-122"/>
                <a:cs typeface="Space Grotesk" pitchFamily="34" charset="-120"/>
              </a:rPr>
              <a:t> Yes, before the route runs</a:t>
            </a:r>
            <a:endParaRPr lang="en-US" sz="1400" dirty="0"/>
          </a:p>
        </p:txBody>
      </p:sp>
      <p:sp>
        <p:nvSpPr>
          <p:cNvPr id="6" name="Text 4"/>
          <p:cNvSpPr/>
          <p:nvPr/>
        </p:nvSpPr>
        <p:spPr>
          <a:xfrm>
            <a:off x="6165850" y="2652762"/>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B</a:t>
            </a:r>
            <a:r>
              <a:rPr lang="en-US" sz="1400" dirty="0">
                <a:solidFill>
                  <a:srgbClr val="F2EFE6"/>
                </a:solidFill>
                <a:latin typeface="Space Grotesk" pitchFamily="34" charset="0"/>
                <a:ea typeface="Space Grotesk" pitchFamily="34" charset="-122"/>
                <a:cs typeface="Space Grotesk" pitchFamily="34" charset="-120"/>
              </a:rPr>
              <a:t> Yes, after the route runs</a:t>
            </a:r>
            <a:endParaRPr lang="en-US" sz="1400" dirty="0"/>
          </a:p>
        </p:txBody>
      </p:sp>
      <p:sp>
        <p:nvSpPr>
          <p:cNvPr id="7" name="Text 5"/>
          <p:cNvSpPr/>
          <p:nvPr/>
        </p:nvSpPr>
        <p:spPr>
          <a:xfrm>
            <a:off x="819138" y="3331716"/>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C</a:t>
            </a:r>
            <a:r>
              <a:rPr lang="en-US" sz="1400" dirty="0">
                <a:solidFill>
                  <a:srgbClr val="F2EFE6"/>
                </a:solidFill>
                <a:latin typeface="Space Grotesk" pitchFamily="34" charset="0"/>
                <a:ea typeface="Space Grotesk" pitchFamily="34" charset="-122"/>
                <a:cs typeface="Space Grotesk" pitchFamily="34" charset="-120"/>
              </a:rPr>
              <a:t> No, the route already answered</a:t>
            </a:r>
            <a:endParaRPr lang="en-US" sz="1400" dirty="0"/>
          </a:p>
        </p:txBody>
      </p:sp>
      <p:sp>
        <p:nvSpPr>
          <p:cNvPr id="8" name="Text 6"/>
          <p:cNvSpPr/>
          <p:nvPr/>
        </p:nvSpPr>
        <p:spPr>
          <a:xfrm>
            <a:off x="6165850" y="3331716"/>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D</a:t>
            </a:r>
            <a:r>
              <a:rPr lang="en-US" sz="1400" dirty="0">
                <a:solidFill>
                  <a:srgbClr val="F2EFE6"/>
                </a:solidFill>
                <a:latin typeface="Space Grotesk" pitchFamily="34" charset="0"/>
                <a:ea typeface="Space Grotesk" pitchFamily="34" charset="-122"/>
                <a:cs typeface="Space Grotesk" pitchFamily="34" charset="-120"/>
              </a:rPr>
              <a:t> It throws an error</a:t>
            </a:r>
            <a:endParaRPr lang="en-US" sz="1400" dirty="0"/>
          </a:p>
        </p:txBody>
      </p:sp>
      <p:sp>
        <p:nvSpPr>
          <p:cNvPr id="9" name="Shape 7"/>
          <p:cNvSpPr/>
          <p:nvPr/>
        </p:nvSpPr>
        <p:spPr>
          <a:xfrm>
            <a:off x="812788" y="5080000"/>
            <a:ext cx="10566363" cy="965150"/>
          </a:xfrm>
          <a:prstGeom prst="roundRect">
            <a:avLst>
              <a:gd name="adj" fmla="val 10527"/>
            </a:avLst>
          </a:prstGeom>
          <a:solidFill>
            <a:srgbClr val="1B2E25"/>
          </a:solidFill>
          <a:ln/>
        </p:spPr>
      </p:sp>
      <p:sp>
        <p:nvSpPr>
          <p:cNvPr id="10" name="Shape 8"/>
          <p:cNvSpPr/>
          <p:nvPr/>
        </p:nvSpPr>
        <p:spPr>
          <a:xfrm>
            <a:off x="812788" y="5080000"/>
            <a:ext cx="10566363" cy="965150"/>
          </a:xfrm>
          <a:custGeom>
            <a:avLst/>
            <a:gdLst/>
            <a:ahLst/>
            <a:cxnLst/>
            <a:rect l="l" t="t" r="r" b="b"/>
            <a:pathLst>
              <a:path w="10566363" h="965150">
                <a:moveTo>
                  <a:pt x="101600" y="965150"/>
                </a:moveTo>
                <a:lnTo>
                  <a:pt x="101600" y="965150"/>
                </a:lnTo>
                <a:arcTo hR="101600" wR="101600" stAng="5400000" swAng="5400000"/>
                <a:lnTo>
                  <a:pt x="0" y="101600"/>
                </a:lnTo>
                <a:arcTo hR="101600" wR="101600" stAng="10800000" swAng="5400000"/>
                <a:lnTo>
                  <a:pt x="101600" y="0"/>
                </a:lnTo>
                <a:arcTo hR="101600" wR="50800" stAng="16200000" swAng="-5400000"/>
                <a:lnTo>
                  <a:pt x="50800" y="863550"/>
                </a:lnTo>
                <a:arcTo hR="101600" wR="50800" stAng="10800000" swAng="-5400000"/>
                <a:close/>
              </a:path>
            </a:pathLst>
          </a:custGeom>
          <a:solidFill>
            <a:srgbClr val="7BD88F"/>
          </a:solidFill>
          <a:ln/>
        </p:spPr>
      </p:sp>
      <p:sp>
        <p:nvSpPr>
          <p:cNvPr id="11" name="Text 9"/>
          <p:cNvSpPr/>
          <p:nvPr/>
        </p:nvSpPr>
        <p:spPr>
          <a:xfrm>
            <a:off x="1088988" y="5294709"/>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C</a:t>
            </a:r>
            <a:endParaRPr lang="en-US" sz="1500" dirty="0"/>
          </a:p>
        </p:txBody>
      </p:sp>
      <p:sp>
        <p:nvSpPr>
          <p:cNvPr id="12" name="Text 10"/>
          <p:cNvSpPr/>
          <p:nvPr/>
        </p:nvSpPr>
        <p:spPr>
          <a:xfrm>
            <a:off x="1088988" y="5599410"/>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Registration order is run order. The route ended the cycle, so Express never reached the logger.</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FB0FF"/>
                </a:solidFill>
                <a:latin typeface="Space Grotesk" pitchFamily="34" charset="0"/>
                <a:ea typeface="Space Grotesk" pitchFamily="34" charset="-122"/>
                <a:cs typeface="Space Grotesk" pitchFamily="34" charset="-120"/>
              </a:rPr>
              <a:t>QUIZ · MIDDLEWARE · 6 OF 7 · MSQ: CHOOSE ALL THAT APPLY</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Good reasons to use express.Router()?</a:t>
            </a:r>
            <a:endParaRPr lang="en-US" sz="2400" dirty="0"/>
          </a:p>
        </p:txBody>
      </p:sp>
      <p:sp>
        <p:nvSpPr>
          <p:cNvPr id="4" name="Text 2"/>
          <p:cNvSpPr/>
          <p:nvPr/>
        </p:nvSpPr>
        <p:spPr>
          <a:xfrm>
            <a:off x="819138" y="1713161"/>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A</a:t>
            </a:r>
            <a:r>
              <a:rPr lang="en-US" sz="1400" dirty="0">
                <a:solidFill>
                  <a:srgbClr val="F2EFE6"/>
                </a:solidFill>
                <a:latin typeface="Space Grotesk" pitchFamily="34" charset="0"/>
                <a:ea typeface="Space Grotesk" pitchFamily="34" charset="-122"/>
                <a:cs typeface="Space Grotesk" pitchFamily="34" charset="-120"/>
              </a:rPr>
              <a:t> Write a group’s prefix once, in app.js</a:t>
            </a:r>
            <a:endParaRPr lang="en-US" sz="1400" dirty="0"/>
          </a:p>
        </p:txBody>
      </p:sp>
      <p:sp>
        <p:nvSpPr>
          <p:cNvPr id="5" name="Text 3"/>
          <p:cNvSpPr/>
          <p:nvPr/>
        </p:nvSpPr>
        <p:spPr>
          <a:xfrm>
            <a:off x="6165850" y="1713161"/>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B</a:t>
            </a:r>
            <a:r>
              <a:rPr lang="en-US" sz="1400" dirty="0">
                <a:solidFill>
                  <a:srgbClr val="F2EFE6"/>
                </a:solidFill>
                <a:latin typeface="Space Grotesk" pitchFamily="34" charset="0"/>
                <a:ea typeface="Space Grotesk" pitchFamily="34" charset="-122"/>
                <a:cs typeface="Space Grotesk" pitchFamily="34" charset="-120"/>
              </a:rPr>
              <a:t> Attach middleware to just that group</a:t>
            </a:r>
            <a:endParaRPr lang="en-US" sz="1400" dirty="0"/>
          </a:p>
        </p:txBody>
      </p:sp>
      <p:sp>
        <p:nvSpPr>
          <p:cNvPr id="6" name="Text 4"/>
          <p:cNvSpPr/>
          <p:nvPr/>
        </p:nvSpPr>
        <p:spPr>
          <a:xfrm>
            <a:off x="819138" y="2392114"/>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C</a:t>
            </a:r>
            <a:r>
              <a:rPr lang="en-US" sz="1400" dirty="0">
                <a:solidFill>
                  <a:srgbClr val="F2EFE6"/>
                </a:solidFill>
                <a:latin typeface="Space Grotesk" pitchFamily="34" charset="0"/>
                <a:ea typeface="Space Grotesk" pitchFamily="34" charset="-122"/>
                <a:cs typeface="Space Grotesk" pitchFamily="34" charset="-120"/>
              </a:rPr>
              <a:t> Move a feature to its own file without passing app</a:t>
            </a:r>
            <a:endParaRPr lang="en-US" sz="1400" dirty="0"/>
          </a:p>
        </p:txBody>
      </p:sp>
      <p:sp>
        <p:nvSpPr>
          <p:cNvPr id="7" name="Text 5"/>
          <p:cNvSpPr/>
          <p:nvPr/>
        </p:nvSpPr>
        <p:spPr>
          <a:xfrm>
            <a:off x="6165850" y="2392114"/>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D</a:t>
            </a:r>
            <a:r>
              <a:rPr lang="en-US" sz="1400" dirty="0">
                <a:solidFill>
                  <a:srgbClr val="F2EFE6"/>
                </a:solidFill>
                <a:latin typeface="Space Grotesk" pitchFamily="34" charset="0"/>
                <a:ea typeface="Space Grotesk" pitchFamily="34" charset="-122"/>
                <a:cs typeface="Space Grotesk" pitchFamily="34" charset="-120"/>
              </a:rPr>
              <a:t> It makes requests run faster</a:t>
            </a:r>
            <a:endParaRPr lang="en-US" sz="1400" dirty="0"/>
          </a:p>
        </p:txBody>
      </p:sp>
      <p:sp>
        <p:nvSpPr>
          <p:cNvPr id="8" name="Text 6"/>
          <p:cNvSpPr/>
          <p:nvPr/>
        </p:nvSpPr>
        <p:spPr>
          <a:xfrm>
            <a:off x="819138" y="3071118"/>
            <a:ext cx="5207012" cy="539266"/>
          </a:xfrm>
          <a:prstGeom prst="roundRect">
            <a:avLst>
              <a:gd name="adj" fmla="val 17663"/>
            </a:avLst>
          </a:prstGeom>
          <a:solidFill>
            <a:srgbClr val="1E2430"/>
          </a:solidFill>
          <a:ln w="12700">
            <a:solidFill>
              <a:srgbClr val="2C3444"/>
            </a:solidFill>
            <a:prstDash val="solid"/>
          </a:ln>
        </p:spPr>
        <p:txBody>
          <a:bodyPr wrap="square" lIns="180809" tIns="117358" rIns="37121" bIns="91859" rtlCol="0" anchor="t">
            <a:normAutofit/>
          </a:bodyPr>
          <a:lstStyle/>
          <a:p>
            <a:pPr algn="l" indent="0" marL="0">
              <a:lnSpc>
                <a:spcPts val="1960"/>
              </a:lnSpc>
              <a:buNone/>
            </a:pPr>
            <a:r>
              <a:rPr lang="en-US" sz="1400" dirty="0">
                <a:solidFill>
                  <a:srgbClr val="7FB0FF"/>
                </a:solidFill>
                <a:latin typeface="Space Grotesk" pitchFamily="34" charset="0"/>
                <a:ea typeface="Space Grotesk" pitchFamily="34" charset="-122"/>
                <a:cs typeface="Space Grotesk" pitchFamily="34" charset="-120"/>
              </a:rPr>
              <a:t>E</a:t>
            </a:r>
            <a:r>
              <a:rPr lang="en-US" sz="1400" dirty="0">
                <a:solidFill>
                  <a:srgbClr val="F2EFE6"/>
                </a:solidFill>
                <a:latin typeface="Space Grotesk" pitchFamily="34" charset="0"/>
                <a:ea typeface="Space Grotesk" pitchFamily="34" charset="-122"/>
                <a:cs typeface="Space Grotesk" pitchFamily="34" charset="-120"/>
              </a:rPr>
              <a:t> next('route') only works with a router</a:t>
            </a:r>
            <a:endParaRPr lang="en-US" sz="1400" dirty="0"/>
          </a:p>
        </p:txBody>
      </p:sp>
      <p:sp>
        <p:nvSpPr>
          <p:cNvPr id="9" name="Shape 7"/>
          <p:cNvSpPr/>
          <p:nvPr/>
        </p:nvSpPr>
        <p:spPr>
          <a:xfrm>
            <a:off x="812788" y="4927600"/>
            <a:ext cx="10566363" cy="1117575"/>
          </a:xfrm>
          <a:prstGeom prst="roundRect">
            <a:avLst>
              <a:gd name="adj" fmla="val 9091"/>
            </a:avLst>
          </a:prstGeom>
          <a:solidFill>
            <a:srgbClr val="1B2E25"/>
          </a:solidFill>
          <a:ln/>
        </p:spPr>
      </p:sp>
      <p:sp>
        <p:nvSpPr>
          <p:cNvPr id="10" name="Shape 8"/>
          <p:cNvSpPr/>
          <p:nvPr/>
        </p:nvSpPr>
        <p:spPr>
          <a:xfrm>
            <a:off x="812788" y="4927600"/>
            <a:ext cx="10566363" cy="1117575"/>
          </a:xfrm>
          <a:custGeom>
            <a:avLst/>
            <a:gdLst/>
            <a:ahLst/>
            <a:cxnLst/>
            <a:rect l="l" t="t" r="r" b="b"/>
            <a:pathLst>
              <a:path w="10566363" h="1117575">
                <a:moveTo>
                  <a:pt x="101600" y="1117575"/>
                </a:moveTo>
                <a:lnTo>
                  <a:pt x="101600" y="1117575"/>
                </a:lnTo>
                <a:arcTo hR="101600" wR="101600" stAng="5400000" swAng="5400000"/>
                <a:lnTo>
                  <a:pt x="0" y="101600"/>
                </a:lnTo>
                <a:arcTo hR="101600" wR="101600" stAng="10800000" swAng="5400000"/>
                <a:lnTo>
                  <a:pt x="101600" y="0"/>
                </a:lnTo>
                <a:arcTo hR="101600" wR="50800" stAng="16200000" swAng="-5400000"/>
                <a:lnTo>
                  <a:pt x="50800" y="1015975"/>
                </a:lnTo>
                <a:arcTo hR="101600" wR="50800" stAng="10800000" swAng="-5400000"/>
                <a:close/>
              </a:path>
            </a:pathLst>
          </a:custGeom>
          <a:solidFill>
            <a:srgbClr val="7BD88F"/>
          </a:solidFill>
          <a:ln/>
        </p:spPr>
      </p:sp>
      <p:sp>
        <p:nvSpPr>
          <p:cNvPr id="11" name="Text 9"/>
          <p:cNvSpPr/>
          <p:nvPr/>
        </p:nvSpPr>
        <p:spPr>
          <a:xfrm>
            <a:off x="1088988" y="5212060"/>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A, B, C</a:t>
            </a:r>
            <a:endParaRPr lang="en-US" sz="1500" dirty="0"/>
          </a:p>
        </p:txBody>
      </p:sp>
      <p:sp>
        <p:nvSpPr>
          <p:cNvPr id="12" name="Text 10"/>
          <p:cNvSpPr/>
          <p:nvPr/>
        </p:nvSpPr>
        <p:spPr>
          <a:xfrm>
            <a:off x="1088988" y="5529511"/>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Router is about organisation, not speed. next('route') also works with app.get / app.post.</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BD88F"/>
                </a:solidFill>
                <a:latin typeface="Space Grotesk" pitchFamily="34" charset="0"/>
                <a:ea typeface="Space Grotesk" pitchFamily="34" charset="-122"/>
                <a:cs typeface="Space Grotesk" pitchFamily="34" charset="-120"/>
              </a:rPr>
              <a:t>QUIZ · MIDDLEWARE · 7 OF 7 · MCQ: ONE ANSWER</a:t>
            </a:r>
            <a:endParaRPr lang="en-US" sz="1200" dirty="0"/>
          </a:p>
        </p:txBody>
      </p:sp>
      <p:sp>
        <p:nvSpPr>
          <p:cNvPr id="3" name="Text 1"/>
          <p:cNvSpPr/>
          <p:nvPr>
            <p:ph type="title"/>
          </p:nvPr>
        </p:nvSpPr>
        <p:spPr>
          <a:xfrm>
            <a:off x="812788" y="1102320"/>
            <a:ext cx="10883418" cy="375890"/>
          </a:xfrm>
          <a:prstGeom prst="rect">
            <a:avLst/>
          </a:prstGeom>
          <a:noFill/>
          <a:ln/>
        </p:spPr>
        <p:txBody>
          <a:bodyPr wrap="square" lIns="0" tIns="0" rIns="0" bIns="0" rtlCol="0" anchor="t">
            <a:normAutofit/>
          </a:bodyPr>
          <a:lstStyle/>
          <a:p>
            <a:pPr algn="l" indent="0" marL="0">
              <a:lnSpc>
                <a:spcPts val="2760"/>
              </a:lnSpc>
              <a:buNone/>
            </a:pPr>
            <a:r>
              <a:rPr lang="en-US" sz="2400" b="1" i="0" dirty="0">
                <a:solidFill>
                  <a:srgbClr val="F2EFE6"/>
                </a:solidFill>
                <a:latin typeface="Space Grotesk" pitchFamily="34" charset="0"/>
                <a:ea typeface="Space Grotesk" pitchFamily="34" charset="-122"/>
                <a:cs typeface="Space Grotesk" pitchFamily="34" charset="-120"/>
              </a:rPr>
              <a:t>Express 5, no try/catch. The fetch fails. What happens?</a:t>
            </a:r>
            <a:endParaRPr lang="en-US" sz="2400" dirty="0"/>
          </a:p>
        </p:txBody>
      </p:sp>
      <p:sp>
        <p:nvSpPr>
          <p:cNvPr id="4" name="Text 2"/>
          <p:cNvSpPr/>
          <p:nvPr/>
        </p:nvSpPr>
        <p:spPr>
          <a:xfrm>
            <a:off x="812788" y="1655961"/>
            <a:ext cx="10566425" cy="1320602"/>
          </a:xfrm>
          <a:prstGeom prst="roundRect">
            <a:avLst>
              <a:gd name="adj" fmla="val 7693"/>
            </a:avLst>
          </a:prstGeom>
          <a:solidFill>
            <a:srgbClr val="0E1117"/>
          </a:solidFill>
          <a:ln/>
        </p:spPr>
        <p:txBody>
          <a:bodyPr wrap="square" lIns="173442" tIns="97242" rIns="0" bIns="71842" rtlCol="0" anchor="t">
            <a:normAutofit/>
          </a:bodyPr>
          <a:lstStyle/>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app.</a:t>
            </a:r>
            <a:r>
              <a:rPr lang="en-US" sz="1400" dirty="0">
                <a:solidFill>
                  <a:srgbClr val="82AAFF"/>
                </a:solidFill>
                <a:latin typeface="JetBrains Mono" pitchFamily="49" charset="0"/>
                <a:ea typeface="JetBrains Mono" pitchFamily="49" charset="-122"/>
                <a:cs typeface="JetBrains Mono" pitchFamily="49" charset="-120"/>
              </a:rPr>
              <a:t>get</a:t>
            </a:r>
            <a:r>
              <a:rPr lang="en-US" sz="1400" dirty="0">
                <a:solidFill>
                  <a:srgbClr val="E6E1D6"/>
                </a:solidFill>
                <a:latin typeface="JetBrains Mono" pitchFamily="49" charset="0"/>
                <a:ea typeface="JetBrains Mono" pitchFamily="49" charset="-122"/>
                <a:cs typeface="JetBrains Mono" pitchFamily="49" charset="-120"/>
              </a:rPr>
              <a:t>(</a:t>
            </a:r>
            <a:r>
              <a:rPr lang="en-US" sz="1400" dirty="0">
                <a:solidFill>
                  <a:srgbClr val="C3E88D"/>
                </a:solidFill>
                <a:latin typeface="JetBrains Mono" pitchFamily="49" charset="0"/>
                <a:ea typeface="JetBrains Mono" pitchFamily="49" charset="-122"/>
                <a:cs typeface="JetBrains Mono" pitchFamily="49" charset="-120"/>
              </a:rPr>
              <a:t>'/live/:id'</a:t>
            </a:r>
            <a:r>
              <a:rPr lang="en-US" sz="1400" dirty="0">
                <a:solidFill>
                  <a:srgbClr val="E6E1D6"/>
                </a:solidFill>
                <a:latin typeface="JetBrains Mono" pitchFamily="49" charset="0"/>
                <a:ea typeface="JetBrains Mono" pitchFamily="49" charset="-122"/>
                <a:cs typeface="JetBrains Mono" pitchFamily="49" charset="-120"/>
              </a:rPr>
              <a:t>, </a:t>
            </a:r>
            <a:r>
              <a:rPr lang="en-US" sz="1400" dirty="0">
                <a:solidFill>
                  <a:srgbClr val="C792EA"/>
                </a:solidFill>
                <a:latin typeface="JetBrains Mono" pitchFamily="49" charset="0"/>
                <a:ea typeface="JetBrains Mono" pitchFamily="49" charset="-122"/>
                <a:cs typeface="JetBrains Mono" pitchFamily="49" charset="-120"/>
              </a:rPr>
              <a:t>async</a:t>
            </a:r>
            <a:r>
              <a:rPr lang="en-US" sz="1400" dirty="0">
                <a:solidFill>
                  <a:srgbClr val="E6E1D6"/>
                </a:solidFill>
                <a:latin typeface="JetBrains Mono" pitchFamily="49" charset="0"/>
                <a:ea typeface="JetBrains Mono" pitchFamily="49" charset="-122"/>
                <a:cs typeface="JetBrains Mono" pitchFamily="49" charset="-120"/>
              </a:rPr>
              <a:t> (req, res) =&gt; {</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  </a:t>
            </a:r>
            <a:r>
              <a:rPr lang="en-US" sz="1400" dirty="0">
                <a:solidFill>
                  <a:srgbClr val="C792EA"/>
                </a:solidFill>
                <a:latin typeface="JetBrains Mono" pitchFamily="49" charset="0"/>
                <a:ea typeface="JetBrains Mono" pitchFamily="49" charset="-122"/>
                <a:cs typeface="JetBrains Mono" pitchFamily="49" charset="-120"/>
              </a:rPr>
              <a:t>const</a:t>
            </a:r>
            <a:r>
              <a:rPr lang="en-US" sz="1400" dirty="0">
                <a:solidFill>
                  <a:srgbClr val="E6E1D6"/>
                </a:solidFill>
                <a:latin typeface="JetBrains Mono" pitchFamily="49" charset="0"/>
                <a:ea typeface="JetBrains Mono" pitchFamily="49" charset="-122"/>
                <a:cs typeface="JetBrains Mono" pitchFamily="49" charset="-120"/>
              </a:rPr>
              <a:t> r = </a:t>
            </a:r>
            <a:r>
              <a:rPr lang="en-US" sz="1400" dirty="0">
                <a:solidFill>
                  <a:srgbClr val="C792EA"/>
                </a:solidFill>
                <a:latin typeface="JetBrains Mono" pitchFamily="49" charset="0"/>
                <a:ea typeface="JetBrains Mono" pitchFamily="49" charset="-122"/>
                <a:cs typeface="JetBrains Mono" pitchFamily="49" charset="-120"/>
              </a:rPr>
              <a:t>await</a:t>
            </a:r>
            <a:r>
              <a:rPr lang="en-US" sz="1400" dirty="0">
                <a:solidFill>
                  <a:srgbClr val="E6E1D6"/>
                </a:solidFill>
                <a:latin typeface="JetBrains Mono" pitchFamily="49" charset="0"/>
                <a:ea typeface="JetBrains Mono" pitchFamily="49" charset="-122"/>
                <a:cs typeface="JetBrains Mono" pitchFamily="49" charset="-120"/>
              </a:rPr>
              <a:t> </a:t>
            </a:r>
            <a:r>
              <a:rPr lang="en-US" sz="1400" dirty="0">
                <a:solidFill>
                  <a:srgbClr val="82AAFF"/>
                </a:solidFill>
                <a:latin typeface="JetBrains Mono" pitchFamily="49" charset="0"/>
                <a:ea typeface="JetBrains Mono" pitchFamily="49" charset="-122"/>
                <a:cs typeface="JetBrains Mono" pitchFamily="49" charset="-120"/>
              </a:rPr>
              <a:t>fetch</a:t>
            </a:r>
            <a:r>
              <a:rPr lang="en-US" sz="1400" dirty="0">
                <a:solidFill>
                  <a:srgbClr val="E6E1D6"/>
                </a:solidFill>
                <a:latin typeface="JetBrains Mono" pitchFamily="49" charset="0"/>
                <a:ea typeface="JetBrains Mono" pitchFamily="49" charset="-122"/>
                <a:cs typeface="JetBrains Mono" pitchFamily="49" charset="-120"/>
              </a:rPr>
              <a:t>(API + req.params.id);</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  res.</a:t>
            </a:r>
            <a:r>
              <a:rPr lang="en-US" sz="1400" dirty="0">
                <a:solidFill>
                  <a:srgbClr val="82AAFF"/>
                </a:solidFill>
                <a:latin typeface="JetBrains Mono" pitchFamily="49" charset="0"/>
                <a:ea typeface="JetBrains Mono" pitchFamily="49" charset="-122"/>
                <a:cs typeface="JetBrains Mono" pitchFamily="49" charset="-120"/>
              </a:rPr>
              <a:t>json</a:t>
            </a:r>
            <a:r>
              <a:rPr lang="en-US" sz="1400" dirty="0">
                <a:solidFill>
                  <a:srgbClr val="E6E1D6"/>
                </a:solidFill>
                <a:latin typeface="JetBrains Mono" pitchFamily="49" charset="0"/>
                <a:ea typeface="JetBrains Mono" pitchFamily="49" charset="-122"/>
                <a:cs typeface="JetBrains Mono" pitchFamily="49" charset="-120"/>
              </a:rPr>
              <a:t>(</a:t>
            </a:r>
            <a:r>
              <a:rPr lang="en-US" sz="1400" dirty="0">
                <a:solidFill>
                  <a:srgbClr val="C792EA"/>
                </a:solidFill>
                <a:latin typeface="JetBrains Mono" pitchFamily="49" charset="0"/>
                <a:ea typeface="JetBrains Mono" pitchFamily="49" charset="-122"/>
                <a:cs typeface="JetBrains Mono" pitchFamily="49" charset="-120"/>
              </a:rPr>
              <a:t>await</a:t>
            </a:r>
            <a:r>
              <a:rPr lang="en-US" sz="1400" dirty="0">
                <a:solidFill>
                  <a:srgbClr val="E6E1D6"/>
                </a:solidFill>
                <a:latin typeface="JetBrains Mono" pitchFamily="49" charset="0"/>
                <a:ea typeface="JetBrains Mono" pitchFamily="49" charset="-122"/>
                <a:cs typeface="JetBrains Mono" pitchFamily="49" charset="-120"/>
              </a:rPr>
              <a:t> r.</a:t>
            </a:r>
            <a:r>
              <a:rPr lang="en-US" sz="1400" dirty="0">
                <a:solidFill>
                  <a:srgbClr val="82AAFF"/>
                </a:solidFill>
                <a:latin typeface="JetBrains Mono" pitchFamily="49" charset="0"/>
                <a:ea typeface="JetBrains Mono" pitchFamily="49" charset="-122"/>
                <a:cs typeface="JetBrains Mono" pitchFamily="49" charset="-120"/>
              </a:rPr>
              <a:t>json</a:t>
            </a:r>
            <a:r>
              <a:rPr lang="en-US" sz="1400" dirty="0">
                <a:solidFill>
                  <a:srgbClr val="E6E1D6"/>
                </a:solidFill>
                <a:latin typeface="JetBrains Mono" pitchFamily="49" charset="0"/>
                <a:ea typeface="JetBrains Mono" pitchFamily="49" charset="-122"/>
                <a:cs typeface="JetBrains Mono" pitchFamily="49" charset="-120"/>
              </a:rPr>
              <a:t>());</a:t>
            </a:r>
            <a:endParaRPr lang="en-US" sz="1400" dirty="0"/>
          </a:p>
          <a:p>
            <a:pPr algn="l" indent="0" marL="0">
              <a:lnSpc>
                <a:spcPts val="2100"/>
              </a:lnSpc>
              <a:buNone/>
            </a:pPr>
            <a:r>
              <a:rPr lang="en-US" sz="1400" dirty="0">
                <a:solidFill>
                  <a:srgbClr val="E6E1D6"/>
                </a:solidFill>
                <a:latin typeface="JetBrains Mono" pitchFamily="49" charset="0"/>
                <a:ea typeface="JetBrains Mono" pitchFamily="49" charset="-122"/>
                <a:cs typeface="JetBrains Mono" pitchFamily="49" charset="-120"/>
              </a:rPr>
              <a:t>});</a:t>
            </a:r>
            <a:endParaRPr lang="en-US" sz="1400" dirty="0"/>
          </a:p>
        </p:txBody>
      </p:sp>
      <p:sp>
        <p:nvSpPr>
          <p:cNvPr id="5" name="Text 3"/>
          <p:cNvSpPr/>
          <p:nvPr/>
        </p:nvSpPr>
        <p:spPr>
          <a:xfrm>
            <a:off x="819138" y="3186063"/>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A</a:t>
            </a:r>
            <a:r>
              <a:rPr lang="en-US" sz="1400" dirty="0">
                <a:solidFill>
                  <a:srgbClr val="F2EFE6"/>
                </a:solidFill>
                <a:latin typeface="Space Grotesk" pitchFamily="34" charset="0"/>
                <a:ea typeface="Space Grotesk" pitchFamily="34" charset="-122"/>
                <a:cs typeface="Space Grotesk" pitchFamily="34" charset="-120"/>
              </a:rPr>
              <a:t> The whole server crashes</a:t>
            </a:r>
            <a:endParaRPr lang="en-US" sz="1400" dirty="0"/>
          </a:p>
        </p:txBody>
      </p:sp>
      <p:sp>
        <p:nvSpPr>
          <p:cNvPr id="6" name="Text 4"/>
          <p:cNvSpPr/>
          <p:nvPr/>
        </p:nvSpPr>
        <p:spPr>
          <a:xfrm>
            <a:off x="6165850" y="3186063"/>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B</a:t>
            </a:r>
            <a:r>
              <a:rPr lang="en-US" sz="1400" dirty="0">
                <a:solidFill>
                  <a:srgbClr val="F2EFE6"/>
                </a:solidFill>
                <a:latin typeface="Space Grotesk" pitchFamily="34" charset="0"/>
                <a:ea typeface="Space Grotesk" pitchFamily="34" charset="-122"/>
                <a:cs typeface="Space Grotesk" pitchFamily="34" charset="-120"/>
              </a:rPr>
              <a:t> The request hangs forever</a:t>
            </a:r>
            <a:endParaRPr lang="en-US" sz="1400" dirty="0"/>
          </a:p>
        </p:txBody>
      </p:sp>
      <p:sp>
        <p:nvSpPr>
          <p:cNvPr id="7" name="Text 5"/>
          <p:cNvSpPr/>
          <p:nvPr/>
        </p:nvSpPr>
        <p:spPr>
          <a:xfrm>
            <a:off x="819138" y="3839716"/>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C</a:t>
            </a:r>
            <a:r>
              <a:rPr lang="en-US" sz="1400" dirty="0">
                <a:solidFill>
                  <a:srgbClr val="F2EFE6"/>
                </a:solidFill>
                <a:latin typeface="Space Grotesk" pitchFamily="34" charset="0"/>
                <a:ea typeface="Space Grotesk" pitchFamily="34" charset="-122"/>
                <a:cs typeface="Space Grotesk" pitchFamily="34" charset="-120"/>
              </a:rPr>
              <a:t> The error handler receives it</a:t>
            </a:r>
            <a:endParaRPr lang="en-US" sz="1400" dirty="0"/>
          </a:p>
        </p:txBody>
      </p:sp>
      <p:sp>
        <p:nvSpPr>
          <p:cNvPr id="8" name="Text 6"/>
          <p:cNvSpPr/>
          <p:nvPr/>
        </p:nvSpPr>
        <p:spPr>
          <a:xfrm>
            <a:off x="6165850" y="3839716"/>
            <a:ext cx="5207012" cy="513966"/>
          </a:xfrm>
          <a:prstGeom prst="roundRect">
            <a:avLst>
              <a:gd name="adj" fmla="val 18532"/>
            </a:avLst>
          </a:prstGeom>
          <a:solidFill>
            <a:srgbClr val="1E2430"/>
          </a:solidFill>
          <a:ln w="12700">
            <a:solidFill>
              <a:srgbClr val="2C3444"/>
            </a:solidFill>
            <a:prstDash val="solid"/>
          </a:ln>
        </p:spPr>
        <p:txBody>
          <a:bodyPr wrap="square" lIns="180809" tIns="104658" rIns="37121" bIns="79258" rtlCol="0" anchor="t">
            <a:normAutofit/>
          </a:bodyPr>
          <a:lstStyle/>
          <a:p>
            <a:pPr algn="l" indent="0" marL="0">
              <a:lnSpc>
                <a:spcPts val="1960"/>
              </a:lnSpc>
              <a:buNone/>
            </a:pPr>
            <a:r>
              <a:rPr lang="en-US" sz="1400" dirty="0">
                <a:solidFill>
                  <a:srgbClr val="7BD88F"/>
                </a:solidFill>
                <a:latin typeface="Space Grotesk" pitchFamily="34" charset="0"/>
                <a:ea typeface="Space Grotesk" pitchFamily="34" charset="-122"/>
                <a:cs typeface="Space Grotesk" pitchFamily="34" charset="-120"/>
              </a:rPr>
              <a:t>D</a:t>
            </a:r>
            <a:r>
              <a:rPr lang="en-US" sz="1400" dirty="0">
                <a:solidFill>
                  <a:srgbClr val="F2EFE6"/>
                </a:solidFill>
                <a:latin typeface="Space Grotesk" pitchFamily="34" charset="0"/>
                <a:ea typeface="Space Grotesk" pitchFamily="34" charset="-122"/>
                <a:cs typeface="Space Grotesk" pitchFamily="34" charset="-120"/>
              </a:rPr>
              <a:t> Express sends 200 with no body</a:t>
            </a:r>
            <a:endParaRPr lang="en-US" sz="1400" dirty="0"/>
          </a:p>
        </p:txBody>
      </p:sp>
      <p:sp>
        <p:nvSpPr>
          <p:cNvPr id="9" name="Shape 7"/>
          <p:cNvSpPr/>
          <p:nvPr/>
        </p:nvSpPr>
        <p:spPr>
          <a:xfrm>
            <a:off x="812788" y="5080000"/>
            <a:ext cx="10566363" cy="965150"/>
          </a:xfrm>
          <a:prstGeom prst="roundRect">
            <a:avLst>
              <a:gd name="adj" fmla="val 10527"/>
            </a:avLst>
          </a:prstGeom>
          <a:solidFill>
            <a:srgbClr val="1B2E25"/>
          </a:solidFill>
          <a:ln/>
        </p:spPr>
      </p:sp>
      <p:sp>
        <p:nvSpPr>
          <p:cNvPr id="10" name="Shape 8"/>
          <p:cNvSpPr/>
          <p:nvPr/>
        </p:nvSpPr>
        <p:spPr>
          <a:xfrm>
            <a:off x="812788" y="5080000"/>
            <a:ext cx="10566363" cy="965150"/>
          </a:xfrm>
          <a:custGeom>
            <a:avLst/>
            <a:gdLst/>
            <a:ahLst/>
            <a:cxnLst/>
            <a:rect l="l" t="t" r="r" b="b"/>
            <a:pathLst>
              <a:path w="10566363" h="965150">
                <a:moveTo>
                  <a:pt x="101600" y="965150"/>
                </a:moveTo>
                <a:lnTo>
                  <a:pt x="101600" y="965150"/>
                </a:lnTo>
                <a:arcTo hR="101600" wR="101600" stAng="5400000" swAng="5400000"/>
                <a:lnTo>
                  <a:pt x="0" y="101600"/>
                </a:lnTo>
                <a:arcTo hR="101600" wR="101600" stAng="10800000" swAng="5400000"/>
                <a:lnTo>
                  <a:pt x="101600" y="0"/>
                </a:lnTo>
                <a:arcTo hR="101600" wR="50800" stAng="16200000" swAng="-5400000"/>
                <a:lnTo>
                  <a:pt x="50800" y="863550"/>
                </a:lnTo>
                <a:arcTo hR="101600" wR="50800" stAng="10800000" swAng="-5400000"/>
                <a:close/>
              </a:path>
            </a:pathLst>
          </a:custGeom>
          <a:solidFill>
            <a:srgbClr val="7BD88F"/>
          </a:solidFill>
          <a:ln/>
        </p:spPr>
      </p:sp>
      <p:sp>
        <p:nvSpPr>
          <p:cNvPr id="11" name="Text 9"/>
          <p:cNvSpPr/>
          <p:nvPr/>
        </p:nvSpPr>
        <p:spPr>
          <a:xfrm>
            <a:off x="1088988" y="5294709"/>
            <a:ext cx="10363435" cy="29205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7BD88F"/>
                </a:solidFill>
                <a:latin typeface="Space Grotesk" pitchFamily="34" charset="0"/>
                <a:ea typeface="Space Grotesk" pitchFamily="34" charset="-122"/>
                <a:cs typeface="Space Grotesk" pitchFamily="34" charset="-120"/>
              </a:rPr>
              <a:t>Answer: C</a:t>
            </a:r>
            <a:endParaRPr lang="en-US" sz="1500" dirty="0"/>
          </a:p>
        </p:txBody>
      </p:sp>
      <p:sp>
        <p:nvSpPr>
          <p:cNvPr id="12" name="Text 10"/>
          <p:cNvSpPr/>
          <p:nvPr/>
        </p:nvSpPr>
        <p:spPr>
          <a:xfrm>
            <a:off x="1088988" y="5599410"/>
            <a:ext cx="10363435" cy="2564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7DCE2"/>
                </a:solidFill>
                <a:latin typeface="Space Grotesk" pitchFamily="34" charset="0"/>
                <a:ea typeface="Space Grotesk" pitchFamily="34" charset="-122"/>
                <a:cs typeface="Space Grotesk" pitchFamily="34" charset="-120"/>
              </a:rPr>
              <a:t>Express 5 forwards a rejected promise to the error handler, the same as next(err).</a:t>
            </a:r>
            <a:endParaRPr lang="en-US" sz="13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2161D"/>
        </a:solidFill>
      </p:bgPr>
    </p:bg>
    <p:spTree>
      <p:nvGrpSpPr>
        <p:cNvPr id="1" name=""/>
        <p:cNvGrpSpPr/>
        <p:nvPr/>
      </p:nvGrpSpPr>
      <p:grpSpPr>
        <a:xfrm>
          <a:off x="0" y="0"/>
          <a:ext cx="0" cy="0"/>
          <a:chOff x="0" y="0"/>
          <a:chExt cx="0" cy="0"/>
        </a:xfrm>
      </p:grpSpPr>
      <p:sp>
        <p:nvSpPr>
          <p:cNvPr id="2" name="Text 0"/>
          <p:cNvSpPr/>
          <p:nvPr/>
        </p:nvSpPr>
        <p:spPr>
          <a:xfrm>
            <a:off x="812788" y="812800"/>
            <a:ext cx="10883418" cy="23878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7BD88F"/>
                </a:solidFill>
                <a:latin typeface="Space Grotesk" pitchFamily="34" charset="0"/>
                <a:ea typeface="Space Grotesk" pitchFamily="34" charset="-122"/>
                <a:cs typeface="Space Grotesk" pitchFamily="34" charset="-120"/>
              </a:rPr>
              <a:t>WHAT TO REMEMBER</a:t>
            </a:r>
            <a:endParaRPr lang="en-US" sz="1200" dirty="0"/>
          </a:p>
        </p:txBody>
      </p:sp>
      <p:sp>
        <p:nvSpPr>
          <p:cNvPr id="3" name="Text 1"/>
          <p:cNvSpPr/>
          <p:nvPr>
            <p:ph type="title"/>
          </p:nvPr>
        </p:nvSpPr>
        <p:spPr>
          <a:xfrm>
            <a:off x="812788" y="1076970"/>
            <a:ext cx="10883418" cy="919485"/>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2EFE6"/>
                </a:solidFill>
                <a:latin typeface="Space Grotesk" pitchFamily="34" charset="0"/>
                <a:ea typeface="Space Grotesk" pitchFamily="34" charset="-122"/>
                <a:cs typeface="Space Grotesk" pitchFamily="34" charset="-120"/>
              </a:rPr>
              <a:t>req brings it in. res sends it out. Middleware sits between.</a:t>
            </a:r>
            <a:endParaRPr lang="en-US" sz="3200" dirty="0"/>
          </a:p>
        </p:txBody>
      </p:sp>
      <p:sp>
        <p:nvSpPr>
          <p:cNvPr id="4" name="Shape 2"/>
          <p:cNvSpPr/>
          <p:nvPr/>
        </p:nvSpPr>
        <p:spPr>
          <a:xfrm>
            <a:off x="812788" y="2275830"/>
            <a:ext cx="3403575" cy="2344229"/>
          </a:xfrm>
          <a:prstGeom prst="roundRect">
            <a:avLst>
              <a:gd name="adj" fmla="val 4334"/>
            </a:avLst>
          </a:prstGeom>
          <a:solidFill>
            <a:srgbClr val="1A2232"/>
          </a:solidFill>
          <a:ln/>
        </p:spPr>
      </p:sp>
      <p:sp>
        <p:nvSpPr>
          <p:cNvPr id="5" name="Shape 3"/>
          <p:cNvSpPr/>
          <p:nvPr/>
        </p:nvSpPr>
        <p:spPr>
          <a:xfrm>
            <a:off x="812788" y="2275830"/>
            <a:ext cx="3403575" cy="2344229"/>
          </a:xfrm>
          <a:custGeom>
            <a:avLst/>
            <a:gdLst/>
            <a:ahLst/>
            <a:cxnLst/>
            <a:rect l="l" t="t" r="r" b="b"/>
            <a:pathLst>
              <a:path w="3403575" h="2344229">
                <a:moveTo>
                  <a:pt x="0" y="101600"/>
                </a:moveTo>
                <a:lnTo>
                  <a:pt x="0" y="101600"/>
                </a:lnTo>
                <a:arcTo hR="101600" wR="101600" stAng="10800000" swAng="5400000"/>
                <a:lnTo>
                  <a:pt x="3301975" y="0"/>
                </a:lnTo>
                <a:arcTo hR="101600" wR="101600" stAng="16200000" swAng="5400000"/>
                <a:lnTo>
                  <a:pt x="3403575" y="101600"/>
                </a:lnTo>
                <a:arcTo hR="63500" wR="101600" stAng="0" swAng="-5400000"/>
                <a:lnTo>
                  <a:pt x="101600" y="38100"/>
                </a:lnTo>
                <a:arcTo hR="63500" wR="101600" stAng="16200000" swAng="-5400000"/>
                <a:close/>
              </a:path>
            </a:pathLst>
          </a:custGeom>
          <a:solidFill>
            <a:srgbClr val="7FB0FF"/>
          </a:solidFill>
          <a:ln/>
        </p:spPr>
      </p:sp>
      <p:sp>
        <p:nvSpPr>
          <p:cNvPr id="6" name="Text 4"/>
          <p:cNvSpPr/>
          <p:nvPr/>
        </p:nvSpPr>
        <p:spPr>
          <a:xfrm>
            <a:off x="1015938" y="2514699"/>
            <a:ext cx="3087193" cy="29967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FB0FF"/>
                </a:solidFill>
                <a:latin typeface="Space Grotesk" pitchFamily="34" charset="0"/>
                <a:ea typeface="Space Grotesk" pitchFamily="34" charset="-122"/>
                <a:cs typeface="Space Grotesk" pitchFamily="34" charset="-120"/>
              </a:rPr>
              <a:t>req offers</a:t>
            </a:r>
            <a:endParaRPr lang="en-US" sz="1800" dirty="0"/>
          </a:p>
        </p:txBody>
      </p:sp>
      <p:sp>
        <p:nvSpPr>
          <p:cNvPr id="7" name="Text 5"/>
          <p:cNvSpPr/>
          <p:nvPr/>
        </p:nvSpPr>
        <p:spPr>
          <a:xfrm>
            <a:off x="1015938" y="2877840"/>
            <a:ext cx="3087193" cy="10488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D7DCE2"/>
                </a:solidFill>
                <a:latin typeface="JetBrains Mono" pitchFamily="49" charset="0"/>
                <a:ea typeface="JetBrains Mono" pitchFamily="49" charset="-122"/>
                <a:cs typeface="JetBrains Mono" pitchFamily="49" charset="-120"/>
              </a:rPr>
              <a:t>params · query</a:t>
            </a:r>
            <a:endParaRPr lang="en-US" sz="1300" dirty="0"/>
          </a:p>
          <a:p>
            <a:pPr algn="l" indent="0" marL="0">
              <a:lnSpc>
                <a:spcPts val="2015"/>
              </a:lnSpc>
              <a:buNone/>
            </a:pPr>
            <a:r>
              <a:rPr lang="en-US" sz="1300" dirty="0">
                <a:solidFill>
                  <a:srgbClr val="D7DCE2"/>
                </a:solidFill>
                <a:latin typeface="JetBrains Mono" pitchFamily="49" charset="0"/>
                <a:ea typeface="JetBrains Mono" pitchFamily="49" charset="-122"/>
                <a:cs typeface="JetBrains Mono" pitchFamily="49" charset="-120"/>
              </a:rPr>
              <a:t>body · cookies</a:t>
            </a:r>
            <a:endParaRPr lang="en-US" sz="1300" dirty="0"/>
          </a:p>
          <a:p>
            <a:pPr algn="l" indent="0" marL="0">
              <a:lnSpc>
                <a:spcPts val="2015"/>
              </a:lnSpc>
              <a:buNone/>
            </a:pPr>
            <a:r>
              <a:rPr lang="en-US" sz="1300" dirty="0">
                <a:solidFill>
                  <a:srgbClr val="D7DCE2"/>
                </a:solidFill>
                <a:latin typeface="JetBrains Mono" pitchFamily="49" charset="0"/>
                <a:ea typeface="JetBrains Mono" pitchFamily="49" charset="-122"/>
                <a:cs typeface="JetBrains Mono" pitchFamily="49" charset="-120"/>
              </a:rPr>
              <a:t>headers · get()</a:t>
            </a:r>
            <a:endParaRPr lang="en-US" sz="1300" dirty="0"/>
          </a:p>
          <a:p>
            <a:pPr algn="l" indent="0" marL="0">
              <a:lnSpc>
                <a:spcPts val="2015"/>
              </a:lnSpc>
              <a:buNone/>
            </a:pPr>
            <a:r>
              <a:rPr lang="en-US" sz="1300" dirty="0">
                <a:solidFill>
                  <a:srgbClr val="D7DCE2"/>
                </a:solidFill>
                <a:latin typeface="JetBrains Mono" pitchFamily="49" charset="0"/>
                <a:ea typeface="JetBrains Mono" pitchFamily="49" charset="-122"/>
                <a:cs typeface="JetBrains Mono" pitchFamily="49" charset="-120"/>
              </a:rPr>
              <a:t>method · path · ip</a:t>
            </a:r>
            <a:endParaRPr lang="en-US" sz="1300" dirty="0"/>
          </a:p>
        </p:txBody>
      </p:sp>
      <p:sp>
        <p:nvSpPr>
          <p:cNvPr id="8" name="Text 6"/>
          <p:cNvSpPr/>
          <p:nvPr/>
        </p:nvSpPr>
        <p:spPr>
          <a:xfrm>
            <a:off x="1015938" y="3990132"/>
            <a:ext cx="3087193"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URL parts are strings. Body and cookies need middleware.</a:t>
            </a:r>
            <a:endParaRPr lang="en-US" sz="1200" dirty="0"/>
          </a:p>
        </p:txBody>
      </p:sp>
      <p:sp>
        <p:nvSpPr>
          <p:cNvPr id="9" name="Shape 7"/>
          <p:cNvSpPr/>
          <p:nvPr/>
        </p:nvSpPr>
        <p:spPr>
          <a:xfrm>
            <a:off x="4394150" y="2275830"/>
            <a:ext cx="3403637" cy="2344229"/>
          </a:xfrm>
          <a:prstGeom prst="roundRect">
            <a:avLst>
              <a:gd name="adj" fmla="val 4334"/>
            </a:avLst>
          </a:prstGeom>
          <a:solidFill>
            <a:srgbClr val="2A1E16"/>
          </a:solidFill>
          <a:ln/>
        </p:spPr>
      </p:sp>
      <p:sp>
        <p:nvSpPr>
          <p:cNvPr id="10" name="Shape 8"/>
          <p:cNvSpPr/>
          <p:nvPr/>
        </p:nvSpPr>
        <p:spPr>
          <a:xfrm>
            <a:off x="4394150" y="2275830"/>
            <a:ext cx="3403637" cy="2344229"/>
          </a:xfrm>
          <a:custGeom>
            <a:avLst/>
            <a:gdLst/>
            <a:ahLst/>
            <a:cxnLst/>
            <a:rect l="l" t="t" r="r" b="b"/>
            <a:pathLst>
              <a:path w="3403637" h="2344229">
                <a:moveTo>
                  <a:pt x="0" y="101600"/>
                </a:moveTo>
                <a:lnTo>
                  <a:pt x="0" y="101600"/>
                </a:lnTo>
                <a:arcTo hR="101600" wR="101600" stAng="10800000" swAng="5400000"/>
                <a:lnTo>
                  <a:pt x="3302037" y="0"/>
                </a:lnTo>
                <a:arcTo hR="101600" wR="101600" stAng="16200000" swAng="5400000"/>
                <a:lnTo>
                  <a:pt x="3403637" y="101600"/>
                </a:lnTo>
                <a:arcTo hR="63500" wR="101600" stAng="0" swAng="-5400000"/>
                <a:lnTo>
                  <a:pt x="101600" y="38100"/>
                </a:lnTo>
                <a:arcTo hR="63500" wR="101600" stAng="16200000" swAng="-5400000"/>
                <a:close/>
              </a:path>
            </a:pathLst>
          </a:custGeom>
          <a:solidFill>
            <a:srgbClr val="F0A15E"/>
          </a:solidFill>
          <a:ln/>
        </p:spPr>
      </p:sp>
      <p:sp>
        <p:nvSpPr>
          <p:cNvPr id="11" name="Text 9"/>
          <p:cNvSpPr/>
          <p:nvPr/>
        </p:nvSpPr>
        <p:spPr>
          <a:xfrm>
            <a:off x="4597301" y="2514699"/>
            <a:ext cx="3087257" cy="29967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A15E"/>
                </a:solidFill>
                <a:latin typeface="Space Grotesk" pitchFamily="34" charset="0"/>
                <a:ea typeface="Space Grotesk" pitchFamily="34" charset="-122"/>
                <a:cs typeface="Space Grotesk" pitchFamily="34" charset="-120"/>
              </a:rPr>
              <a:t>res sends</a:t>
            </a:r>
            <a:endParaRPr lang="en-US" sz="1800" dirty="0"/>
          </a:p>
        </p:txBody>
      </p:sp>
      <p:sp>
        <p:nvSpPr>
          <p:cNvPr id="12" name="Text 10"/>
          <p:cNvSpPr/>
          <p:nvPr/>
        </p:nvSpPr>
        <p:spPr>
          <a:xfrm>
            <a:off x="4597301" y="2877840"/>
            <a:ext cx="3087257" cy="10488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D7DCE2"/>
                </a:solidFill>
                <a:latin typeface="JetBrains Mono" pitchFamily="49" charset="0"/>
                <a:ea typeface="JetBrains Mono" pitchFamily="49" charset="-122"/>
                <a:cs typeface="JetBrains Mono" pitchFamily="49" charset="-120"/>
              </a:rPr>
              <a:t>send · json</a:t>
            </a:r>
            <a:endParaRPr lang="en-US" sz="1300" dirty="0"/>
          </a:p>
          <a:p>
            <a:pPr algn="l" indent="0" marL="0">
              <a:lnSpc>
                <a:spcPts val="2015"/>
              </a:lnSpc>
              <a:buNone/>
            </a:pPr>
            <a:r>
              <a:rPr lang="en-US" sz="1300" dirty="0">
                <a:solidFill>
                  <a:srgbClr val="D7DCE2"/>
                </a:solidFill>
                <a:latin typeface="JetBrains Mono" pitchFamily="49" charset="0"/>
                <a:ea typeface="JetBrains Mono" pitchFamily="49" charset="-122"/>
                <a:cs typeface="JetBrains Mono" pitchFamily="49" charset="-120"/>
              </a:rPr>
              <a:t>status().json()</a:t>
            </a:r>
            <a:endParaRPr lang="en-US" sz="1300" dirty="0"/>
          </a:p>
          <a:p>
            <a:pPr algn="l" indent="0" marL="0">
              <a:lnSpc>
                <a:spcPts val="2015"/>
              </a:lnSpc>
              <a:buNone/>
            </a:pPr>
            <a:r>
              <a:rPr lang="en-US" sz="1300" dirty="0">
                <a:solidFill>
                  <a:srgbClr val="D7DCE2"/>
                </a:solidFill>
                <a:latin typeface="JetBrains Mono" pitchFamily="49" charset="0"/>
                <a:ea typeface="JetBrains Mono" pitchFamily="49" charset="-122"/>
                <a:cs typeface="JetBrains Mono" pitchFamily="49" charset="-120"/>
              </a:rPr>
              <a:t>sendStatus · sendFile</a:t>
            </a:r>
            <a:endParaRPr lang="en-US" sz="1300" dirty="0"/>
          </a:p>
          <a:p>
            <a:pPr algn="l" indent="0" marL="0">
              <a:lnSpc>
                <a:spcPts val="2015"/>
              </a:lnSpc>
              <a:buNone/>
            </a:pPr>
            <a:r>
              <a:rPr lang="en-US" sz="1300" dirty="0">
                <a:solidFill>
                  <a:srgbClr val="D7DCE2"/>
                </a:solidFill>
                <a:latin typeface="JetBrains Mono" pitchFamily="49" charset="0"/>
                <a:ea typeface="JetBrains Mono" pitchFamily="49" charset="-122"/>
                <a:cs typeface="JetBrains Mono" pitchFamily="49" charset="-120"/>
              </a:rPr>
              <a:t>redirect · download</a:t>
            </a:r>
            <a:endParaRPr lang="en-US" sz="1300" dirty="0"/>
          </a:p>
        </p:txBody>
      </p:sp>
      <p:sp>
        <p:nvSpPr>
          <p:cNvPr id="13" name="Text 11"/>
          <p:cNvSpPr/>
          <p:nvPr/>
        </p:nvSpPr>
        <p:spPr>
          <a:xfrm>
            <a:off x="4597301" y="3990132"/>
            <a:ext cx="3087257"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Exactly once per request. Use return to stop early.</a:t>
            </a:r>
            <a:endParaRPr lang="en-US" sz="1200" dirty="0"/>
          </a:p>
        </p:txBody>
      </p:sp>
      <p:sp>
        <p:nvSpPr>
          <p:cNvPr id="14" name="Shape 12"/>
          <p:cNvSpPr/>
          <p:nvPr/>
        </p:nvSpPr>
        <p:spPr>
          <a:xfrm>
            <a:off x="7975575" y="2275830"/>
            <a:ext cx="3403637" cy="2344229"/>
          </a:xfrm>
          <a:prstGeom prst="roundRect">
            <a:avLst>
              <a:gd name="adj" fmla="val 4334"/>
            </a:avLst>
          </a:prstGeom>
          <a:solidFill>
            <a:srgbClr val="16261E"/>
          </a:solidFill>
          <a:ln/>
        </p:spPr>
      </p:sp>
      <p:sp>
        <p:nvSpPr>
          <p:cNvPr id="15" name="Shape 13"/>
          <p:cNvSpPr/>
          <p:nvPr/>
        </p:nvSpPr>
        <p:spPr>
          <a:xfrm>
            <a:off x="7975575" y="2275830"/>
            <a:ext cx="3403637" cy="2344229"/>
          </a:xfrm>
          <a:custGeom>
            <a:avLst/>
            <a:gdLst/>
            <a:ahLst/>
            <a:cxnLst/>
            <a:rect l="l" t="t" r="r" b="b"/>
            <a:pathLst>
              <a:path w="3403637" h="2344229">
                <a:moveTo>
                  <a:pt x="0" y="101600"/>
                </a:moveTo>
                <a:lnTo>
                  <a:pt x="0" y="101600"/>
                </a:lnTo>
                <a:arcTo hR="101600" wR="101600" stAng="10800000" swAng="5400000"/>
                <a:lnTo>
                  <a:pt x="3302037" y="0"/>
                </a:lnTo>
                <a:arcTo hR="101600" wR="101600" stAng="16200000" swAng="5400000"/>
                <a:lnTo>
                  <a:pt x="3403637" y="101600"/>
                </a:lnTo>
                <a:arcTo hR="63500" wR="101600" stAng="0" swAng="-5400000"/>
                <a:lnTo>
                  <a:pt x="101600" y="38100"/>
                </a:lnTo>
                <a:arcTo hR="63500" wR="101600" stAng="16200000" swAng="-5400000"/>
                <a:close/>
              </a:path>
            </a:pathLst>
          </a:custGeom>
          <a:solidFill>
            <a:srgbClr val="7BD88F"/>
          </a:solidFill>
          <a:ln/>
        </p:spPr>
      </p:sp>
      <p:sp>
        <p:nvSpPr>
          <p:cNvPr id="16" name="Text 14"/>
          <p:cNvSpPr/>
          <p:nvPr/>
        </p:nvSpPr>
        <p:spPr>
          <a:xfrm>
            <a:off x="8178726" y="2514699"/>
            <a:ext cx="3087257" cy="299678"/>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7BD88F"/>
                </a:solidFill>
                <a:latin typeface="Space Grotesk" pitchFamily="34" charset="0"/>
                <a:ea typeface="Space Grotesk" pitchFamily="34" charset="-122"/>
                <a:cs typeface="Space Grotesk" pitchFamily="34" charset="-120"/>
              </a:rPr>
              <a:t>middleware helps</a:t>
            </a:r>
            <a:endParaRPr lang="en-US" sz="1800" dirty="0"/>
          </a:p>
        </p:txBody>
      </p:sp>
      <p:sp>
        <p:nvSpPr>
          <p:cNvPr id="17" name="Text 15"/>
          <p:cNvSpPr/>
          <p:nvPr/>
        </p:nvSpPr>
        <p:spPr>
          <a:xfrm>
            <a:off x="8178726" y="2877840"/>
            <a:ext cx="3087257" cy="79298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D7DCE2"/>
                </a:solidFill>
                <a:latin typeface="Space Grotesk" pitchFamily="34" charset="0"/>
                <a:ea typeface="Space Grotesk" pitchFamily="34" charset="-122"/>
                <a:cs typeface="Space Grotesk" pitchFamily="34" charset="-120"/>
              </a:rPr>
              <a:t>Write once, run everywhere: logging, login checks, body parsing, static files, 404s and errors.</a:t>
            </a:r>
            <a:endParaRPr lang="en-US" sz="1300" dirty="0"/>
          </a:p>
        </p:txBody>
      </p:sp>
      <p:sp>
        <p:nvSpPr>
          <p:cNvPr id="18" name="Text 16"/>
          <p:cNvSpPr/>
          <p:nvPr/>
        </p:nvSpPr>
        <p:spPr>
          <a:xfrm>
            <a:off x="8178726" y="3734296"/>
            <a:ext cx="3087257" cy="45216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0CC"/>
                </a:solidFill>
                <a:latin typeface="Space Grotesk" pitchFamily="34" charset="0"/>
                <a:ea typeface="Space Grotesk" pitchFamily="34" charset="-122"/>
                <a:cs typeface="Space Grotesk" pitchFamily="34" charset="-120"/>
              </a:rPr>
              <a:t>next() or respond. Order matters. Router groups it.</a:t>
            </a:r>
            <a:endParaRPr lang="en-US" sz="1200" dirty="0"/>
          </a:p>
        </p:txBody>
      </p:sp>
    </p:spTree>
  </p:cSld>
  <p:clrMapOvr>
    <a:masterClrMapping/>
  </p:clrMapOvr>
</p:sld>
</file>

<file path=ppt/theme/theme1.xml><?xml version="1.0" encoding="utf-8"?>
<a:theme xmlns:a="http://schemas.openxmlformats.org/drawingml/2006/main" name="Express from the inside: req, res &amp; middleware">
  <a:themeElements>
    <a:clrScheme name="Express from the inside: req, res &amp; middleware">
      <a:dk1>
        <a:srgbClr val="1A1F2B"/>
      </a:dk1>
      <a:lt1>
        <a:srgbClr val="F5F3EC"/>
      </a:lt1>
      <a:dk2>
        <a:srgbClr val="51545B"/>
      </a:dk2>
      <a:lt2>
        <a:srgbClr val="DFDED9"/>
      </a:lt2>
      <a:accent1>
        <a:srgbClr val="7BD88F"/>
      </a:accent1>
      <a:accent2>
        <a:srgbClr val="2F6FD6"/>
      </a:accent2>
      <a:accent3>
        <a:srgbClr val="D9692A"/>
      </a:accent3>
      <a:accent4>
        <a:srgbClr val="2E7D4F"/>
      </a:accent4>
      <a:accent5>
        <a:srgbClr val="E0675A"/>
      </a:accent5>
      <a:accent6>
        <a:srgbClr val="E7B54A"/>
      </a:accent6>
      <a:hlink>
        <a:srgbClr val="0563C1"/>
      </a:hlink>
      <a:folHlink>
        <a:srgbClr val="954F72"/>
      </a:folHlink>
    </a:clrScheme>
    <a:fontScheme name="Express from the inside: req, res &amp; middlewar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pace Grotes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Express from the inside: req, res &amp; middleware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2026-10-26T05:13:25Z</dcterms:created>
  <dcterms:modified xsi:type="dcterms:W3CDTF">2026-10-26T05:13:25Z</dcterms:modified>
</cp:coreProperties>
</file>